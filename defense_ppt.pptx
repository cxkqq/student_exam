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91695" cy="10972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961120" y="109728"/>
            <a:ext cx="3230575" cy="663854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0080"/>
            <a:ext cx="8229600" cy="502920"/>
          </a:xfrm>
          <a:prstGeom prst="rect">
            <a:avLst/>
          </a:prstGeom>
          <a:noFill/>
        </p:spPr>
        <p:txBody>
          <a:bodyPr wrap="none">
            <a:spAutoFit/>
          </a:bodyPr>
          <a:lstStyle/>
          <a:p>
            <a:pPr algn="l">
              <a:spcBef>
                <a:spcPts val="0"/>
              </a:spcBef>
              <a:defRPr sz="1600" b="0">
                <a:solidFill>
                  <a:srgbClr val="BDD7EE"/>
                </a:solidFill>
              </a:defRPr>
            </a:pPr>
            <a:r>
              <a:t>××大学  工学院  毕业设计答辩</a:t>
            </a:r>
          </a:p>
        </p:txBody>
      </p:sp>
      <p:sp>
        <p:nvSpPr>
          <p:cNvPr id="7" name="Rectangle 6"/>
          <p:cNvSpPr/>
          <p:nvPr/>
        </p:nvSpPr>
        <p:spPr>
          <a:xfrm>
            <a:off x="640080" y="1207008"/>
            <a:ext cx="786384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353312"/>
            <a:ext cx="8046720" cy="1280160"/>
          </a:xfrm>
          <a:prstGeom prst="rect">
            <a:avLst/>
          </a:prstGeom>
          <a:noFill/>
        </p:spPr>
        <p:txBody>
          <a:bodyPr wrap="none">
            <a:spAutoFit/>
          </a:bodyPr>
          <a:lstStyle/>
          <a:p>
            <a:pPr algn="l">
              <a:spcBef>
                <a:spcPts val="0"/>
              </a:spcBef>
              <a:defRPr sz="5200" b="1">
                <a:solidFill>
                  <a:srgbClr val="FFFFFF"/>
                </a:solidFill>
              </a:defRPr>
            </a:pPr>
            <a:r>
              <a:t>青少年活动中心</a:t>
            </a:r>
          </a:p>
          <a:p>
            <a:pPr algn="l">
              <a:spcBef>
                <a:spcPts val="0"/>
              </a:spcBef>
              <a:defRPr sz="5200" b="1">
                <a:solidFill>
                  <a:srgbClr val="FFFFFF"/>
                </a:solidFill>
              </a:defRPr>
            </a:pPr>
            <a:r>
              <a:t>综合管理平台设计与实现</a:t>
            </a:r>
          </a:p>
        </p:txBody>
      </p:sp>
      <p:sp>
        <p:nvSpPr>
          <p:cNvPr id="9" name="TextBox 8"/>
          <p:cNvSpPr txBox="1"/>
          <p:nvPr/>
        </p:nvSpPr>
        <p:spPr>
          <a:xfrm>
            <a:off x="640080" y="2834640"/>
            <a:ext cx="7315200" cy="502920"/>
          </a:xfrm>
          <a:prstGeom prst="rect">
            <a:avLst/>
          </a:prstGeom>
          <a:noFill/>
        </p:spPr>
        <p:txBody>
          <a:bodyPr wrap="none">
            <a:spAutoFit/>
          </a:bodyPr>
          <a:lstStyle/>
          <a:p>
            <a:pPr algn="l">
              <a:spcBef>
                <a:spcPts val="0"/>
              </a:spcBef>
              <a:defRPr sz="1700" b="0">
                <a:solidFill>
                  <a:srgbClr val="BDD7EE"/>
                </a:solidFill>
              </a:defRPr>
            </a:pPr>
            <a:r>
              <a:t>基于 Spring MVC + MyBatis 的多角色 Web 管理系统</a:t>
            </a:r>
          </a:p>
        </p:txBody>
      </p:sp>
      <p:sp>
        <p:nvSpPr>
          <p:cNvPr id="10" name="Rounded Rectangle 9"/>
          <p:cNvSpPr/>
          <p:nvPr/>
        </p:nvSpPr>
        <p:spPr>
          <a:xfrm>
            <a:off x="640080" y="3657600"/>
            <a:ext cx="5120640" cy="2011680"/>
          </a:xfrm>
          <a:prstGeom prst="roundRect">
            <a:avLst/>
          </a:prstGeom>
          <a:solidFill>
            <a:srgbClr val="0E2754"/>
          </a:solidFill>
          <a:ln>
            <a:solidFill>
              <a:srgbClr val="3A6B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794760"/>
            <a:ext cx="4572000" cy="1737360"/>
          </a:xfrm>
          <a:prstGeom prst="rect">
            <a:avLst/>
          </a:prstGeom>
          <a:noFill/>
        </p:spPr>
        <p:txBody>
          <a:bodyPr wrap="none">
            <a:spAutoFit/>
          </a:bodyPr>
          <a:lstStyle/>
          <a:p/>
          <a:p>
            <a:pPr algn="l">
              <a:spcBef>
                <a:spcPts val="800"/>
              </a:spcBef>
              <a:defRPr sz="1500" b="0">
                <a:solidFill>
                  <a:srgbClr val="FFFFFF"/>
                </a:solidFill>
              </a:defRPr>
            </a:pPr>
            <a:r>
              <a:t>姓    名：[学生姓名]</a:t>
            </a:r>
          </a:p>
          <a:p>
            <a:pPr algn="l">
              <a:spcBef>
                <a:spcPts val="800"/>
              </a:spcBef>
              <a:defRPr sz="1500" b="0">
                <a:solidFill>
                  <a:srgbClr val="FFFFFF"/>
                </a:solidFill>
              </a:defRPr>
            </a:pPr>
            <a:r>
              <a:t>学    号：[学号]</a:t>
            </a:r>
          </a:p>
          <a:p>
            <a:pPr algn="l">
              <a:spcBef>
                <a:spcPts val="800"/>
              </a:spcBef>
              <a:defRPr sz="1500" b="0">
                <a:solidFill>
                  <a:srgbClr val="FFFFFF"/>
                </a:solidFill>
              </a:defRPr>
            </a:pPr>
            <a:r>
              <a:t>指导老师：[教师姓名]</a:t>
            </a:r>
          </a:p>
          <a:p>
            <a:pPr algn="l">
              <a:spcBef>
                <a:spcPts val="800"/>
              </a:spcBef>
              <a:defRPr sz="1500" b="0">
                <a:solidFill>
                  <a:srgbClr val="FFFFFF"/>
                </a:solidFill>
              </a:defRPr>
            </a:pPr>
            <a:r>
              <a:t>答辩日期：2026年  月  日</a:t>
            </a:r>
          </a:p>
        </p:txBody>
      </p:sp>
      <p:sp>
        <p:nvSpPr>
          <p:cNvPr id="12" name="TextBox 11"/>
          <p:cNvSpPr txBox="1"/>
          <p:nvPr/>
        </p:nvSpPr>
        <p:spPr>
          <a:xfrm>
            <a:off x="9144000" y="1097280"/>
            <a:ext cx="2743200" cy="5029200"/>
          </a:xfrm>
          <a:prstGeom prst="rect">
            <a:avLst/>
          </a:prstGeom>
          <a:noFill/>
        </p:spPr>
        <p:txBody>
          <a:bodyPr wrap="none">
            <a:spAutoFit/>
          </a:bodyPr>
          <a:lstStyle/>
          <a:p>
            <a:pPr algn="ctr">
              <a:spcBef>
                <a:spcPts val="0"/>
              </a:spcBef>
              <a:defRPr sz="1300" b="1">
                <a:solidFill>
                  <a:srgbClr val="BDD7EE"/>
                </a:solidFill>
              </a:defRPr>
            </a:pPr>
            <a:r>
              <a:t>OUTLINE</a:t>
            </a:r>
          </a:p>
          <a:p>
            <a:pPr algn="l">
              <a:spcBef>
                <a:spcPts val="1400"/>
              </a:spcBef>
              <a:defRPr sz="1300" b="0">
                <a:solidFill>
                  <a:srgbClr val="FFFFFF"/>
                </a:solidFill>
              </a:defRPr>
            </a:pPr>
            <a:r>
              <a:t>01  研究背景</a:t>
            </a:r>
          </a:p>
          <a:p>
            <a:pPr algn="l">
              <a:spcBef>
                <a:spcPts val="1400"/>
              </a:spcBef>
              <a:defRPr sz="1300" b="0">
                <a:solidFill>
                  <a:srgbClr val="FFFFFF"/>
                </a:solidFill>
              </a:defRPr>
            </a:pPr>
            <a:r>
              <a:t>02  系统需求</a:t>
            </a:r>
          </a:p>
          <a:p>
            <a:pPr algn="l">
              <a:spcBef>
                <a:spcPts val="1400"/>
              </a:spcBef>
              <a:defRPr sz="1300" b="0">
                <a:solidFill>
                  <a:srgbClr val="FFFFFF"/>
                </a:solidFill>
              </a:defRPr>
            </a:pPr>
            <a:r>
              <a:t>03  架构设计</a:t>
            </a:r>
          </a:p>
          <a:p>
            <a:pPr algn="l">
              <a:spcBef>
                <a:spcPts val="1400"/>
              </a:spcBef>
              <a:defRPr sz="1300" b="0">
                <a:solidFill>
                  <a:srgbClr val="FFFFFF"/>
                </a:solidFill>
              </a:defRPr>
            </a:pPr>
            <a:r>
              <a:t>04  功能演示</a:t>
            </a:r>
          </a:p>
          <a:p>
            <a:pPr algn="l">
              <a:spcBef>
                <a:spcPts val="1400"/>
              </a:spcBef>
              <a:defRPr sz="1300" b="0">
                <a:solidFill>
                  <a:srgbClr val="FFFFFF"/>
                </a:solidFill>
              </a:defRPr>
            </a:pPr>
            <a:r>
              <a:t>05  测试分析</a:t>
            </a:r>
          </a:p>
          <a:p>
            <a:pPr algn="l">
              <a:spcBef>
                <a:spcPts val="1400"/>
              </a:spcBef>
              <a:defRPr sz="1300" b="0">
                <a:solidFill>
                  <a:srgbClr val="FFFFFF"/>
                </a:solidFill>
              </a:defRPr>
            </a:pPr>
            <a:r>
              <a:t>06  总结展望</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9144000" cy="420624"/>
          </a:xfrm>
          <a:prstGeom prst="rect">
            <a:avLst/>
          </a:prstGeom>
          <a:noFill/>
        </p:spPr>
        <p:txBody>
          <a:bodyPr wrap="none">
            <a:spAutoFit/>
          </a:bodyPr>
          <a:lstStyle/>
          <a:p>
            <a:pPr algn="l">
              <a:spcBef>
                <a:spcPts val="0"/>
              </a:spcBef>
              <a:defRPr sz="2000" b="1">
                <a:solidFill>
                  <a:srgbClr val="FFFFFF"/>
                </a:solidFill>
              </a:defRPr>
            </a:pPr>
            <a:r>
              <a:t>目  录</a:t>
            </a:r>
          </a:p>
        </p:txBody>
      </p:sp>
      <p:sp>
        <p:nvSpPr>
          <p:cNvPr id="4" name="Rectangle 3"/>
          <p:cNvSpPr/>
          <p:nvPr/>
        </p:nvSpPr>
        <p:spPr>
          <a:xfrm>
            <a:off x="10515600" y="0"/>
            <a:ext cx="1676095" cy="5029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0" y="36576"/>
            <a:ext cx="1676095" cy="420624"/>
          </a:xfrm>
          <a:prstGeom prst="rect">
            <a:avLst/>
          </a:prstGeom>
          <a:noFill/>
        </p:spPr>
        <p:txBody>
          <a:bodyPr wrap="none">
            <a:spAutoFit/>
          </a:bodyPr>
          <a:lstStyle/>
          <a:p>
            <a:pPr algn="ctr">
              <a:spcBef>
                <a:spcPts val="0"/>
              </a:spcBef>
              <a:defRPr sz="1400" b="0">
                <a:solidFill>
                  <a:srgbClr val="FFFFFF"/>
                </a:solidFill>
              </a:defRPr>
            </a:pPr>
            <a:r>
              <a:t>第 — 部分</a:t>
            </a:r>
          </a:p>
        </p:txBody>
      </p:sp>
      <p:sp>
        <p:nvSpPr>
          <p:cNvPr id="6" name="Rectangle 5"/>
          <p:cNvSpPr/>
          <p:nvPr/>
        </p:nvSpPr>
        <p:spPr>
          <a:xfrm>
            <a:off x="0" y="6583680"/>
            <a:ext cx="12191695" cy="2743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01968"/>
            <a:ext cx="9144000" cy="237744"/>
          </a:xfrm>
          <a:prstGeom prst="rect">
            <a:avLst/>
          </a:prstGeom>
          <a:noFill/>
        </p:spPr>
        <p:txBody>
          <a:bodyPr wrap="none">
            <a:spAutoFit/>
          </a:bodyPr>
          <a:lstStyle/>
          <a:p>
            <a:pPr algn="l">
              <a:spcBef>
                <a:spcPts val="0"/>
              </a:spcBef>
              <a:defRPr sz="1100" b="0">
                <a:solidFill>
                  <a:srgbClr val="BDD7EE"/>
                </a:solidFill>
              </a:defRPr>
            </a:pPr>
            <a:r>
              <a:t>青少年活动中心管理平台 · 毕业设计答辩</a:t>
            </a:r>
          </a:p>
        </p:txBody>
      </p:sp>
      <p:sp>
        <p:nvSpPr>
          <p:cNvPr id="8" name="TextBox 7"/>
          <p:cNvSpPr txBox="1"/>
          <p:nvPr/>
        </p:nvSpPr>
        <p:spPr>
          <a:xfrm>
            <a:off x="11064240" y="6601968"/>
            <a:ext cx="914400" cy="237744"/>
          </a:xfrm>
          <a:prstGeom prst="rect">
            <a:avLst/>
          </a:prstGeom>
          <a:noFill/>
        </p:spPr>
        <p:txBody>
          <a:bodyPr wrap="none">
            <a:spAutoFit/>
          </a:bodyPr>
          <a:lstStyle/>
          <a:p>
            <a:pPr algn="r">
              <a:spcBef>
                <a:spcPts val="0"/>
              </a:spcBef>
              <a:defRPr sz="1100" b="0">
                <a:solidFill>
                  <a:srgbClr val="BDD7EE"/>
                </a:solidFill>
              </a:defRPr>
            </a:pPr>
            <a:r>
              <a:t>2 / 15</a:t>
            </a:r>
          </a:p>
        </p:txBody>
      </p:sp>
      <p:sp>
        <p:nvSpPr>
          <p:cNvPr id="9" name="Rectangle 8"/>
          <p:cNvSpPr/>
          <p:nvPr/>
        </p:nvSpPr>
        <p:spPr>
          <a:xfrm>
            <a:off x="0" y="502920"/>
            <a:ext cx="12191695" cy="6080760"/>
          </a:xfrm>
          <a:prstGeom prst="rect">
            <a:avLst/>
          </a:prstGeom>
          <a:solidFill>
            <a:srgbClr val="F2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594360"/>
            <a:ext cx="11430000" cy="731520"/>
          </a:xfrm>
          <a:prstGeom prst="rect">
            <a:avLst/>
          </a:prstGeom>
          <a:noFill/>
        </p:spPr>
        <p:txBody>
          <a:bodyPr wrap="none">
            <a:spAutoFit/>
          </a:bodyPr>
          <a:lstStyle/>
          <a:p>
            <a:pPr algn="l">
              <a:spcBef>
                <a:spcPts val="0"/>
              </a:spcBef>
              <a:defRPr sz="3000" b="1">
                <a:solidFill>
                  <a:srgbClr val="1B3A6B"/>
                </a:solidFill>
              </a:defRPr>
            </a:pPr>
            <a:r>
              <a:t>汇报提纲</a:t>
            </a:r>
          </a:p>
        </p:txBody>
      </p:sp>
      <p:sp>
        <p:nvSpPr>
          <p:cNvPr id="11" name="Rectangle 10"/>
          <p:cNvSpPr/>
          <p:nvPr/>
        </p:nvSpPr>
        <p:spPr>
          <a:xfrm>
            <a:off x="365760" y="1261872"/>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7200" y="1417320"/>
            <a:ext cx="5760720" cy="146304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417320"/>
            <a:ext cx="502920" cy="14630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1874519"/>
            <a:ext cx="438912" cy="548640"/>
          </a:xfrm>
          <a:prstGeom prst="rect">
            <a:avLst/>
          </a:prstGeom>
          <a:noFill/>
        </p:spPr>
        <p:txBody>
          <a:bodyPr wrap="none">
            <a:spAutoFit/>
          </a:bodyPr>
          <a:lstStyle/>
          <a:p>
            <a:pPr algn="ctr">
              <a:spcBef>
                <a:spcPts val="0"/>
              </a:spcBef>
              <a:defRPr sz="2400" b="1">
                <a:solidFill>
                  <a:srgbClr val="FFFFFF"/>
                </a:solidFill>
              </a:defRPr>
            </a:pPr>
            <a:r>
              <a:t>01</a:t>
            </a:r>
          </a:p>
        </p:txBody>
      </p:sp>
      <p:sp>
        <p:nvSpPr>
          <p:cNvPr id="15" name="TextBox 14"/>
          <p:cNvSpPr txBox="1"/>
          <p:nvPr/>
        </p:nvSpPr>
        <p:spPr>
          <a:xfrm>
            <a:off x="1078992" y="1527048"/>
            <a:ext cx="5029200" cy="1243584"/>
          </a:xfrm>
          <a:prstGeom prst="rect">
            <a:avLst/>
          </a:prstGeom>
          <a:noFill/>
        </p:spPr>
        <p:txBody>
          <a:bodyPr wrap="none">
            <a:spAutoFit/>
          </a:bodyPr>
          <a:lstStyle/>
          <a:p>
            <a:pPr algn="l">
              <a:spcBef>
                <a:spcPts val="0"/>
              </a:spcBef>
              <a:defRPr sz="1800" b="1">
                <a:solidFill>
                  <a:srgbClr val="1B3A6B"/>
                </a:solidFill>
              </a:defRPr>
            </a:pPr>
            <a:r>
              <a:t>研究背景与意义</a:t>
            </a:r>
          </a:p>
          <a:p>
            <a:pPr algn="l">
              <a:spcBef>
                <a:spcPts val="800"/>
              </a:spcBef>
              <a:defRPr sz="1300" b="0">
                <a:solidFill>
                  <a:srgbClr val="404040"/>
                </a:solidFill>
              </a:defRPr>
            </a:pPr>
            <a:r>
              <a:t>介绍项目产生的背景、现实意义及主要研究目标</a:t>
            </a:r>
          </a:p>
        </p:txBody>
      </p:sp>
      <p:sp>
        <p:nvSpPr>
          <p:cNvPr id="16" name="Rounded Rectangle 15"/>
          <p:cNvSpPr/>
          <p:nvPr/>
        </p:nvSpPr>
        <p:spPr>
          <a:xfrm>
            <a:off x="6446520" y="1417320"/>
            <a:ext cx="5760720" cy="146304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46520" y="1417320"/>
            <a:ext cx="502920" cy="14630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1874519"/>
            <a:ext cx="438912" cy="548640"/>
          </a:xfrm>
          <a:prstGeom prst="rect">
            <a:avLst/>
          </a:prstGeom>
          <a:noFill/>
        </p:spPr>
        <p:txBody>
          <a:bodyPr wrap="none">
            <a:spAutoFit/>
          </a:bodyPr>
          <a:lstStyle/>
          <a:p>
            <a:pPr algn="ctr">
              <a:spcBef>
                <a:spcPts val="0"/>
              </a:spcBef>
              <a:defRPr sz="2400" b="1">
                <a:solidFill>
                  <a:srgbClr val="FFFFFF"/>
                </a:solidFill>
              </a:defRPr>
            </a:pPr>
            <a:r>
              <a:t>02</a:t>
            </a:r>
          </a:p>
        </p:txBody>
      </p:sp>
      <p:sp>
        <p:nvSpPr>
          <p:cNvPr id="19" name="TextBox 18"/>
          <p:cNvSpPr txBox="1"/>
          <p:nvPr/>
        </p:nvSpPr>
        <p:spPr>
          <a:xfrm>
            <a:off x="7068312" y="1527048"/>
            <a:ext cx="5029200" cy="1243584"/>
          </a:xfrm>
          <a:prstGeom prst="rect">
            <a:avLst/>
          </a:prstGeom>
          <a:noFill/>
        </p:spPr>
        <p:txBody>
          <a:bodyPr wrap="none">
            <a:spAutoFit/>
          </a:bodyPr>
          <a:lstStyle/>
          <a:p>
            <a:pPr algn="l">
              <a:spcBef>
                <a:spcPts val="0"/>
              </a:spcBef>
              <a:defRPr sz="1800" b="1">
                <a:solidFill>
                  <a:srgbClr val="1B3A6B"/>
                </a:solidFill>
              </a:defRPr>
            </a:pPr>
            <a:r>
              <a:t>系统需求分析</a:t>
            </a:r>
          </a:p>
          <a:p>
            <a:pPr algn="l">
              <a:spcBef>
                <a:spcPts val="800"/>
              </a:spcBef>
              <a:defRPr sz="1300" b="0">
                <a:solidFill>
                  <a:srgbClr val="404040"/>
                </a:solidFill>
              </a:defRPr>
            </a:pPr>
            <a:r>
              <a:t>从功能需求与非功能需求两个维度对系统进行全面分析</a:t>
            </a:r>
          </a:p>
        </p:txBody>
      </p:sp>
      <p:sp>
        <p:nvSpPr>
          <p:cNvPr id="20" name="Rounded Rectangle 19"/>
          <p:cNvSpPr/>
          <p:nvPr/>
        </p:nvSpPr>
        <p:spPr>
          <a:xfrm>
            <a:off x="457200" y="3044952"/>
            <a:ext cx="5760720" cy="146304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044952"/>
            <a:ext cx="502920" cy="14630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3502152"/>
            <a:ext cx="438912" cy="548640"/>
          </a:xfrm>
          <a:prstGeom prst="rect">
            <a:avLst/>
          </a:prstGeom>
          <a:noFill/>
        </p:spPr>
        <p:txBody>
          <a:bodyPr wrap="none">
            <a:spAutoFit/>
          </a:bodyPr>
          <a:lstStyle/>
          <a:p>
            <a:pPr algn="ctr">
              <a:spcBef>
                <a:spcPts val="0"/>
              </a:spcBef>
              <a:defRPr sz="2400" b="1">
                <a:solidFill>
                  <a:srgbClr val="FFFFFF"/>
                </a:solidFill>
              </a:defRPr>
            </a:pPr>
            <a:r>
              <a:t>03</a:t>
            </a:r>
          </a:p>
        </p:txBody>
      </p:sp>
      <p:sp>
        <p:nvSpPr>
          <p:cNvPr id="23" name="TextBox 22"/>
          <p:cNvSpPr txBox="1"/>
          <p:nvPr/>
        </p:nvSpPr>
        <p:spPr>
          <a:xfrm>
            <a:off x="1078992" y="3154680"/>
            <a:ext cx="5029200" cy="1243584"/>
          </a:xfrm>
          <a:prstGeom prst="rect">
            <a:avLst/>
          </a:prstGeom>
          <a:noFill/>
        </p:spPr>
        <p:txBody>
          <a:bodyPr wrap="none">
            <a:spAutoFit/>
          </a:bodyPr>
          <a:lstStyle/>
          <a:p>
            <a:pPr algn="l">
              <a:spcBef>
                <a:spcPts val="0"/>
              </a:spcBef>
              <a:defRPr sz="1800" b="1">
                <a:solidFill>
                  <a:srgbClr val="1B3A6B"/>
                </a:solidFill>
              </a:defRPr>
            </a:pPr>
            <a:r>
              <a:t>系统架构与数据库设计</a:t>
            </a:r>
          </a:p>
          <a:p>
            <a:pPr algn="l">
              <a:spcBef>
                <a:spcPts val="800"/>
              </a:spcBef>
              <a:defRPr sz="1300" b="0">
                <a:solidFill>
                  <a:srgbClr val="404040"/>
                </a:solidFill>
              </a:defRPr>
            </a:pPr>
            <a:r>
              <a:t>阐述整体技术选型、分层架构及核心数据模型</a:t>
            </a:r>
          </a:p>
        </p:txBody>
      </p:sp>
      <p:sp>
        <p:nvSpPr>
          <p:cNvPr id="24" name="Rounded Rectangle 23"/>
          <p:cNvSpPr/>
          <p:nvPr/>
        </p:nvSpPr>
        <p:spPr>
          <a:xfrm>
            <a:off x="6446520" y="3044952"/>
            <a:ext cx="5760720" cy="146304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46520" y="3044952"/>
            <a:ext cx="502920" cy="14630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83096" y="3502152"/>
            <a:ext cx="438912" cy="548640"/>
          </a:xfrm>
          <a:prstGeom prst="rect">
            <a:avLst/>
          </a:prstGeom>
          <a:noFill/>
        </p:spPr>
        <p:txBody>
          <a:bodyPr wrap="none">
            <a:spAutoFit/>
          </a:bodyPr>
          <a:lstStyle/>
          <a:p>
            <a:pPr algn="ctr">
              <a:spcBef>
                <a:spcPts val="0"/>
              </a:spcBef>
              <a:defRPr sz="2400" b="1">
                <a:solidFill>
                  <a:srgbClr val="FFFFFF"/>
                </a:solidFill>
              </a:defRPr>
            </a:pPr>
            <a:r>
              <a:t>04</a:t>
            </a:r>
          </a:p>
        </p:txBody>
      </p:sp>
      <p:sp>
        <p:nvSpPr>
          <p:cNvPr id="27" name="TextBox 26"/>
          <p:cNvSpPr txBox="1"/>
          <p:nvPr/>
        </p:nvSpPr>
        <p:spPr>
          <a:xfrm>
            <a:off x="7068312" y="3154680"/>
            <a:ext cx="5029200" cy="1243584"/>
          </a:xfrm>
          <a:prstGeom prst="rect">
            <a:avLst/>
          </a:prstGeom>
          <a:noFill/>
        </p:spPr>
        <p:txBody>
          <a:bodyPr wrap="none">
            <a:spAutoFit/>
          </a:bodyPr>
          <a:lstStyle/>
          <a:p>
            <a:pPr algn="l">
              <a:spcBef>
                <a:spcPts val="0"/>
              </a:spcBef>
              <a:defRPr sz="1800" b="1">
                <a:solidFill>
                  <a:srgbClr val="1B3A6B"/>
                </a:solidFill>
              </a:defRPr>
            </a:pPr>
            <a:r>
              <a:t>核心功能实现</a:t>
            </a:r>
          </a:p>
          <a:p>
            <a:pPr algn="l">
              <a:spcBef>
                <a:spcPts val="800"/>
              </a:spcBef>
              <a:defRPr sz="1300" b="0">
                <a:solidFill>
                  <a:srgbClr val="404040"/>
                </a:solidFill>
              </a:defRPr>
            </a:pPr>
            <a:r>
              <a:t>逐一演示登录、课程管理、成绩录入、考勤及管理员模块</a:t>
            </a:r>
          </a:p>
        </p:txBody>
      </p:sp>
      <p:sp>
        <p:nvSpPr>
          <p:cNvPr id="28" name="Rounded Rectangle 27"/>
          <p:cNvSpPr/>
          <p:nvPr/>
        </p:nvSpPr>
        <p:spPr>
          <a:xfrm>
            <a:off x="457200" y="4672584"/>
            <a:ext cx="5760720" cy="146304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4672584"/>
            <a:ext cx="502920" cy="14630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3776" y="5129784"/>
            <a:ext cx="438912" cy="548640"/>
          </a:xfrm>
          <a:prstGeom prst="rect">
            <a:avLst/>
          </a:prstGeom>
          <a:noFill/>
        </p:spPr>
        <p:txBody>
          <a:bodyPr wrap="none">
            <a:spAutoFit/>
          </a:bodyPr>
          <a:lstStyle/>
          <a:p>
            <a:pPr algn="ctr">
              <a:spcBef>
                <a:spcPts val="0"/>
              </a:spcBef>
              <a:defRPr sz="2400" b="1">
                <a:solidFill>
                  <a:srgbClr val="FFFFFF"/>
                </a:solidFill>
              </a:defRPr>
            </a:pPr>
            <a:r>
              <a:t>05</a:t>
            </a:r>
          </a:p>
        </p:txBody>
      </p:sp>
      <p:sp>
        <p:nvSpPr>
          <p:cNvPr id="31" name="TextBox 30"/>
          <p:cNvSpPr txBox="1"/>
          <p:nvPr/>
        </p:nvSpPr>
        <p:spPr>
          <a:xfrm>
            <a:off x="1078992" y="4782312"/>
            <a:ext cx="5029200" cy="1243584"/>
          </a:xfrm>
          <a:prstGeom prst="rect">
            <a:avLst/>
          </a:prstGeom>
          <a:noFill/>
        </p:spPr>
        <p:txBody>
          <a:bodyPr wrap="none">
            <a:spAutoFit/>
          </a:bodyPr>
          <a:lstStyle/>
          <a:p>
            <a:pPr algn="l">
              <a:spcBef>
                <a:spcPts val="0"/>
              </a:spcBef>
              <a:defRPr sz="1800" b="1">
                <a:solidFill>
                  <a:srgbClr val="1B3A6B"/>
                </a:solidFill>
              </a:defRPr>
            </a:pPr>
            <a:r>
              <a:t>系统测试与运行结果</a:t>
            </a:r>
          </a:p>
          <a:p>
            <a:pPr algn="l">
              <a:spcBef>
                <a:spcPts val="800"/>
              </a:spcBef>
              <a:defRPr sz="1300" b="0">
                <a:solidFill>
                  <a:srgbClr val="404040"/>
                </a:solidFill>
              </a:defRPr>
            </a:pPr>
            <a:r>
              <a:t>展示功能测试结果，验证系统的正确性与稳定性</a:t>
            </a:r>
          </a:p>
        </p:txBody>
      </p:sp>
      <p:sp>
        <p:nvSpPr>
          <p:cNvPr id="32" name="Rounded Rectangle 31"/>
          <p:cNvSpPr/>
          <p:nvPr/>
        </p:nvSpPr>
        <p:spPr>
          <a:xfrm>
            <a:off x="6446520" y="4672584"/>
            <a:ext cx="5760720" cy="146304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46520" y="4672584"/>
            <a:ext cx="502920" cy="14630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3096" y="5129784"/>
            <a:ext cx="438912" cy="548640"/>
          </a:xfrm>
          <a:prstGeom prst="rect">
            <a:avLst/>
          </a:prstGeom>
          <a:noFill/>
        </p:spPr>
        <p:txBody>
          <a:bodyPr wrap="none">
            <a:spAutoFit/>
          </a:bodyPr>
          <a:lstStyle/>
          <a:p>
            <a:pPr algn="ctr">
              <a:spcBef>
                <a:spcPts val="0"/>
              </a:spcBef>
              <a:defRPr sz="2400" b="1">
                <a:solidFill>
                  <a:srgbClr val="FFFFFF"/>
                </a:solidFill>
              </a:defRPr>
            </a:pPr>
            <a:r>
              <a:t>06</a:t>
            </a:r>
          </a:p>
        </p:txBody>
      </p:sp>
      <p:sp>
        <p:nvSpPr>
          <p:cNvPr id="35" name="TextBox 34"/>
          <p:cNvSpPr txBox="1"/>
          <p:nvPr/>
        </p:nvSpPr>
        <p:spPr>
          <a:xfrm>
            <a:off x="7068312" y="4782312"/>
            <a:ext cx="5029200" cy="1243584"/>
          </a:xfrm>
          <a:prstGeom prst="rect">
            <a:avLst/>
          </a:prstGeom>
          <a:noFill/>
        </p:spPr>
        <p:txBody>
          <a:bodyPr wrap="none">
            <a:spAutoFit/>
          </a:bodyPr>
          <a:lstStyle/>
          <a:p>
            <a:pPr algn="l">
              <a:spcBef>
                <a:spcPts val="0"/>
              </a:spcBef>
              <a:defRPr sz="1800" b="1">
                <a:solidFill>
                  <a:srgbClr val="1B3A6B"/>
                </a:solidFill>
              </a:defRPr>
            </a:pPr>
            <a:r>
              <a:t>总结与研究展望</a:t>
            </a:r>
          </a:p>
          <a:p>
            <a:pPr algn="l">
              <a:spcBef>
                <a:spcPts val="800"/>
              </a:spcBef>
              <a:defRPr sz="1300" b="0">
                <a:solidFill>
                  <a:srgbClr val="404040"/>
                </a:solidFill>
              </a:defRPr>
            </a:pPr>
            <a:r>
              <a:t>对本次设计进行总结，并提出后续改进与扩展方向</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9144000" cy="420624"/>
          </a:xfrm>
          <a:prstGeom prst="rect">
            <a:avLst/>
          </a:prstGeom>
          <a:noFill/>
        </p:spPr>
        <p:txBody>
          <a:bodyPr wrap="none">
            <a:spAutoFit/>
          </a:bodyPr>
          <a:lstStyle/>
          <a:p>
            <a:pPr algn="l">
              <a:spcBef>
                <a:spcPts val="0"/>
              </a:spcBef>
              <a:defRPr sz="2000" b="1">
                <a:solidFill>
                  <a:srgbClr val="FFFFFF"/>
                </a:solidFill>
              </a:defRPr>
            </a:pPr>
            <a:r>
              <a:t>研究背景与意义</a:t>
            </a:r>
          </a:p>
        </p:txBody>
      </p:sp>
      <p:sp>
        <p:nvSpPr>
          <p:cNvPr id="4" name="Rectangle 3"/>
          <p:cNvSpPr/>
          <p:nvPr/>
        </p:nvSpPr>
        <p:spPr>
          <a:xfrm>
            <a:off x="10515600" y="0"/>
            <a:ext cx="1676095" cy="5029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0" y="36576"/>
            <a:ext cx="1676095" cy="420624"/>
          </a:xfrm>
          <a:prstGeom prst="rect">
            <a:avLst/>
          </a:prstGeom>
          <a:noFill/>
        </p:spPr>
        <p:txBody>
          <a:bodyPr wrap="none">
            <a:spAutoFit/>
          </a:bodyPr>
          <a:lstStyle/>
          <a:p>
            <a:pPr algn="ctr">
              <a:spcBef>
                <a:spcPts val="0"/>
              </a:spcBef>
              <a:defRPr sz="1400" b="0">
                <a:solidFill>
                  <a:srgbClr val="FFFFFF"/>
                </a:solidFill>
              </a:defRPr>
            </a:pPr>
            <a:r>
              <a:t>第 01 部分</a:t>
            </a:r>
          </a:p>
        </p:txBody>
      </p:sp>
      <p:sp>
        <p:nvSpPr>
          <p:cNvPr id="6" name="Rectangle 5"/>
          <p:cNvSpPr/>
          <p:nvPr/>
        </p:nvSpPr>
        <p:spPr>
          <a:xfrm>
            <a:off x="0" y="6583680"/>
            <a:ext cx="12191695" cy="2743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01968"/>
            <a:ext cx="9144000" cy="237744"/>
          </a:xfrm>
          <a:prstGeom prst="rect">
            <a:avLst/>
          </a:prstGeom>
          <a:noFill/>
        </p:spPr>
        <p:txBody>
          <a:bodyPr wrap="none">
            <a:spAutoFit/>
          </a:bodyPr>
          <a:lstStyle/>
          <a:p>
            <a:pPr algn="l">
              <a:spcBef>
                <a:spcPts val="0"/>
              </a:spcBef>
              <a:defRPr sz="1100" b="0">
                <a:solidFill>
                  <a:srgbClr val="BDD7EE"/>
                </a:solidFill>
              </a:defRPr>
            </a:pPr>
            <a:r>
              <a:t>青少年活动中心管理平台 · 毕业设计答辩</a:t>
            </a:r>
          </a:p>
        </p:txBody>
      </p:sp>
      <p:sp>
        <p:nvSpPr>
          <p:cNvPr id="8" name="TextBox 7"/>
          <p:cNvSpPr txBox="1"/>
          <p:nvPr/>
        </p:nvSpPr>
        <p:spPr>
          <a:xfrm>
            <a:off x="11064240" y="6601968"/>
            <a:ext cx="914400" cy="237744"/>
          </a:xfrm>
          <a:prstGeom prst="rect">
            <a:avLst/>
          </a:prstGeom>
          <a:noFill/>
        </p:spPr>
        <p:txBody>
          <a:bodyPr wrap="none">
            <a:spAutoFit/>
          </a:bodyPr>
          <a:lstStyle/>
          <a:p>
            <a:pPr algn="r">
              <a:spcBef>
                <a:spcPts val="0"/>
              </a:spcBef>
              <a:defRPr sz="1100" b="0">
                <a:solidFill>
                  <a:srgbClr val="BDD7EE"/>
                </a:solidFill>
              </a:defRPr>
            </a:pPr>
            <a:r>
              <a:t>3 / 15</a:t>
            </a:r>
          </a:p>
        </p:txBody>
      </p:sp>
      <p:sp>
        <p:nvSpPr>
          <p:cNvPr id="9" name="Rectangle 8"/>
          <p:cNvSpPr/>
          <p:nvPr/>
        </p:nvSpPr>
        <p:spPr>
          <a:xfrm>
            <a:off x="0" y="502920"/>
            <a:ext cx="12191695" cy="6080760"/>
          </a:xfrm>
          <a:prstGeom prst="rect">
            <a:avLst/>
          </a:prstGeom>
          <a:solidFill>
            <a:srgbClr val="F2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594360"/>
            <a:ext cx="11430000" cy="731520"/>
          </a:xfrm>
          <a:prstGeom prst="rect">
            <a:avLst/>
          </a:prstGeom>
          <a:noFill/>
        </p:spPr>
        <p:txBody>
          <a:bodyPr wrap="none">
            <a:spAutoFit/>
          </a:bodyPr>
          <a:lstStyle/>
          <a:p>
            <a:pPr algn="l">
              <a:spcBef>
                <a:spcPts val="0"/>
              </a:spcBef>
              <a:defRPr sz="3000" b="1">
                <a:solidFill>
                  <a:srgbClr val="1B3A6B"/>
                </a:solidFill>
              </a:defRPr>
            </a:pPr>
            <a:r>
              <a:t>01  研究背景与意义</a:t>
            </a:r>
          </a:p>
        </p:txBody>
      </p:sp>
      <p:sp>
        <p:nvSpPr>
          <p:cNvPr id="11" name="Rectangle 10"/>
          <p:cNvSpPr/>
          <p:nvPr/>
        </p:nvSpPr>
        <p:spPr>
          <a:xfrm>
            <a:off x="365760" y="1261872"/>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1371600"/>
            <a:ext cx="5486400" cy="484632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371600"/>
            <a:ext cx="5486400"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 y="1408176"/>
            <a:ext cx="5266944" cy="329184"/>
          </a:xfrm>
          <a:prstGeom prst="rect">
            <a:avLst/>
          </a:prstGeom>
          <a:noFill/>
        </p:spPr>
        <p:txBody>
          <a:bodyPr wrap="none">
            <a:spAutoFit/>
          </a:bodyPr>
          <a:lstStyle/>
          <a:p>
            <a:pPr algn="l">
              <a:spcBef>
                <a:spcPts val="0"/>
              </a:spcBef>
              <a:defRPr sz="1700" b="1">
                <a:solidFill>
                  <a:srgbClr val="FFFFFF"/>
                </a:solidFill>
              </a:defRPr>
            </a:pPr>
            <a:r>
              <a:t>社会背景</a:t>
            </a:r>
          </a:p>
        </p:txBody>
      </p:sp>
      <p:sp>
        <p:nvSpPr>
          <p:cNvPr id="15" name="TextBox 14"/>
          <p:cNvSpPr txBox="1"/>
          <p:nvPr/>
        </p:nvSpPr>
        <p:spPr>
          <a:xfrm>
            <a:off x="594360" y="1828800"/>
            <a:ext cx="5166360" cy="4297680"/>
          </a:xfrm>
          <a:prstGeom prst="rect">
            <a:avLst/>
          </a:prstGeom>
          <a:noFill/>
        </p:spPr>
        <p:txBody>
          <a:bodyPr wrap="none">
            <a:spAutoFit/>
          </a:bodyPr>
          <a:lstStyle/>
          <a:p>
            <a:pPr algn="l">
              <a:spcBef>
                <a:spcPts val="200"/>
              </a:spcBef>
              <a:defRPr sz="1400" b="0">
                <a:solidFill>
                  <a:srgbClr val="404040"/>
                </a:solidFill>
              </a:defRPr>
            </a:pPr>
            <a:r>
              <a:t>随着信息化建设的深入推进，传统青少年活动中心的纸质化管理模式已难以适应现代教育管理需求，主要表现为：信息录入效率低、数据易丢失、跨部门协作困难。</a:t>
            </a:r>
          </a:p>
          <a:p>
            <a:pPr algn="l">
              <a:spcBef>
                <a:spcPts val="500"/>
              </a:spcBef>
              <a:defRPr sz="1400" b="0">
                <a:solidFill>
                  <a:srgbClr val="404040"/>
                </a:solidFill>
              </a:defRPr>
            </a:pPr>
            <a:r>
              <a:t>活动报名、成绩统计、考勤记录等环节高度依赖人工操作，耗费大量师生时间，且容易引发数据不一致问题。</a:t>
            </a:r>
          </a:p>
          <a:p>
            <a:pPr algn="l">
              <a:spcBef>
                <a:spcPts val="500"/>
              </a:spcBef>
              <a:defRPr sz="1400" b="0">
                <a:solidFill>
                  <a:srgbClr val="404040"/>
                </a:solidFill>
              </a:defRPr>
            </a:pPr>
            <a:r>
              <a:t>学生无法及时获取课程信息，教师难以实时掌握报名情况与学习进度，管理层缺乏可视化数据支撑决策。</a:t>
            </a:r>
          </a:p>
        </p:txBody>
      </p:sp>
      <p:sp>
        <p:nvSpPr>
          <p:cNvPr id="16" name="Rounded Rectangle 15"/>
          <p:cNvSpPr/>
          <p:nvPr/>
        </p:nvSpPr>
        <p:spPr>
          <a:xfrm>
            <a:off x="6217920" y="1371600"/>
            <a:ext cx="5577840" cy="484632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371600"/>
            <a:ext cx="5577840"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1408176"/>
            <a:ext cx="5358383" cy="329184"/>
          </a:xfrm>
          <a:prstGeom prst="rect">
            <a:avLst/>
          </a:prstGeom>
          <a:noFill/>
        </p:spPr>
        <p:txBody>
          <a:bodyPr wrap="none">
            <a:spAutoFit/>
          </a:bodyPr>
          <a:lstStyle/>
          <a:p>
            <a:pPr algn="l">
              <a:spcBef>
                <a:spcPts val="0"/>
              </a:spcBef>
              <a:defRPr sz="1700" b="1">
                <a:solidFill>
                  <a:srgbClr val="FFFFFF"/>
                </a:solidFill>
              </a:defRPr>
            </a:pPr>
            <a:r>
              <a:t>研究意义</a:t>
            </a:r>
          </a:p>
        </p:txBody>
      </p:sp>
      <p:sp>
        <p:nvSpPr>
          <p:cNvPr id="19" name="TextBox 18"/>
          <p:cNvSpPr txBox="1"/>
          <p:nvPr/>
        </p:nvSpPr>
        <p:spPr>
          <a:xfrm>
            <a:off x="6400800" y="1828800"/>
            <a:ext cx="5257800" cy="4297680"/>
          </a:xfrm>
          <a:prstGeom prst="rect">
            <a:avLst/>
          </a:prstGeom>
          <a:noFill/>
        </p:spPr>
        <p:txBody>
          <a:bodyPr wrap="none">
            <a:spAutoFit/>
          </a:bodyPr>
          <a:lstStyle/>
          <a:p>
            <a:pPr algn="l">
              <a:spcBef>
                <a:spcPts val="200"/>
              </a:spcBef>
              <a:defRPr sz="1400" b="0">
                <a:solidFill>
                  <a:srgbClr val="404040"/>
                </a:solidFill>
              </a:defRPr>
            </a:pPr>
            <a:r>
              <a:t>本课题旨在设计并实现一套基于 B/S 架构的青少年活动中心管理平台，通过 Web 系统将课程管理、报名审批、成绩维护、考勤记录等业务流程全面数字化。</a:t>
            </a:r>
          </a:p>
          <a:p>
            <a:pPr algn="l">
              <a:spcBef>
                <a:spcPts val="500"/>
              </a:spcBef>
              <a:defRPr sz="1400" b="0">
                <a:solidFill>
                  <a:srgbClr val="404040"/>
                </a:solidFill>
              </a:defRPr>
            </a:pPr>
            <a:r>
              <a:t>系统可有效降低管理成本，提升教师工作效率，改善学生使用体验，并为管理层提供统一的数据视图与权限控制机制。</a:t>
            </a:r>
          </a:p>
          <a:p>
            <a:pPr algn="l">
              <a:spcBef>
                <a:spcPts val="500"/>
              </a:spcBef>
              <a:defRPr sz="1400" b="0">
                <a:solidFill>
                  <a:srgbClr val="404040"/>
                </a:solidFill>
              </a:defRPr>
            </a:pPr>
            <a:r>
              <a:t>平台采用成熟的 Spring MVC + MyBatis 技术栈，具备良好的可维护性与可扩展性，可为同类教育管理信息系统的设计提供参考。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9144000" cy="420624"/>
          </a:xfrm>
          <a:prstGeom prst="rect">
            <a:avLst/>
          </a:prstGeom>
          <a:noFill/>
        </p:spPr>
        <p:txBody>
          <a:bodyPr wrap="none">
            <a:spAutoFit/>
          </a:bodyPr>
          <a:lstStyle/>
          <a:p>
            <a:pPr algn="l">
              <a:spcBef>
                <a:spcPts val="0"/>
              </a:spcBef>
              <a:defRPr sz="2000" b="1">
                <a:solidFill>
                  <a:srgbClr val="FFFFFF"/>
                </a:solidFill>
              </a:defRPr>
            </a:pPr>
            <a:r>
              <a:t>系统需求分析</a:t>
            </a:r>
          </a:p>
        </p:txBody>
      </p:sp>
      <p:sp>
        <p:nvSpPr>
          <p:cNvPr id="4" name="Rectangle 3"/>
          <p:cNvSpPr/>
          <p:nvPr/>
        </p:nvSpPr>
        <p:spPr>
          <a:xfrm>
            <a:off x="10515600" y="0"/>
            <a:ext cx="1676095" cy="5029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0" y="36576"/>
            <a:ext cx="1676095" cy="420624"/>
          </a:xfrm>
          <a:prstGeom prst="rect">
            <a:avLst/>
          </a:prstGeom>
          <a:noFill/>
        </p:spPr>
        <p:txBody>
          <a:bodyPr wrap="none">
            <a:spAutoFit/>
          </a:bodyPr>
          <a:lstStyle/>
          <a:p>
            <a:pPr algn="ctr">
              <a:spcBef>
                <a:spcPts val="0"/>
              </a:spcBef>
              <a:defRPr sz="1400" b="0">
                <a:solidFill>
                  <a:srgbClr val="FFFFFF"/>
                </a:solidFill>
              </a:defRPr>
            </a:pPr>
            <a:r>
              <a:t>第 02 部分</a:t>
            </a:r>
          </a:p>
        </p:txBody>
      </p:sp>
      <p:sp>
        <p:nvSpPr>
          <p:cNvPr id="6" name="Rectangle 5"/>
          <p:cNvSpPr/>
          <p:nvPr/>
        </p:nvSpPr>
        <p:spPr>
          <a:xfrm>
            <a:off x="0" y="6583680"/>
            <a:ext cx="12191695" cy="2743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01968"/>
            <a:ext cx="9144000" cy="237744"/>
          </a:xfrm>
          <a:prstGeom prst="rect">
            <a:avLst/>
          </a:prstGeom>
          <a:noFill/>
        </p:spPr>
        <p:txBody>
          <a:bodyPr wrap="none">
            <a:spAutoFit/>
          </a:bodyPr>
          <a:lstStyle/>
          <a:p>
            <a:pPr algn="l">
              <a:spcBef>
                <a:spcPts val="0"/>
              </a:spcBef>
              <a:defRPr sz="1100" b="0">
                <a:solidFill>
                  <a:srgbClr val="BDD7EE"/>
                </a:solidFill>
              </a:defRPr>
            </a:pPr>
            <a:r>
              <a:t>青少年活动中心管理平台 · 毕业设计答辩</a:t>
            </a:r>
          </a:p>
        </p:txBody>
      </p:sp>
      <p:sp>
        <p:nvSpPr>
          <p:cNvPr id="8" name="TextBox 7"/>
          <p:cNvSpPr txBox="1"/>
          <p:nvPr/>
        </p:nvSpPr>
        <p:spPr>
          <a:xfrm>
            <a:off x="11064240" y="6601968"/>
            <a:ext cx="914400" cy="237744"/>
          </a:xfrm>
          <a:prstGeom prst="rect">
            <a:avLst/>
          </a:prstGeom>
          <a:noFill/>
        </p:spPr>
        <p:txBody>
          <a:bodyPr wrap="none">
            <a:spAutoFit/>
          </a:bodyPr>
          <a:lstStyle/>
          <a:p>
            <a:pPr algn="r">
              <a:spcBef>
                <a:spcPts val="0"/>
              </a:spcBef>
              <a:defRPr sz="1100" b="0">
                <a:solidFill>
                  <a:srgbClr val="BDD7EE"/>
                </a:solidFill>
              </a:defRPr>
            </a:pPr>
            <a:r>
              <a:t>4 / 15</a:t>
            </a:r>
          </a:p>
        </p:txBody>
      </p:sp>
      <p:sp>
        <p:nvSpPr>
          <p:cNvPr id="9" name="Rectangle 8"/>
          <p:cNvSpPr/>
          <p:nvPr/>
        </p:nvSpPr>
        <p:spPr>
          <a:xfrm>
            <a:off x="0" y="502920"/>
            <a:ext cx="12191695" cy="6080760"/>
          </a:xfrm>
          <a:prstGeom prst="rect">
            <a:avLst/>
          </a:prstGeom>
          <a:solidFill>
            <a:srgbClr val="F2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594360"/>
            <a:ext cx="11430000" cy="731520"/>
          </a:xfrm>
          <a:prstGeom prst="rect">
            <a:avLst/>
          </a:prstGeom>
          <a:noFill/>
        </p:spPr>
        <p:txBody>
          <a:bodyPr wrap="none">
            <a:spAutoFit/>
          </a:bodyPr>
          <a:lstStyle/>
          <a:p>
            <a:pPr algn="l">
              <a:spcBef>
                <a:spcPts val="0"/>
              </a:spcBef>
              <a:defRPr sz="3000" b="1">
                <a:solidFill>
                  <a:srgbClr val="1B3A6B"/>
                </a:solidFill>
              </a:defRPr>
            </a:pPr>
            <a:r>
              <a:t>02  系统需求分析</a:t>
            </a:r>
          </a:p>
        </p:txBody>
      </p:sp>
      <p:sp>
        <p:nvSpPr>
          <p:cNvPr id="11" name="Rectangle 10"/>
          <p:cNvSpPr/>
          <p:nvPr/>
        </p:nvSpPr>
        <p:spPr>
          <a:xfrm>
            <a:off x="365760" y="1261872"/>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1371600"/>
            <a:ext cx="3474720" cy="484632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371600"/>
            <a:ext cx="3474720"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 y="1408176"/>
            <a:ext cx="3255263" cy="329184"/>
          </a:xfrm>
          <a:prstGeom prst="rect">
            <a:avLst/>
          </a:prstGeom>
          <a:noFill/>
        </p:spPr>
        <p:txBody>
          <a:bodyPr wrap="none">
            <a:spAutoFit/>
          </a:bodyPr>
          <a:lstStyle/>
          <a:p>
            <a:pPr algn="l">
              <a:spcBef>
                <a:spcPts val="0"/>
              </a:spcBef>
              <a:defRPr sz="1700" b="1">
                <a:solidFill>
                  <a:srgbClr val="FFFFFF"/>
                </a:solidFill>
              </a:defRPr>
            </a:pPr>
            <a:r>
              <a:t>学生端功能需求</a:t>
            </a:r>
          </a:p>
        </p:txBody>
      </p:sp>
      <p:sp>
        <p:nvSpPr>
          <p:cNvPr id="15" name="TextBox 14"/>
          <p:cNvSpPr txBox="1"/>
          <p:nvPr/>
        </p:nvSpPr>
        <p:spPr>
          <a:xfrm>
            <a:off x="594360" y="1828800"/>
            <a:ext cx="3154679" cy="4297680"/>
          </a:xfrm>
          <a:prstGeom prst="rect">
            <a:avLst/>
          </a:prstGeom>
          <a:noFill/>
        </p:spPr>
        <p:txBody>
          <a:bodyPr wrap="none">
            <a:spAutoFit/>
          </a:bodyPr>
          <a:lstStyle/>
          <a:p>
            <a:pPr algn="l">
              <a:spcBef>
                <a:spcPts val="200"/>
              </a:spcBef>
              <a:defRPr sz="1300" b="0">
                <a:solidFill>
                  <a:srgbClr val="404040"/>
                </a:solidFill>
              </a:defRPr>
            </a:pPr>
            <a:r>
              <a:t>账号注册与登录：支持学生凭学号与密码登录，进行身份验证后跳转至个人主页。</a:t>
            </a:r>
          </a:p>
          <a:p>
            <a:pPr algn="l">
              <a:spcBef>
                <a:spcPts val="500"/>
              </a:spcBef>
              <a:defRPr sz="1300" b="0">
                <a:solidFill>
                  <a:srgbClr val="404040"/>
                </a:solidFill>
              </a:defRPr>
            </a:pPr>
            <a:r>
              <a:t>课程浏览与报名：浏览全部在线课程，查看课程详情（名称、教师、时间、名额），并在线提交报名申请。</a:t>
            </a:r>
          </a:p>
          <a:p>
            <a:pPr algn="l">
              <a:spcBef>
                <a:spcPts val="500"/>
              </a:spcBef>
              <a:defRPr sz="1300" b="0">
                <a:solidFill>
                  <a:srgbClr val="404040"/>
                </a:solidFill>
              </a:defRPr>
            </a:pPr>
            <a:r>
              <a:t>个人中心：查询已选课程列表、历史成绩及考勤记录，并支持个人信息的修改与维护。</a:t>
            </a:r>
          </a:p>
        </p:txBody>
      </p:sp>
      <p:sp>
        <p:nvSpPr>
          <p:cNvPr id="16" name="Rounded Rectangle 15"/>
          <p:cNvSpPr/>
          <p:nvPr/>
        </p:nvSpPr>
        <p:spPr>
          <a:xfrm>
            <a:off x="4160520" y="1371600"/>
            <a:ext cx="3566160" cy="484632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60520" y="1371600"/>
            <a:ext cx="3566160"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0248" y="1408176"/>
            <a:ext cx="3346704" cy="329184"/>
          </a:xfrm>
          <a:prstGeom prst="rect">
            <a:avLst/>
          </a:prstGeom>
          <a:noFill/>
        </p:spPr>
        <p:txBody>
          <a:bodyPr wrap="none">
            <a:spAutoFit/>
          </a:bodyPr>
          <a:lstStyle/>
          <a:p>
            <a:pPr algn="l">
              <a:spcBef>
                <a:spcPts val="0"/>
              </a:spcBef>
              <a:defRPr sz="1700" b="1">
                <a:solidFill>
                  <a:srgbClr val="FFFFFF"/>
                </a:solidFill>
              </a:defRPr>
            </a:pPr>
            <a:r>
              <a:t>教师端功能需求</a:t>
            </a:r>
          </a:p>
        </p:txBody>
      </p:sp>
      <p:sp>
        <p:nvSpPr>
          <p:cNvPr id="19" name="TextBox 18"/>
          <p:cNvSpPr txBox="1"/>
          <p:nvPr/>
        </p:nvSpPr>
        <p:spPr>
          <a:xfrm>
            <a:off x="4343400" y="1828800"/>
            <a:ext cx="3246120" cy="4297680"/>
          </a:xfrm>
          <a:prstGeom prst="rect">
            <a:avLst/>
          </a:prstGeom>
          <a:noFill/>
        </p:spPr>
        <p:txBody>
          <a:bodyPr wrap="none">
            <a:spAutoFit/>
          </a:bodyPr>
          <a:lstStyle/>
          <a:p>
            <a:pPr algn="l">
              <a:spcBef>
                <a:spcPts val="200"/>
              </a:spcBef>
              <a:defRPr sz="1300" b="0">
                <a:solidFill>
                  <a:srgbClr val="404040"/>
                </a:solidFill>
              </a:defRPr>
            </a:pPr>
            <a:r>
              <a:t>课程管理：提供课程的新增、编辑、删除及发布功能，支持设置课程基本属性（名称、类别、时段、人数上限）。</a:t>
            </a:r>
          </a:p>
          <a:p>
            <a:pPr algn="l">
              <a:spcBef>
                <a:spcPts val="500"/>
              </a:spcBef>
              <a:defRPr sz="1300" b="0">
                <a:solidFill>
                  <a:srgbClr val="404040"/>
                </a:solidFill>
              </a:defRPr>
            </a:pPr>
            <a:r>
              <a:t>成绩管理：针对已报名学生进行成绩录入与修改，并可按课程或学生维度进行汇总查询。</a:t>
            </a:r>
          </a:p>
          <a:p>
            <a:pPr algn="l">
              <a:spcBef>
                <a:spcPts val="500"/>
              </a:spcBef>
              <a:defRPr sz="1300" b="0">
                <a:solidFill>
                  <a:srgbClr val="404040"/>
                </a:solidFill>
              </a:defRPr>
            </a:pPr>
            <a:r>
              <a:t>考勤管理：以课程为单位，逐次记录学生出勤情况，支持缺勤标记与统计汇总。</a:t>
            </a:r>
          </a:p>
        </p:txBody>
      </p:sp>
      <p:sp>
        <p:nvSpPr>
          <p:cNvPr id="20" name="Rounded Rectangle 19"/>
          <p:cNvSpPr/>
          <p:nvPr/>
        </p:nvSpPr>
        <p:spPr>
          <a:xfrm>
            <a:off x="8001000" y="1371600"/>
            <a:ext cx="3749039" cy="484632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01000" y="1371600"/>
            <a:ext cx="3749039"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1408176"/>
            <a:ext cx="3529583" cy="329184"/>
          </a:xfrm>
          <a:prstGeom prst="rect">
            <a:avLst/>
          </a:prstGeom>
          <a:noFill/>
        </p:spPr>
        <p:txBody>
          <a:bodyPr wrap="none">
            <a:spAutoFit/>
          </a:bodyPr>
          <a:lstStyle/>
          <a:p>
            <a:pPr algn="l">
              <a:spcBef>
                <a:spcPts val="0"/>
              </a:spcBef>
              <a:defRPr sz="1700" b="1">
                <a:solidFill>
                  <a:srgbClr val="FFFFFF"/>
                </a:solidFill>
              </a:defRPr>
            </a:pPr>
            <a:r>
              <a:t>管理员端功能需求</a:t>
            </a:r>
          </a:p>
        </p:txBody>
      </p:sp>
      <p:sp>
        <p:nvSpPr>
          <p:cNvPr id="23" name="TextBox 22"/>
          <p:cNvSpPr txBox="1"/>
          <p:nvPr/>
        </p:nvSpPr>
        <p:spPr>
          <a:xfrm>
            <a:off x="8183879" y="1828800"/>
            <a:ext cx="3428999" cy="4297680"/>
          </a:xfrm>
          <a:prstGeom prst="rect">
            <a:avLst/>
          </a:prstGeom>
          <a:noFill/>
        </p:spPr>
        <p:txBody>
          <a:bodyPr wrap="none">
            <a:spAutoFit/>
          </a:bodyPr>
          <a:lstStyle/>
          <a:p>
            <a:pPr algn="l">
              <a:spcBef>
                <a:spcPts val="200"/>
              </a:spcBef>
              <a:defRPr sz="1300" b="0">
                <a:solidFill>
                  <a:srgbClr val="404040"/>
                </a:solidFill>
              </a:defRPr>
            </a:pPr>
            <a:r>
              <a:t>用户管理：对系统内全部用户（学生、教师）进行增删改查，并能够重置密码与调整角色。</a:t>
            </a:r>
          </a:p>
          <a:p>
            <a:pPr algn="l">
              <a:spcBef>
                <a:spcPts val="500"/>
              </a:spcBef>
              <a:defRPr sz="1300" b="0">
                <a:solidFill>
                  <a:srgbClr val="404040"/>
                </a:solidFill>
              </a:defRPr>
            </a:pPr>
            <a:r>
              <a:t>权限控制：基于角色的访问控制（RBAC）机制，确保不同角色只能访问各自权限范围内的功能模块。</a:t>
            </a:r>
          </a:p>
          <a:p>
            <a:pPr algn="l">
              <a:spcBef>
                <a:spcPts val="500"/>
              </a:spcBef>
              <a:defRPr sz="1300" b="0">
                <a:solidFill>
                  <a:srgbClr val="404040"/>
                </a:solidFill>
              </a:defRPr>
            </a:pPr>
            <a:r>
              <a:t>基础数据维护：维护课程类别、年级班级、学期等基础字典数据，保障系统正常运转。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9144000" cy="420624"/>
          </a:xfrm>
          <a:prstGeom prst="rect">
            <a:avLst/>
          </a:prstGeom>
          <a:noFill/>
        </p:spPr>
        <p:txBody>
          <a:bodyPr wrap="none">
            <a:spAutoFit/>
          </a:bodyPr>
          <a:lstStyle/>
          <a:p>
            <a:pPr algn="l">
              <a:spcBef>
                <a:spcPts val="0"/>
              </a:spcBef>
              <a:defRPr sz="2000" b="1">
                <a:solidFill>
                  <a:srgbClr val="FFFFFF"/>
                </a:solidFill>
              </a:defRPr>
            </a:pPr>
            <a:r>
              <a:t>系统架构设计</a:t>
            </a:r>
          </a:p>
        </p:txBody>
      </p:sp>
      <p:sp>
        <p:nvSpPr>
          <p:cNvPr id="4" name="Rectangle 3"/>
          <p:cNvSpPr/>
          <p:nvPr/>
        </p:nvSpPr>
        <p:spPr>
          <a:xfrm>
            <a:off x="10515600" y="0"/>
            <a:ext cx="1676095" cy="5029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0" y="36576"/>
            <a:ext cx="1676095" cy="420624"/>
          </a:xfrm>
          <a:prstGeom prst="rect">
            <a:avLst/>
          </a:prstGeom>
          <a:noFill/>
        </p:spPr>
        <p:txBody>
          <a:bodyPr wrap="none">
            <a:spAutoFit/>
          </a:bodyPr>
          <a:lstStyle/>
          <a:p>
            <a:pPr algn="ctr">
              <a:spcBef>
                <a:spcPts val="0"/>
              </a:spcBef>
              <a:defRPr sz="1400" b="0">
                <a:solidFill>
                  <a:srgbClr val="FFFFFF"/>
                </a:solidFill>
              </a:defRPr>
            </a:pPr>
            <a:r>
              <a:t>第 03 部分</a:t>
            </a:r>
          </a:p>
        </p:txBody>
      </p:sp>
      <p:sp>
        <p:nvSpPr>
          <p:cNvPr id="6" name="Rectangle 5"/>
          <p:cNvSpPr/>
          <p:nvPr/>
        </p:nvSpPr>
        <p:spPr>
          <a:xfrm>
            <a:off x="0" y="6583680"/>
            <a:ext cx="12191695" cy="2743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01968"/>
            <a:ext cx="9144000" cy="237744"/>
          </a:xfrm>
          <a:prstGeom prst="rect">
            <a:avLst/>
          </a:prstGeom>
          <a:noFill/>
        </p:spPr>
        <p:txBody>
          <a:bodyPr wrap="none">
            <a:spAutoFit/>
          </a:bodyPr>
          <a:lstStyle/>
          <a:p>
            <a:pPr algn="l">
              <a:spcBef>
                <a:spcPts val="0"/>
              </a:spcBef>
              <a:defRPr sz="1100" b="0">
                <a:solidFill>
                  <a:srgbClr val="BDD7EE"/>
                </a:solidFill>
              </a:defRPr>
            </a:pPr>
            <a:r>
              <a:t>青少年活动中心管理平台 · 毕业设计答辩</a:t>
            </a:r>
          </a:p>
        </p:txBody>
      </p:sp>
      <p:sp>
        <p:nvSpPr>
          <p:cNvPr id="8" name="TextBox 7"/>
          <p:cNvSpPr txBox="1"/>
          <p:nvPr/>
        </p:nvSpPr>
        <p:spPr>
          <a:xfrm>
            <a:off x="11064240" y="6601968"/>
            <a:ext cx="914400" cy="237744"/>
          </a:xfrm>
          <a:prstGeom prst="rect">
            <a:avLst/>
          </a:prstGeom>
          <a:noFill/>
        </p:spPr>
        <p:txBody>
          <a:bodyPr wrap="none">
            <a:spAutoFit/>
          </a:bodyPr>
          <a:lstStyle/>
          <a:p>
            <a:pPr algn="r">
              <a:spcBef>
                <a:spcPts val="0"/>
              </a:spcBef>
              <a:defRPr sz="1100" b="0">
                <a:solidFill>
                  <a:srgbClr val="BDD7EE"/>
                </a:solidFill>
              </a:defRPr>
            </a:pPr>
            <a:r>
              <a:t>5 / 15</a:t>
            </a:r>
          </a:p>
        </p:txBody>
      </p:sp>
      <p:sp>
        <p:nvSpPr>
          <p:cNvPr id="9" name="Rectangle 8"/>
          <p:cNvSpPr/>
          <p:nvPr/>
        </p:nvSpPr>
        <p:spPr>
          <a:xfrm>
            <a:off x="0" y="502920"/>
            <a:ext cx="12191695" cy="6080760"/>
          </a:xfrm>
          <a:prstGeom prst="rect">
            <a:avLst/>
          </a:prstGeom>
          <a:solidFill>
            <a:srgbClr val="F2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594360"/>
            <a:ext cx="11430000" cy="731520"/>
          </a:xfrm>
          <a:prstGeom prst="rect">
            <a:avLst/>
          </a:prstGeom>
          <a:noFill/>
        </p:spPr>
        <p:txBody>
          <a:bodyPr wrap="none">
            <a:spAutoFit/>
          </a:bodyPr>
          <a:lstStyle/>
          <a:p>
            <a:pPr algn="l">
              <a:spcBef>
                <a:spcPts val="0"/>
              </a:spcBef>
              <a:defRPr sz="3000" b="1">
                <a:solidFill>
                  <a:srgbClr val="1B3A6B"/>
                </a:solidFill>
              </a:defRPr>
            </a:pPr>
            <a:r>
              <a:t>03  系统整体技术架构</a:t>
            </a:r>
          </a:p>
        </p:txBody>
      </p:sp>
      <p:sp>
        <p:nvSpPr>
          <p:cNvPr id="11" name="Rectangle 10"/>
          <p:cNvSpPr/>
          <p:nvPr/>
        </p:nvSpPr>
        <p:spPr>
          <a:xfrm>
            <a:off x="365760" y="1261872"/>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1371600"/>
            <a:ext cx="5394960" cy="228600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371600"/>
            <a:ext cx="5394960"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 y="1408176"/>
            <a:ext cx="5175504" cy="329184"/>
          </a:xfrm>
          <a:prstGeom prst="rect">
            <a:avLst/>
          </a:prstGeom>
          <a:noFill/>
        </p:spPr>
        <p:txBody>
          <a:bodyPr wrap="none">
            <a:spAutoFit/>
          </a:bodyPr>
          <a:lstStyle/>
          <a:p>
            <a:pPr algn="l">
              <a:spcBef>
                <a:spcPts val="0"/>
              </a:spcBef>
              <a:defRPr sz="1700" b="1">
                <a:solidFill>
                  <a:srgbClr val="FFFFFF"/>
                </a:solidFill>
              </a:defRPr>
            </a:pPr>
            <a:r>
              <a:t>技术选型依据</a:t>
            </a:r>
          </a:p>
        </p:txBody>
      </p:sp>
      <p:sp>
        <p:nvSpPr>
          <p:cNvPr id="15" name="TextBox 14"/>
          <p:cNvSpPr txBox="1"/>
          <p:nvPr/>
        </p:nvSpPr>
        <p:spPr>
          <a:xfrm>
            <a:off x="594360" y="1828800"/>
            <a:ext cx="5074920" cy="1737360"/>
          </a:xfrm>
          <a:prstGeom prst="rect">
            <a:avLst/>
          </a:prstGeom>
          <a:noFill/>
        </p:spPr>
        <p:txBody>
          <a:bodyPr wrap="none">
            <a:spAutoFit/>
          </a:bodyPr>
          <a:lstStyle/>
          <a:p>
            <a:pPr algn="l">
              <a:spcBef>
                <a:spcPts val="200"/>
              </a:spcBef>
              <a:defRPr sz="1300" b="0">
                <a:solidFill>
                  <a:srgbClr val="404040"/>
                </a:solidFill>
              </a:defRPr>
            </a:pPr>
            <a:r>
              <a:t>后端框架：采用 Spring + Spring MVC 构建 MVC 分层结构，利用 IoC/AOP 机制简化业务逻辑的组织与横切关注点处理（如日志、权限校验）。</a:t>
            </a:r>
          </a:p>
          <a:p>
            <a:pPr algn="l">
              <a:spcBef>
                <a:spcPts val="500"/>
              </a:spcBef>
              <a:defRPr sz="1300" b="0">
                <a:solidFill>
                  <a:srgbClr val="404040"/>
                </a:solidFill>
              </a:defRPr>
            </a:pPr>
            <a:r>
              <a:t>持久层：MyBatis 以 XML 映射方式管理 SQL，灵活可控，适合教育信息系统中复杂查询较多的场景。</a:t>
            </a:r>
          </a:p>
          <a:p>
            <a:pPr algn="l">
              <a:spcBef>
                <a:spcPts val="500"/>
              </a:spcBef>
              <a:defRPr sz="1300" b="0">
                <a:solidFill>
                  <a:srgbClr val="404040"/>
                </a:solidFill>
              </a:defRPr>
            </a:pPr>
            <a:r>
              <a:t>前端：JSP 模板引擎结合 Bootstrap + AdminLTE 响应式 UI 框架，快速构建统一风格的后台管理界面。</a:t>
            </a:r>
          </a:p>
        </p:txBody>
      </p:sp>
      <p:sp>
        <p:nvSpPr>
          <p:cNvPr id="16" name="Rounded Rectangle 15"/>
          <p:cNvSpPr/>
          <p:nvPr/>
        </p:nvSpPr>
        <p:spPr>
          <a:xfrm>
            <a:off x="411480" y="3840480"/>
            <a:ext cx="5394960" cy="237744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840480"/>
            <a:ext cx="5394960"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 y="3877056"/>
            <a:ext cx="5175504" cy="329184"/>
          </a:xfrm>
          <a:prstGeom prst="rect">
            <a:avLst/>
          </a:prstGeom>
          <a:noFill/>
        </p:spPr>
        <p:txBody>
          <a:bodyPr wrap="none">
            <a:spAutoFit/>
          </a:bodyPr>
          <a:lstStyle/>
          <a:p>
            <a:pPr algn="l">
              <a:spcBef>
                <a:spcPts val="0"/>
              </a:spcBef>
              <a:defRPr sz="1700" b="1">
                <a:solidFill>
                  <a:srgbClr val="FFFFFF"/>
                </a:solidFill>
              </a:defRPr>
            </a:pPr>
            <a:r>
              <a:t>分层架构设计</a:t>
            </a:r>
          </a:p>
        </p:txBody>
      </p:sp>
      <p:sp>
        <p:nvSpPr>
          <p:cNvPr id="19" name="TextBox 18"/>
          <p:cNvSpPr txBox="1"/>
          <p:nvPr/>
        </p:nvSpPr>
        <p:spPr>
          <a:xfrm>
            <a:off x="594360" y="4297680"/>
            <a:ext cx="5074920" cy="1828800"/>
          </a:xfrm>
          <a:prstGeom prst="rect">
            <a:avLst/>
          </a:prstGeom>
          <a:noFill/>
        </p:spPr>
        <p:txBody>
          <a:bodyPr wrap="none">
            <a:spAutoFit/>
          </a:bodyPr>
          <a:lstStyle/>
          <a:p>
            <a:pPr algn="l">
              <a:spcBef>
                <a:spcPts val="200"/>
              </a:spcBef>
              <a:defRPr sz="1300" b="0">
                <a:solidFill>
                  <a:srgbClr val="404040"/>
                </a:solidFill>
              </a:defRPr>
            </a:pPr>
            <a:r>
              <a:t>表示层（Presentation）：JSP 页面负责视图渲染，Controller 层接收请求并完成参数校验与响应封装。</a:t>
            </a:r>
          </a:p>
          <a:p>
            <a:pPr algn="l">
              <a:spcBef>
                <a:spcPts val="500"/>
              </a:spcBef>
              <a:defRPr sz="1300" b="0">
                <a:solidFill>
                  <a:srgbClr val="404040"/>
                </a:solidFill>
              </a:defRPr>
            </a:pPr>
            <a:r>
              <a:t>业务逻辑层（Service）：封装核心业务规则，如报名名额检查、成绩合法性校验、权限判断等，保证业务与持久化解耦。</a:t>
            </a:r>
          </a:p>
          <a:p>
            <a:pPr algn="l">
              <a:spcBef>
                <a:spcPts val="500"/>
              </a:spcBef>
              <a:defRPr sz="1300" b="0">
                <a:solidFill>
                  <a:srgbClr val="404040"/>
                </a:solidFill>
              </a:defRPr>
            </a:pPr>
            <a:r>
              <a:t>数据访问层（DAO/Mapper）：通过 MyBatis Mapper 接口与 XML 映射文件实现数据库 CRUD 操作，统一管理数据库交互。</a:t>
            </a:r>
          </a:p>
        </p:txBody>
      </p:sp>
      <p:sp>
        <p:nvSpPr>
          <p:cNvPr id="20" name="Rounded Rectangle 19"/>
          <p:cNvSpPr/>
          <p:nvPr/>
        </p:nvSpPr>
        <p:spPr>
          <a:xfrm>
            <a:off x="6126480" y="1371600"/>
            <a:ext cx="5669280" cy="685800"/>
          </a:xfrm>
          <a:prstGeom prst="roundRect">
            <a:avLst/>
          </a:prstGeom>
          <a:solidFill>
            <a:srgbClr val="BDD7EE"/>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1481328"/>
            <a:ext cx="5303520" cy="502920"/>
          </a:xfrm>
          <a:prstGeom prst="rect">
            <a:avLst/>
          </a:prstGeom>
          <a:noFill/>
        </p:spPr>
        <p:txBody>
          <a:bodyPr wrap="none">
            <a:spAutoFit/>
          </a:bodyPr>
          <a:lstStyle/>
          <a:p>
            <a:pPr algn="ctr">
              <a:spcBef>
                <a:spcPts val="0"/>
              </a:spcBef>
              <a:defRPr sz="1700" b="1">
                <a:solidFill>
                  <a:srgbClr val="1B3A6B"/>
                </a:solidFill>
              </a:defRPr>
            </a:pPr>
            <a:r>
              <a:t>浏览器 / JSP 前端</a:t>
            </a:r>
          </a:p>
        </p:txBody>
      </p:sp>
      <p:sp>
        <p:nvSpPr>
          <p:cNvPr id="22" name="TextBox 21"/>
          <p:cNvSpPr txBox="1"/>
          <p:nvPr/>
        </p:nvSpPr>
        <p:spPr>
          <a:xfrm>
            <a:off x="8595360" y="2057400"/>
            <a:ext cx="548640" cy="301752"/>
          </a:xfrm>
          <a:prstGeom prst="rect">
            <a:avLst/>
          </a:prstGeom>
          <a:noFill/>
        </p:spPr>
        <p:txBody>
          <a:bodyPr wrap="none">
            <a:spAutoFit/>
          </a:bodyPr>
          <a:lstStyle/>
          <a:p>
            <a:pPr algn="ctr">
              <a:spcBef>
                <a:spcPts val="0"/>
              </a:spcBef>
              <a:defRPr sz="1800" b="0">
                <a:solidFill>
                  <a:srgbClr val="2E75B6"/>
                </a:solidFill>
              </a:defRPr>
            </a:pPr>
            <a:r>
              <a:t>▼</a:t>
            </a:r>
          </a:p>
        </p:txBody>
      </p:sp>
      <p:sp>
        <p:nvSpPr>
          <p:cNvPr id="23" name="Rounded Rectangle 22"/>
          <p:cNvSpPr/>
          <p:nvPr/>
        </p:nvSpPr>
        <p:spPr>
          <a:xfrm>
            <a:off x="6126480" y="2359152"/>
            <a:ext cx="5669280" cy="685800"/>
          </a:xfrm>
          <a:prstGeom prst="roundRect">
            <a:avLst/>
          </a:prstGeom>
          <a:solidFill>
            <a:srgbClr val="BDD7EE"/>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0" y="2468880"/>
            <a:ext cx="5303520" cy="502920"/>
          </a:xfrm>
          <a:prstGeom prst="rect">
            <a:avLst/>
          </a:prstGeom>
          <a:noFill/>
        </p:spPr>
        <p:txBody>
          <a:bodyPr wrap="none">
            <a:spAutoFit/>
          </a:bodyPr>
          <a:lstStyle/>
          <a:p>
            <a:pPr algn="ctr">
              <a:spcBef>
                <a:spcPts val="0"/>
              </a:spcBef>
              <a:defRPr sz="1700" b="1">
                <a:solidFill>
                  <a:srgbClr val="1B3A6B"/>
                </a:solidFill>
              </a:defRPr>
            </a:pPr>
            <a:r>
              <a:t>Spring MVC  DispatcherServlet</a:t>
            </a:r>
          </a:p>
        </p:txBody>
      </p:sp>
      <p:sp>
        <p:nvSpPr>
          <p:cNvPr id="25" name="TextBox 24"/>
          <p:cNvSpPr txBox="1"/>
          <p:nvPr/>
        </p:nvSpPr>
        <p:spPr>
          <a:xfrm>
            <a:off x="8595360" y="3044952"/>
            <a:ext cx="548640" cy="301752"/>
          </a:xfrm>
          <a:prstGeom prst="rect">
            <a:avLst/>
          </a:prstGeom>
          <a:noFill/>
        </p:spPr>
        <p:txBody>
          <a:bodyPr wrap="none">
            <a:spAutoFit/>
          </a:bodyPr>
          <a:lstStyle/>
          <a:p>
            <a:pPr algn="ctr">
              <a:spcBef>
                <a:spcPts val="0"/>
              </a:spcBef>
              <a:defRPr sz="1800" b="0">
                <a:solidFill>
                  <a:srgbClr val="2E75B6"/>
                </a:solidFill>
              </a:defRPr>
            </a:pPr>
            <a:r>
              <a:t>▼</a:t>
            </a:r>
          </a:p>
        </p:txBody>
      </p:sp>
      <p:sp>
        <p:nvSpPr>
          <p:cNvPr id="26" name="Rounded Rectangle 25"/>
          <p:cNvSpPr/>
          <p:nvPr/>
        </p:nvSpPr>
        <p:spPr>
          <a:xfrm>
            <a:off x="6126480" y="3346704"/>
            <a:ext cx="5669280" cy="685800"/>
          </a:xfrm>
          <a:prstGeom prst="roundRect">
            <a:avLst/>
          </a:prstGeom>
          <a:solidFill>
            <a:srgbClr val="9DB8D9"/>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0" y="3456432"/>
            <a:ext cx="5303520" cy="502920"/>
          </a:xfrm>
          <a:prstGeom prst="rect">
            <a:avLst/>
          </a:prstGeom>
          <a:noFill/>
        </p:spPr>
        <p:txBody>
          <a:bodyPr wrap="none">
            <a:spAutoFit/>
          </a:bodyPr>
          <a:lstStyle/>
          <a:p>
            <a:pPr algn="ctr">
              <a:spcBef>
                <a:spcPts val="0"/>
              </a:spcBef>
              <a:defRPr sz="1700" b="1">
                <a:solidFill>
                  <a:srgbClr val="1B3A6B"/>
                </a:solidFill>
              </a:defRPr>
            </a:pPr>
            <a:r>
              <a:t>Controller  /  Service  /  DAO</a:t>
            </a:r>
          </a:p>
        </p:txBody>
      </p:sp>
      <p:sp>
        <p:nvSpPr>
          <p:cNvPr id="28" name="TextBox 27"/>
          <p:cNvSpPr txBox="1"/>
          <p:nvPr/>
        </p:nvSpPr>
        <p:spPr>
          <a:xfrm>
            <a:off x="8595360" y="4032504"/>
            <a:ext cx="548640" cy="301752"/>
          </a:xfrm>
          <a:prstGeom prst="rect">
            <a:avLst/>
          </a:prstGeom>
          <a:noFill/>
        </p:spPr>
        <p:txBody>
          <a:bodyPr wrap="none">
            <a:spAutoFit/>
          </a:bodyPr>
          <a:lstStyle/>
          <a:p>
            <a:pPr algn="ctr">
              <a:spcBef>
                <a:spcPts val="0"/>
              </a:spcBef>
              <a:defRPr sz="1800" b="0">
                <a:solidFill>
                  <a:srgbClr val="2E75B6"/>
                </a:solidFill>
              </a:defRPr>
            </a:pPr>
            <a:r>
              <a:t>▼</a:t>
            </a:r>
          </a:p>
        </p:txBody>
      </p:sp>
      <p:sp>
        <p:nvSpPr>
          <p:cNvPr id="29" name="Rounded Rectangle 28"/>
          <p:cNvSpPr/>
          <p:nvPr/>
        </p:nvSpPr>
        <p:spPr>
          <a:xfrm>
            <a:off x="6126480" y="4334256"/>
            <a:ext cx="5669280" cy="685800"/>
          </a:xfrm>
          <a:prstGeom prst="roundRect">
            <a:avLst/>
          </a:prstGeom>
          <a:solidFill>
            <a:srgbClr val="7A9EC8"/>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0" y="4443984"/>
            <a:ext cx="5303520" cy="502920"/>
          </a:xfrm>
          <a:prstGeom prst="rect">
            <a:avLst/>
          </a:prstGeom>
          <a:noFill/>
        </p:spPr>
        <p:txBody>
          <a:bodyPr wrap="none">
            <a:spAutoFit/>
          </a:bodyPr>
          <a:lstStyle/>
          <a:p>
            <a:pPr algn="ctr">
              <a:spcBef>
                <a:spcPts val="0"/>
              </a:spcBef>
              <a:defRPr sz="1700" b="1">
                <a:solidFill>
                  <a:srgbClr val="1B3A6B"/>
                </a:solidFill>
              </a:defRPr>
            </a:pPr>
            <a:r>
              <a:t>MyBatis  Mapper</a:t>
            </a:r>
          </a:p>
        </p:txBody>
      </p:sp>
      <p:sp>
        <p:nvSpPr>
          <p:cNvPr id="31" name="TextBox 30"/>
          <p:cNvSpPr txBox="1"/>
          <p:nvPr/>
        </p:nvSpPr>
        <p:spPr>
          <a:xfrm>
            <a:off x="8595360" y="5020056"/>
            <a:ext cx="548640" cy="301752"/>
          </a:xfrm>
          <a:prstGeom prst="rect">
            <a:avLst/>
          </a:prstGeom>
          <a:noFill/>
        </p:spPr>
        <p:txBody>
          <a:bodyPr wrap="none">
            <a:spAutoFit/>
          </a:bodyPr>
          <a:lstStyle/>
          <a:p>
            <a:pPr algn="ctr">
              <a:spcBef>
                <a:spcPts val="0"/>
              </a:spcBef>
              <a:defRPr sz="1800" b="0">
                <a:solidFill>
                  <a:srgbClr val="2E75B6"/>
                </a:solidFill>
              </a:defRPr>
            </a:pPr>
            <a:r>
              <a:t>▼</a:t>
            </a:r>
          </a:p>
        </p:txBody>
      </p:sp>
      <p:sp>
        <p:nvSpPr>
          <p:cNvPr id="32" name="Rounded Rectangle 31"/>
          <p:cNvSpPr/>
          <p:nvPr/>
        </p:nvSpPr>
        <p:spPr>
          <a:xfrm>
            <a:off x="6126480" y="5321808"/>
            <a:ext cx="5669280" cy="685800"/>
          </a:xfrm>
          <a:prstGeom prst="roundRect">
            <a:avLst/>
          </a:prstGeom>
          <a:solidFill>
            <a:srgbClr val="1B3A6B"/>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09360" y="5431536"/>
            <a:ext cx="5303520" cy="502920"/>
          </a:xfrm>
          <a:prstGeom prst="rect">
            <a:avLst/>
          </a:prstGeom>
          <a:noFill/>
        </p:spPr>
        <p:txBody>
          <a:bodyPr wrap="none">
            <a:spAutoFit/>
          </a:bodyPr>
          <a:lstStyle/>
          <a:p>
            <a:pPr algn="ctr">
              <a:spcBef>
                <a:spcPts val="0"/>
              </a:spcBef>
              <a:defRPr sz="1700" b="1">
                <a:solidFill>
                  <a:srgbClr val="FFFFFF"/>
                </a:solidFill>
              </a:defRPr>
            </a:pPr>
            <a:r>
              <a:t>MySQL  Database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9144000" cy="420624"/>
          </a:xfrm>
          <a:prstGeom prst="rect">
            <a:avLst/>
          </a:prstGeom>
          <a:noFill/>
        </p:spPr>
        <p:txBody>
          <a:bodyPr wrap="none">
            <a:spAutoFit/>
          </a:bodyPr>
          <a:lstStyle/>
          <a:p>
            <a:pPr algn="l">
              <a:spcBef>
                <a:spcPts val="0"/>
              </a:spcBef>
              <a:defRPr sz="2000" b="1">
                <a:solidFill>
                  <a:srgbClr val="FFFFFF"/>
                </a:solidFill>
              </a:defRPr>
            </a:pPr>
            <a:r>
              <a:t>数据库设计</a:t>
            </a:r>
          </a:p>
        </p:txBody>
      </p:sp>
      <p:sp>
        <p:nvSpPr>
          <p:cNvPr id="4" name="Rectangle 3"/>
          <p:cNvSpPr/>
          <p:nvPr/>
        </p:nvSpPr>
        <p:spPr>
          <a:xfrm>
            <a:off x="10515600" y="0"/>
            <a:ext cx="1676095" cy="5029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0" y="36576"/>
            <a:ext cx="1676095" cy="420624"/>
          </a:xfrm>
          <a:prstGeom prst="rect">
            <a:avLst/>
          </a:prstGeom>
          <a:noFill/>
        </p:spPr>
        <p:txBody>
          <a:bodyPr wrap="none">
            <a:spAutoFit/>
          </a:bodyPr>
          <a:lstStyle/>
          <a:p>
            <a:pPr algn="ctr">
              <a:spcBef>
                <a:spcPts val="0"/>
              </a:spcBef>
              <a:defRPr sz="1400" b="0">
                <a:solidFill>
                  <a:srgbClr val="FFFFFF"/>
                </a:solidFill>
              </a:defRPr>
            </a:pPr>
            <a:r>
              <a:t>第 03 部分</a:t>
            </a:r>
          </a:p>
        </p:txBody>
      </p:sp>
      <p:sp>
        <p:nvSpPr>
          <p:cNvPr id="6" name="Rectangle 5"/>
          <p:cNvSpPr/>
          <p:nvPr/>
        </p:nvSpPr>
        <p:spPr>
          <a:xfrm>
            <a:off x="0" y="6583680"/>
            <a:ext cx="12191695" cy="2743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01968"/>
            <a:ext cx="9144000" cy="237744"/>
          </a:xfrm>
          <a:prstGeom prst="rect">
            <a:avLst/>
          </a:prstGeom>
          <a:noFill/>
        </p:spPr>
        <p:txBody>
          <a:bodyPr wrap="none">
            <a:spAutoFit/>
          </a:bodyPr>
          <a:lstStyle/>
          <a:p>
            <a:pPr algn="l">
              <a:spcBef>
                <a:spcPts val="0"/>
              </a:spcBef>
              <a:defRPr sz="1100" b="0">
                <a:solidFill>
                  <a:srgbClr val="BDD7EE"/>
                </a:solidFill>
              </a:defRPr>
            </a:pPr>
            <a:r>
              <a:t>青少年活动中心管理平台 · 毕业设计答辩</a:t>
            </a:r>
          </a:p>
        </p:txBody>
      </p:sp>
      <p:sp>
        <p:nvSpPr>
          <p:cNvPr id="8" name="TextBox 7"/>
          <p:cNvSpPr txBox="1"/>
          <p:nvPr/>
        </p:nvSpPr>
        <p:spPr>
          <a:xfrm>
            <a:off x="11064240" y="6601968"/>
            <a:ext cx="914400" cy="237744"/>
          </a:xfrm>
          <a:prstGeom prst="rect">
            <a:avLst/>
          </a:prstGeom>
          <a:noFill/>
        </p:spPr>
        <p:txBody>
          <a:bodyPr wrap="none">
            <a:spAutoFit/>
          </a:bodyPr>
          <a:lstStyle/>
          <a:p>
            <a:pPr algn="r">
              <a:spcBef>
                <a:spcPts val="0"/>
              </a:spcBef>
              <a:defRPr sz="1100" b="0">
                <a:solidFill>
                  <a:srgbClr val="BDD7EE"/>
                </a:solidFill>
              </a:defRPr>
            </a:pPr>
            <a:r>
              <a:t>6 / 15</a:t>
            </a:r>
          </a:p>
        </p:txBody>
      </p:sp>
      <p:sp>
        <p:nvSpPr>
          <p:cNvPr id="9" name="Rectangle 8"/>
          <p:cNvSpPr/>
          <p:nvPr/>
        </p:nvSpPr>
        <p:spPr>
          <a:xfrm>
            <a:off x="0" y="502920"/>
            <a:ext cx="12191695" cy="6080760"/>
          </a:xfrm>
          <a:prstGeom prst="rect">
            <a:avLst/>
          </a:prstGeom>
          <a:solidFill>
            <a:srgbClr val="F2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594360"/>
            <a:ext cx="11430000" cy="731520"/>
          </a:xfrm>
          <a:prstGeom prst="rect">
            <a:avLst/>
          </a:prstGeom>
          <a:noFill/>
        </p:spPr>
        <p:txBody>
          <a:bodyPr wrap="none">
            <a:spAutoFit/>
          </a:bodyPr>
          <a:lstStyle/>
          <a:p>
            <a:pPr algn="l">
              <a:spcBef>
                <a:spcPts val="0"/>
              </a:spcBef>
              <a:defRPr sz="3000" b="1">
                <a:solidFill>
                  <a:srgbClr val="1B3A6B"/>
                </a:solidFill>
              </a:defRPr>
            </a:pPr>
            <a:r>
              <a:t>03  数据库设计</a:t>
            </a:r>
          </a:p>
        </p:txBody>
      </p:sp>
      <p:sp>
        <p:nvSpPr>
          <p:cNvPr id="11" name="Rectangle 10"/>
          <p:cNvSpPr/>
          <p:nvPr/>
        </p:nvSpPr>
        <p:spPr>
          <a:xfrm>
            <a:off x="365760" y="1261872"/>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1371600"/>
            <a:ext cx="5577840" cy="484632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371600"/>
            <a:ext cx="5577840"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 y="1408176"/>
            <a:ext cx="5358383" cy="329184"/>
          </a:xfrm>
          <a:prstGeom prst="rect">
            <a:avLst/>
          </a:prstGeom>
          <a:noFill/>
        </p:spPr>
        <p:txBody>
          <a:bodyPr wrap="none">
            <a:spAutoFit/>
          </a:bodyPr>
          <a:lstStyle/>
          <a:p>
            <a:pPr algn="l">
              <a:spcBef>
                <a:spcPts val="0"/>
              </a:spcBef>
              <a:defRPr sz="1700" b="1">
                <a:solidFill>
                  <a:srgbClr val="FFFFFF"/>
                </a:solidFill>
              </a:defRPr>
            </a:pPr>
            <a:r>
              <a:t>核心数据表说明</a:t>
            </a:r>
          </a:p>
        </p:txBody>
      </p:sp>
      <p:sp>
        <p:nvSpPr>
          <p:cNvPr id="15" name="TextBox 14"/>
          <p:cNvSpPr txBox="1"/>
          <p:nvPr/>
        </p:nvSpPr>
        <p:spPr>
          <a:xfrm>
            <a:off x="594360" y="1828800"/>
            <a:ext cx="5257800" cy="4297680"/>
          </a:xfrm>
          <a:prstGeom prst="rect">
            <a:avLst/>
          </a:prstGeom>
          <a:noFill/>
        </p:spPr>
        <p:txBody>
          <a:bodyPr wrap="none">
            <a:spAutoFit/>
          </a:bodyPr>
          <a:lstStyle/>
          <a:p>
            <a:pPr algn="l">
              <a:spcBef>
                <a:spcPts val="200"/>
              </a:spcBef>
              <a:defRPr sz="1300" b="0">
                <a:solidFill>
                  <a:srgbClr val="404040"/>
                </a:solidFill>
              </a:defRPr>
            </a:pPr>
            <a:r>
              <a:t>用户表（sys_user）：统一存储系统所有用户信息，包含账号、密码（加密存储）、角色标识及状态字段，是权限控制的基础。</a:t>
            </a:r>
          </a:p>
          <a:p>
            <a:pPr algn="l">
              <a:spcBef>
                <a:spcPts val="500"/>
              </a:spcBef>
              <a:defRPr sz="1300" b="0">
                <a:solidFill>
                  <a:srgbClr val="404040"/>
                </a:solidFill>
              </a:defRPr>
            </a:pPr>
            <a:r>
              <a:t>课程表（course）：记录课程名称、所属教师、课程类别、开班时段、最大报名人数及课程状态（招募中/进行中/已结束）。</a:t>
            </a:r>
          </a:p>
          <a:p>
            <a:pPr algn="l">
              <a:spcBef>
                <a:spcPts val="500"/>
              </a:spcBef>
              <a:defRPr sz="1300" b="0">
                <a:solidFill>
                  <a:srgbClr val="404040"/>
                </a:solidFill>
              </a:defRPr>
            </a:pPr>
            <a:r>
              <a:t>选课关联表（scourse）：维护学生与课程的多对多关系，同时记录报名时间与审批状态，是成绩与考勤数据的关联锚点。</a:t>
            </a:r>
          </a:p>
          <a:p>
            <a:pPr algn="l">
              <a:spcBef>
                <a:spcPts val="500"/>
              </a:spcBef>
              <a:defRPr sz="1300" b="0">
                <a:solidFill>
                  <a:srgbClr val="404040"/>
                </a:solidFill>
              </a:defRPr>
            </a:pPr>
            <a:r>
              <a:t>成绩表（grade）：以选课记录为外键，存储各课程中学生的量化成绩，支持教师多次更新与历史查询。</a:t>
            </a:r>
          </a:p>
          <a:p>
            <a:pPr algn="l">
              <a:spcBef>
                <a:spcPts val="500"/>
              </a:spcBef>
              <a:defRPr sz="1300" b="0">
                <a:solidFill>
                  <a:srgbClr val="404040"/>
                </a:solidFill>
              </a:defRPr>
            </a:pPr>
            <a:r>
              <a:t>考勤表（attendance）：以课次为粒度，逐条记录学生出勤状态（出勤/缺勤/请假），并关联到具体课程与日期。</a:t>
            </a:r>
          </a:p>
        </p:txBody>
      </p:sp>
      <p:sp>
        <p:nvSpPr>
          <p:cNvPr id="16" name="Rounded Rectangle 15"/>
          <p:cNvSpPr/>
          <p:nvPr/>
        </p:nvSpPr>
        <p:spPr>
          <a:xfrm>
            <a:off x="6263640" y="1371600"/>
            <a:ext cx="5577840" cy="484632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371600"/>
            <a:ext cx="5577840"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1408176"/>
            <a:ext cx="5358383" cy="329184"/>
          </a:xfrm>
          <a:prstGeom prst="rect">
            <a:avLst/>
          </a:prstGeom>
          <a:noFill/>
        </p:spPr>
        <p:txBody>
          <a:bodyPr wrap="none">
            <a:spAutoFit/>
          </a:bodyPr>
          <a:lstStyle/>
          <a:p>
            <a:pPr algn="l">
              <a:spcBef>
                <a:spcPts val="0"/>
              </a:spcBef>
              <a:defRPr sz="1700" b="1">
                <a:solidFill>
                  <a:srgbClr val="FFFFFF"/>
                </a:solidFill>
              </a:defRPr>
            </a:pPr>
            <a:r>
              <a:t>表关系与设计约束</a:t>
            </a:r>
          </a:p>
        </p:txBody>
      </p:sp>
      <p:sp>
        <p:nvSpPr>
          <p:cNvPr id="19" name="TextBox 18"/>
          <p:cNvSpPr txBox="1"/>
          <p:nvPr/>
        </p:nvSpPr>
        <p:spPr>
          <a:xfrm>
            <a:off x="6446520" y="1828800"/>
            <a:ext cx="5257800" cy="4297680"/>
          </a:xfrm>
          <a:prstGeom prst="rect">
            <a:avLst/>
          </a:prstGeom>
          <a:noFill/>
        </p:spPr>
        <p:txBody>
          <a:bodyPr wrap="none">
            <a:spAutoFit/>
          </a:bodyPr>
          <a:lstStyle/>
          <a:p>
            <a:pPr algn="l">
              <a:spcBef>
                <a:spcPts val="200"/>
              </a:spcBef>
              <a:defRPr sz="1300" b="0">
                <a:solidFill>
                  <a:srgbClr val="404040"/>
                </a:solidFill>
              </a:defRPr>
            </a:pPr>
            <a:r>
              <a:t>角色与权限：sys_user 中通过 role 字段区分学生、教师与管理员，系统在 Controller 层通过 Session 中的角色字段进行细粒度路由控制。</a:t>
            </a:r>
          </a:p>
          <a:p>
            <a:pPr algn="l">
              <a:spcBef>
                <a:spcPts val="500"/>
              </a:spcBef>
              <a:defRPr sz="1300" b="0">
                <a:solidFill>
                  <a:srgbClr val="404040"/>
                </a:solidFill>
              </a:defRPr>
            </a:pPr>
            <a:r>
              <a:t>多对多关联：学生与课程之间通过 scourse 中间表建立多对多关系，避免数据冗余，同时支持对报名状态的精确管控。</a:t>
            </a:r>
          </a:p>
          <a:p>
            <a:pPr algn="l">
              <a:spcBef>
                <a:spcPts val="500"/>
              </a:spcBef>
              <a:defRPr sz="1300" b="0">
                <a:solidFill>
                  <a:srgbClr val="404040"/>
                </a:solidFill>
              </a:defRPr>
            </a:pPr>
            <a:r>
              <a:t>级联完整性：成绩与考勤均以 scourse_id 作为外键，保证在删除选课记录时可以通过级联约束同步清理关联数据。</a:t>
            </a:r>
          </a:p>
          <a:p>
            <a:pPr algn="l">
              <a:spcBef>
                <a:spcPts val="500"/>
              </a:spcBef>
              <a:defRPr sz="1300" b="0">
                <a:solidFill>
                  <a:srgbClr val="404040"/>
                </a:solidFill>
              </a:defRPr>
            </a:pPr>
            <a:r>
              <a:t>索引设计：在 scourse、grade、attendance 的关键外键字段上建立索引，保障大量数据场景下的查询性能。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9144000" cy="420624"/>
          </a:xfrm>
          <a:prstGeom prst="rect">
            <a:avLst/>
          </a:prstGeom>
          <a:noFill/>
        </p:spPr>
        <p:txBody>
          <a:bodyPr wrap="none">
            <a:spAutoFit/>
          </a:bodyPr>
          <a:lstStyle/>
          <a:p>
            <a:pPr algn="l">
              <a:spcBef>
                <a:spcPts val="0"/>
              </a:spcBef>
              <a:defRPr sz="2000" b="1">
                <a:solidFill>
                  <a:srgbClr val="FFFFFF"/>
                </a:solidFill>
              </a:defRPr>
            </a:pPr>
            <a:r>
              <a:t>核心功能实现</a:t>
            </a:r>
          </a:p>
        </p:txBody>
      </p:sp>
      <p:sp>
        <p:nvSpPr>
          <p:cNvPr id="4" name="Rectangle 3"/>
          <p:cNvSpPr/>
          <p:nvPr/>
        </p:nvSpPr>
        <p:spPr>
          <a:xfrm>
            <a:off x="10515600" y="0"/>
            <a:ext cx="1676095" cy="5029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0" y="36576"/>
            <a:ext cx="1676095" cy="420624"/>
          </a:xfrm>
          <a:prstGeom prst="rect">
            <a:avLst/>
          </a:prstGeom>
          <a:noFill/>
        </p:spPr>
        <p:txBody>
          <a:bodyPr wrap="none">
            <a:spAutoFit/>
          </a:bodyPr>
          <a:lstStyle/>
          <a:p>
            <a:pPr algn="ctr">
              <a:spcBef>
                <a:spcPts val="0"/>
              </a:spcBef>
              <a:defRPr sz="1400" b="0">
                <a:solidFill>
                  <a:srgbClr val="FFFFFF"/>
                </a:solidFill>
              </a:defRPr>
            </a:pPr>
            <a:r>
              <a:t>第 04 部分</a:t>
            </a:r>
          </a:p>
        </p:txBody>
      </p:sp>
      <p:sp>
        <p:nvSpPr>
          <p:cNvPr id="6" name="Rectangle 5"/>
          <p:cNvSpPr/>
          <p:nvPr/>
        </p:nvSpPr>
        <p:spPr>
          <a:xfrm>
            <a:off x="0" y="6583680"/>
            <a:ext cx="12191695" cy="2743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01968"/>
            <a:ext cx="9144000" cy="237744"/>
          </a:xfrm>
          <a:prstGeom prst="rect">
            <a:avLst/>
          </a:prstGeom>
          <a:noFill/>
        </p:spPr>
        <p:txBody>
          <a:bodyPr wrap="none">
            <a:spAutoFit/>
          </a:bodyPr>
          <a:lstStyle/>
          <a:p>
            <a:pPr algn="l">
              <a:spcBef>
                <a:spcPts val="0"/>
              </a:spcBef>
              <a:defRPr sz="1100" b="0">
                <a:solidFill>
                  <a:srgbClr val="BDD7EE"/>
                </a:solidFill>
              </a:defRPr>
            </a:pPr>
            <a:r>
              <a:t>青少年活动中心管理平台 · 毕业设计答辩</a:t>
            </a:r>
          </a:p>
        </p:txBody>
      </p:sp>
      <p:sp>
        <p:nvSpPr>
          <p:cNvPr id="8" name="TextBox 7"/>
          <p:cNvSpPr txBox="1"/>
          <p:nvPr/>
        </p:nvSpPr>
        <p:spPr>
          <a:xfrm>
            <a:off x="11064240" y="6601968"/>
            <a:ext cx="914400" cy="237744"/>
          </a:xfrm>
          <a:prstGeom prst="rect">
            <a:avLst/>
          </a:prstGeom>
          <a:noFill/>
        </p:spPr>
        <p:txBody>
          <a:bodyPr wrap="none">
            <a:spAutoFit/>
          </a:bodyPr>
          <a:lstStyle/>
          <a:p>
            <a:pPr algn="r">
              <a:spcBef>
                <a:spcPts val="0"/>
              </a:spcBef>
              <a:defRPr sz="1100" b="0">
                <a:solidFill>
                  <a:srgbClr val="BDD7EE"/>
                </a:solidFill>
              </a:defRPr>
            </a:pPr>
            <a:r>
              <a:t>7 / 15</a:t>
            </a:r>
          </a:p>
        </p:txBody>
      </p:sp>
      <p:sp>
        <p:nvSpPr>
          <p:cNvPr id="9" name="Rectangle 8"/>
          <p:cNvSpPr/>
          <p:nvPr/>
        </p:nvSpPr>
        <p:spPr>
          <a:xfrm>
            <a:off x="0" y="502920"/>
            <a:ext cx="12191695" cy="6080760"/>
          </a:xfrm>
          <a:prstGeom prst="rect">
            <a:avLst/>
          </a:prstGeom>
          <a:solidFill>
            <a:srgbClr val="F2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594360"/>
            <a:ext cx="11430000" cy="731520"/>
          </a:xfrm>
          <a:prstGeom prst="rect">
            <a:avLst/>
          </a:prstGeom>
          <a:noFill/>
        </p:spPr>
        <p:txBody>
          <a:bodyPr wrap="none">
            <a:spAutoFit/>
          </a:bodyPr>
          <a:lstStyle/>
          <a:p>
            <a:pPr algn="l">
              <a:spcBef>
                <a:spcPts val="0"/>
              </a:spcBef>
              <a:defRPr sz="3000" b="1">
                <a:solidFill>
                  <a:srgbClr val="1B3A6B"/>
                </a:solidFill>
              </a:defRPr>
            </a:pPr>
            <a:r>
              <a:t>04  功能实现 — 统一登录与权限分发</a:t>
            </a:r>
          </a:p>
        </p:txBody>
      </p:sp>
      <p:sp>
        <p:nvSpPr>
          <p:cNvPr id="11" name="Rectangle 10"/>
          <p:cNvSpPr/>
          <p:nvPr/>
        </p:nvSpPr>
        <p:spPr>
          <a:xfrm>
            <a:off x="365760" y="1261872"/>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1371600"/>
            <a:ext cx="7315200" cy="4846320"/>
          </a:xfrm>
          <a:prstGeom prst="roundRect">
            <a:avLst/>
          </a:prstGeom>
          <a:solidFill>
            <a:srgbClr val="E2ECF8"/>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200400"/>
            <a:ext cx="7132320" cy="548640"/>
          </a:xfrm>
          <a:prstGeom prst="rect">
            <a:avLst/>
          </a:prstGeom>
          <a:noFill/>
        </p:spPr>
        <p:txBody>
          <a:bodyPr wrap="none">
            <a:spAutoFit/>
          </a:bodyPr>
          <a:lstStyle/>
          <a:p>
            <a:pPr algn="ctr">
              <a:spcBef>
                <a:spcPts val="0"/>
              </a:spcBef>
              <a:defRPr sz="1800" b="0">
                <a:solidFill>
                  <a:srgbClr val="2E75B6"/>
                </a:solidFill>
              </a:defRPr>
            </a:pPr>
            <a:r>
              <a:t>[ 系统登录页面截图  —  待嵌入 ]</a:t>
            </a:r>
          </a:p>
        </p:txBody>
      </p:sp>
      <p:sp>
        <p:nvSpPr>
          <p:cNvPr id="14" name="Rounded Rectangle 13"/>
          <p:cNvSpPr/>
          <p:nvPr/>
        </p:nvSpPr>
        <p:spPr>
          <a:xfrm>
            <a:off x="8001000" y="1371600"/>
            <a:ext cx="3749039" cy="484632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01000" y="1371600"/>
            <a:ext cx="3749039"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10727" y="1408176"/>
            <a:ext cx="3529583" cy="329184"/>
          </a:xfrm>
          <a:prstGeom prst="rect">
            <a:avLst/>
          </a:prstGeom>
          <a:noFill/>
        </p:spPr>
        <p:txBody>
          <a:bodyPr wrap="none">
            <a:spAutoFit/>
          </a:bodyPr>
          <a:lstStyle/>
          <a:p>
            <a:pPr algn="l">
              <a:spcBef>
                <a:spcPts val="0"/>
              </a:spcBef>
              <a:defRPr sz="1700" b="1">
                <a:solidFill>
                  <a:srgbClr val="FFFFFF"/>
                </a:solidFill>
              </a:defRPr>
            </a:pPr>
            <a:r>
              <a:t>功能说明</a:t>
            </a:r>
          </a:p>
        </p:txBody>
      </p:sp>
      <p:sp>
        <p:nvSpPr>
          <p:cNvPr id="17" name="TextBox 16"/>
          <p:cNvSpPr txBox="1"/>
          <p:nvPr/>
        </p:nvSpPr>
        <p:spPr>
          <a:xfrm>
            <a:off x="8183879" y="1828800"/>
            <a:ext cx="3428999" cy="4297680"/>
          </a:xfrm>
          <a:prstGeom prst="rect">
            <a:avLst/>
          </a:prstGeom>
          <a:noFill/>
        </p:spPr>
        <p:txBody>
          <a:bodyPr wrap="none">
            <a:spAutoFit/>
          </a:bodyPr>
          <a:lstStyle/>
          <a:p>
            <a:pPr algn="l">
              <a:spcBef>
                <a:spcPts val="200"/>
              </a:spcBef>
              <a:defRPr sz="1300" b="0">
                <a:solidFill>
                  <a:srgbClr val="404040"/>
                </a:solidFill>
              </a:defRPr>
            </a:pPr>
            <a:r>
              <a:t>统一入口：系统提供唯一的登录页面，所有角色（学生/教师/管理员）均通过该页面输入账号与密码进行身份认证，后端依据角色字段自动跳转至对应功能主页。</a:t>
            </a:r>
          </a:p>
          <a:p>
            <a:pPr algn="l">
              <a:spcBef>
                <a:spcPts val="500"/>
              </a:spcBef>
              <a:defRPr sz="1300" b="0">
                <a:solidFill>
                  <a:srgbClr val="404040"/>
                </a:solidFill>
              </a:defRPr>
            </a:pPr>
            <a:r>
              <a:t>安全机制：密码采用 MD5 加盐哈希方式存储，登录失败次数超限后触发账号锁定策略，并通过 HttpSession 管理认证状态，防止未授权访问。</a:t>
            </a:r>
          </a:p>
          <a:p>
            <a:pPr algn="l">
              <a:spcBef>
                <a:spcPts val="500"/>
              </a:spcBef>
              <a:defRPr sz="1300" b="0">
                <a:solidFill>
                  <a:srgbClr val="404040"/>
                </a:solidFill>
              </a:defRPr>
            </a:pPr>
            <a:r>
              <a:t>角色路由：登录成功后，Controller 依据 Session 中的 role 字段，将请求分发至学生端、教师端或管理员端，实现功能模块的严格隔离。</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9144000" cy="420624"/>
          </a:xfrm>
          <a:prstGeom prst="rect">
            <a:avLst/>
          </a:prstGeom>
          <a:noFill/>
        </p:spPr>
        <p:txBody>
          <a:bodyPr wrap="none">
            <a:spAutoFit/>
          </a:bodyPr>
          <a:lstStyle/>
          <a:p>
            <a:pPr algn="l">
              <a:spcBef>
                <a:spcPts val="0"/>
              </a:spcBef>
              <a:defRPr sz="2000" b="1">
                <a:solidFill>
                  <a:srgbClr val="FFFFFF"/>
                </a:solidFill>
              </a:defRPr>
            </a:pPr>
            <a:r>
              <a:t>核心功能实现</a:t>
            </a:r>
          </a:p>
        </p:txBody>
      </p:sp>
      <p:sp>
        <p:nvSpPr>
          <p:cNvPr id="4" name="Rectangle 3"/>
          <p:cNvSpPr/>
          <p:nvPr/>
        </p:nvSpPr>
        <p:spPr>
          <a:xfrm>
            <a:off x="10515600" y="0"/>
            <a:ext cx="1676095" cy="5029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0" y="36576"/>
            <a:ext cx="1676095" cy="420624"/>
          </a:xfrm>
          <a:prstGeom prst="rect">
            <a:avLst/>
          </a:prstGeom>
          <a:noFill/>
        </p:spPr>
        <p:txBody>
          <a:bodyPr wrap="none">
            <a:spAutoFit/>
          </a:bodyPr>
          <a:lstStyle/>
          <a:p>
            <a:pPr algn="ctr">
              <a:spcBef>
                <a:spcPts val="0"/>
              </a:spcBef>
              <a:defRPr sz="1400" b="0">
                <a:solidFill>
                  <a:srgbClr val="FFFFFF"/>
                </a:solidFill>
              </a:defRPr>
            </a:pPr>
            <a:r>
              <a:t>第 04 部分</a:t>
            </a:r>
          </a:p>
        </p:txBody>
      </p:sp>
      <p:sp>
        <p:nvSpPr>
          <p:cNvPr id="6" name="Rectangle 5"/>
          <p:cNvSpPr/>
          <p:nvPr/>
        </p:nvSpPr>
        <p:spPr>
          <a:xfrm>
            <a:off x="0" y="6583680"/>
            <a:ext cx="12191695" cy="2743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01968"/>
            <a:ext cx="9144000" cy="237744"/>
          </a:xfrm>
          <a:prstGeom prst="rect">
            <a:avLst/>
          </a:prstGeom>
          <a:noFill/>
        </p:spPr>
        <p:txBody>
          <a:bodyPr wrap="none">
            <a:spAutoFit/>
          </a:bodyPr>
          <a:lstStyle/>
          <a:p>
            <a:pPr algn="l">
              <a:spcBef>
                <a:spcPts val="0"/>
              </a:spcBef>
              <a:defRPr sz="1100" b="0">
                <a:solidFill>
                  <a:srgbClr val="BDD7EE"/>
                </a:solidFill>
              </a:defRPr>
            </a:pPr>
            <a:r>
              <a:t>青少年活动中心管理平台 · 毕业设计答辩</a:t>
            </a:r>
          </a:p>
        </p:txBody>
      </p:sp>
      <p:sp>
        <p:nvSpPr>
          <p:cNvPr id="8" name="TextBox 7"/>
          <p:cNvSpPr txBox="1"/>
          <p:nvPr/>
        </p:nvSpPr>
        <p:spPr>
          <a:xfrm>
            <a:off x="11064240" y="6601968"/>
            <a:ext cx="914400" cy="237744"/>
          </a:xfrm>
          <a:prstGeom prst="rect">
            <a:avLst/>
          </a:prstGeom>
          <a:noFill/>
        </p:spPr>
        <p:txBody>
          <a:bodyPr wrap="none">
            <a:spAutoFit/>
          </a:bodyPr>
          <a:lstStyle/>
          <a:p>
            <a:pPr algn="r">
              <a:spcBef>
                <a:spcPts val="0"/>
              </a:spcBef>
              <a:defRPr sz="1100" b="0">
                <a:solidFill>
                  <a:srgbClr val="BDD7EE"/>
                </a:solidFill>
              </a:defRPr>
            </a:pPr>
            <a:r>
              <a:t>8 / 15</a:t>
            </a:r>
          </a:p>
        </p:txBody>
      </p:sp>
      <p:sp>
        <p:nvSpPr>
          <p:cNvPr id="9" name="Rectangle 8"/>
          <p:cNvSpPr/>
          <p:nvPr/>
        </p:nvSpPr>
        <p:spPr>
          <a:xfrm>
            <a:off x="0" y="502920"/>
            <a:ext cx="12191695" cy="6080760"/>
          </a:xfrm>
          <a:prstGeom prst="rect">
            <a:avLst/>
          </a:prstGeom>
          <a:solidFill>
            <a:srgbClr val="F2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594360"/>
            <a:ext cx="11430000" cy="731520"/>
          </a:xfrm>
          <a:prstGeom prst="rect">
            <a:avLst/>
          </a:prstGeom>
          <a:noFill/>
        </p:spPr>
        <p:txBody>
          <a:bodyPr wrap="none">
            <a:spAutoFit/>
          </a:bodyPr>
          <a:lstStyle/>
          <a:p>
            <a:pPr algn="l">
              <a:spcBef>
                <a:spcPts val="0"/>
              </a:spcBef>
              <a:defRPr sz="3000" b="1">
                <a:solidFill>
                  <a:srgbClr val="1B3A6B"/>
                </a:solidFill>
              </a:defRPr>
            </a:pPr>
            <a:r>
              <a:t>04  功能实现 — 教师端：课程管理</a:t>
            </a:r>
          </a:p>
        </p:txBody>
      </p:sp>
      <p:sp>
        <p:nvSpPr>
          <p:cNvPr id="11" name="Rectangle 10"/>
          <p:cNvSpPr/>
          <p:nvPr/>
        </p:nvSpPr>
        <p:spPr>
          <a:xfrm>
            <a:off x="365760" y="1261872"/>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1371600"/>
            <a:ext cx="11384280" cy="4846320"/>
          </a:xfrm>
          <a:prstGeom prst="roundRect">
            <a:avLst/>
          </a:prstGeom>
          <a:solidFill>
            <a:srgbClr val="E8F0FE"/>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429000"/>
            <a:ext cx="11201400" cy="731520"/>
          </a:xfrm>
          <a:prstGeom prst="rect">
            <a:avLst/>
          </a:prstGeom>
          <a:noFill/>
        </p:spPr>
        <p:txBody>
          <a:bodyPr wrap="none">
            <a:spAutoFit/>
          </a:bodyPr>
          <a:lstStyle/>
          <a:p>
            <a:pPr algn="ctr">
              <a:spcBef>
                <a:spcPts val="0"/>
              </a:spcBef>
              <a:defRPr sz="1400" b="0">
                <a:solidFill>
                  <a:srgbClr val="2E75B6"/>
                </a:solidFill>
              </a:defRPr>
            </a:pPr>
            <a:r>
              <a:t>[截图待嵌入]  teacher_manage</a:t>
            </a:r>
          </a:p>
          <a:p>
            <a:pPr algn="ctr">
              <a:spcBef>
                <a:spcPts val="400"/>
              </a:spcBef>
              <a:defRPr sz="900" b="0">
                <a:solidFill>
                  <a:srgbClr val="404040"/>
                </a:solidFill>
              </a:defRPr>
            </a:pPr>
            <a:r>
              <a:t>https://github.com/user-attachments/assets/d2089224-643f-491f-a304-a48b0c04a6c5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9144000" cy="420624"/>
          </a:xfrm>
          <a:prstGeom prst="rect">
            <a:avLst/>
          </a:prstGeom>
          <a:noFill/>
        </p:spPr>
        <p:txBody>
          <a:bodyPr wrap="none">
            <a:spAutoFit/>
          </a:bodyPr>
          <a:lstStyle/>
          <a:p>
            <a:pPr algn="l">
              <a:spcBef>
                <a:spcPts val="0"/>
              </a:spcBef>
              <a:defRPr sz="2000" b="1">
                <a:solidFill>
                  <a:srgbClr val="FFFFFF"/>
                </a:solidFill>
              </a:defRPr>
            </a:pPr>
            <a:r>
              <a:t>核心功能实现</a:t>
            </a:r>
          </a:p>
        </p:txBody>
      </p:sp>
      <p:sp>
        <p:nvSpPr>
          <p:cNvPr id="4" name="Rectangle 3"/>
          <p:cNvSpPr/>
          <p:nvPr/>
        </p:nvSpPr>
        <p:spPr>
          <a:xfrm>
            <a:off x="10515600" y="0"/>
            <a:ext cx="1676095" cy="5029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0" y="36576"/>
            <a:ext cx="1676095" cy="420624"/>
          </a:xfrm>
          <a:prstGeom prst="rect">
            <a:avLst/>
          </a:prstGeom>
          <a:noFill/>
        </p:spPr>
        <p:txBody>
          <a:bodyPr wrap="none">
            <a:spAutoFit/>
          </a:bodyPr>
          <a:lstStyle/>
          <a:p>
            <a:pPr algn="ctr">
              <a:spcBef>
                <a:spcPts val="0"/>
              </a:spcBef>
              <a:defRPr sz="1400" b="0">
                <a:solidFill>
                  <a:srgbClr val="FFFFFF"/>
                </a:solidFill>
              </a:defRPr>
            </a:pPr>
            <a:r>
              <a:t>第 04 部分</a:t>
            </a:r>
          </a:p>
        </p:txBody>
      </p:sp>
      <p:sp>
        <p:nvSpPr>
          <p:cNvPr id="6" name="Rectangle 5"/>
          <p:cNvSpPr/>
          <p:nvPr/>
        </p:nvSpPr>
        <p:spPr>
          <a:xfrm>
            <a:off x="0" y="6583680"/>
            <a:ext cx="12191695" cy="2743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01968"/>
            <a:ext cx="9144000" cy="237744"/>
          </a:xfrm>
          <a:prstGeom prst="rect">
            <a:avLst/>
          </a:prstGeom>
          <a:noFill/>
        </p:spPr>
        <p:txBody>
          <a:bodyPr wrap="none">
            <a:spAutoFit/>
          </a:bodyPr>
          <a:lstStyle/>
          <a:p>
            <a:pPr algn="l">
              <a:spcBef>
                <a:spcPts val="0"/>
              </a:spcBef>
              <a:defRPr sz="1100" b="0">
                <a:solidFill>
                  <a:srgbClr val="BDD7EE"/>
                </a:solidFill>
              </a:defRPr>
            </a:pPr>
            <a:r>
              <a:t>青少年活动中心管理平台 · 毕业设计答辩</a:t>
            </a:r>
          </a:p>
        </p:txBody>
      </p:sp>
      <p:sp>
        <p:nvSpPr>
          <p:cNvPr id="8" name="TextBox 7"/>
          <p:cNvSpPr txBox="1"/>
          <p:nvPr/>
        </p:nvSpPr>
        <p:spPr>
          <a:xfrm>
            <a:off x="11064240" y="6601968"/>
            <a:ext cx="914400" cy="237744"/>
          </a:xfrm>
          <a:prstGeom prst="rect">
            <a:avLst/>
          </a:prstGeom>
          <a:noFill/>
        </p:spPr>
        <p:txBody>
          <a:bodyPr wrap="none">
            <a:spAutoFit/>
          </a:bodyPr>
          <a:lstStyle/>
          <a:p>
            <a:pPr algn="r">
              <a:spcBef>
                <a:spcPts val="0"/>
              </a:spcBef>
              <a:defRPr sz="1100" b="0">
                <a:solidFill>
                  <a:srgbClr val="BDD7EE"/>
                </a:solidFill>
              </a:defRPr>
            </a:pPr>
            <a:r>
              <a:t>9 / 15</a:t>
            </a:r>
          </a:p>
        </p:txBody>
      </p:sp>
      <p:sp>
        <p:nvSpPr>
          <p:cNvPr id="9" name="Rectangle 8"/>
          <p:cNvSpPr/>
          <p:nvPr/>
        </p:nvSpPr>
        <p:spPr>
          <a:xfrm>
            <a:off x="0" y="502920"/>
            <a:ext cx="12191695" cy="6080760"/>
          </a:xfrm>
          <a:prstGeom prst="rect">
            <a:avLst/>
          </a:prstGeom>
          <a:solidFill>
            <a:srgbClr val="F2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594360"/>
            <a:ext cx="11430000" cy="731520"/>
          </a:xfrm>
          <a:prstGeom prst="rect">
            <a:avLst/>
          </a:prstGeom>
          <a:noFill/>
        </p:spPr>
        <p:txBody>
          <a:bodyPr wrap="none">
            <a:spAutoFit/>
          </a:bodyPr>
          <a:lstStyle/>
          <a:p>
            <a:pPr algn="l">
              <a:spcBef>
                <a:spcPts val="0"/>
              </a:spcBef>
              <a:defRPr sz="3000" b="1">
                <a:solidFill>
                  <a:srgbClr val="1B3A6B"/>
                </a:solidFill>
              </a:defRPr>
            </a:pPr>
            <a:r>
              <a:t>04  功能实现 — 教师端：课程管理（功能说明）</a:t>
            </a:r>
          </a:p>
        </p:txBody>
      </p:sp>
      <p:sp>
        <p:nvSpPr>
          <p:cNvPr id="11" name="Rectangle 10"/>
          <p:cNvSpPr/>
          <p:nvPr/>
        </p:nvSpPr>
        <p:spPr>
          <a:xfrm>
            <a:off x="365760" y="1261872"/>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1371600"/>
            <a:ext cx="5486400" cy="484632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371600"/>
            <a:ext cx="5486400"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 y="1408176"/>
            <a:ext cx="5266944" cy="329184"/>
          </a:xfrm>
          <a:prstGeom prst="rect">
            <a:avLst/>
          </a:prstGeom>
          <a:noFill/>
        </p:spPr>
        <p:txBody>
          <a:bodyPr wrap="none">
            <a:spAutoFit/>
          </a:bodyPr>
          <a:lstStyle/>
          <a:p>
            <a:pPr algn="l">
              <a:spcBef>
                <a:spcPts val="0"/>
              </a:spcBef>
              <a:defRPr sz="1700" b="1">
                <a:solidFill>
                  <a:srgbClr val="FFFFFF"/>
                </a:solidFill>
              </a:defRPr>
            </a:pPr>
            <a:r>
              <a:t>主要业务操作</a:t>
            </a:r>
          </a:p>
        </p:txBody>
      </p:sp>
      <p:sp>
        <p:nvSpPr>
          <p:cNvPr id="15" name="TextBox 14"/>
          <p:cNvSpPr txBox="1"/>
          <p:nvPr/>
        </p:nvSpPr>
        <p:spPr>
          <a:xfrm>
            <a:off x="594360" y="1828800"/>
            <a:ext cx="5166360" cy="4297680"/>
          </a:xfrm>
          <a:prstGeom prst="rect">
            <a:avLst/>
          </a:prstGeom>
          <a:noFill/>
        </p:spPr>
        <p:txBody>
          <a:bodyPr wrap="none">
            <a:spAutoFit/>
          </a:bodyPr>
          <a:lstStyle/>
          <a:p>
            <a:pPr algn="l">
              <a:spcBef>
                <a:spcPts val="200"/>
              </a:spcBef>
              <a:defRPr sz="1300" b="0">
                <a:solidFill>
                  <a:srgbClr val="404040"/>
                </a:solidFill>
              </a:defRPr>
            </a:pPr>
            <a:r>
              <a:t>课程新增：教师填写课程基本信息（名称、类别、起止时间、最大人数），提交后系统自动生成课程 ID 并置为"招募中"状态，学生端即可见到该课程。</a:t>
            </a:r>
          </a:p>
          <a:p>
            <a:pPr algn="l">
              <a:spcBef>
                <a:spcPts val="500"/>
              </a:spcBef>
              <a:defRPr sz="1300" b="0">
                <a:solidFill>
                  <a:srgbClr val="404040"/>
                </a:solidFill>
              </a:defRPr>
            </a:pPr>
            <a:r>
              <a:t>课程编辑：支持对已发布课程的大部分字段进行在线修改，系统在保存前校验时段冲突与名额合理性，避免数据异常。</a:t>
            </a:r>
          </a:p>
          <a:p>
            <a:pPr algn="l">
              <a:spcBef>
                <a:spcPts val="500"/>
              </a:spcBef>
              <a:defRPr sz="1300" b="0">
                <a:solidFill>
                  <a:srgbClr val="404040"/>
                </a:solidFill>
              </a:defRPr>
            </a:pPr>
            <a:r>
              <a:t>课程删除：对于尚无学生报名的课程，允许教师直接删除；若已有报名记录则提示不可直接删除，需先处理报名数据，保护数据完整性。</a:t>
            </a:r>
          </a:p>
          <a:p>
            <a:pPr algn="l">
              <a:spcBef>
                <a:spcPts val="500"/>
              </a:spcBef>
              <a:defRPr sz="1300" b="0">
                <a:solidFill>
                  <a:srgbClr val="404040"/>
                </a:solidFill>
              </a:defRPr>
            </a:pPr>
            <a:r>
              <a:t>分页查询：课程列表支持按名称关键字与状态筛选，并以分页方式展示，提升大量课程场景下的可读性与操作效率。</a:t>
            </a:r>
          </a:p>
        </p:txBody>
      </p:sp>
      <p:sp>
        <p:nvSpPr>
          <p:cNvPr id="16" name="Rounded Rectangle 15"/>
          <p:cNvSpPr/>
          <p:nvPr/>
        </p:nvSpPr>
        <p:spPr>
          <a:xfrm>
            <a:off x="6217920" y="1371600"/>
            <a:ext cx="5577840" cy="484632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371600"/>
            <a:ext cx="5577840"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1408176"/>
            <a:ext cx="5358383" cy="329184"/>
          </a:xfrm>
          <a:prstGeom prst="rect">
            <a:avLst/>
          </a:prstGeom>
          <a:noFill/>
        </p:spPr>
        <p:txBody>
          <a:bodyPr wrap="none">
            <a:spAutoFit/>
          </a:bodyPr>
          <a:lstStyle/>
          <a:p>
            <a:pPr algn="l">
              <a:spcBef>
                <a:spcPts val="0"/>
              </a:spcBef>
              <a:defRPr sz="1700" b="1">
                <a:solidFill>
                  <a:srgbClr val="FFFFFF"/>
                </a:solidFill>
              </a:defRPr>
            </a:pPr>
            <a:r>
              <a:t>实现要点与技术细节</a:t>
            </a:r>
          </a:p>
        </p:txBody>
      </p:sp>
      <p:sp>
        <p:nvSpPr>
          <p:cNvPr id="19" name="TextBox 18"/>
          <p:cNvSpPr txBox="1"/>
          <p:nvPr/>
        </p:nvSpPr>
        <p:spPr>
          <a:xfrm>
            <a:off x="6400800" y="1828800"/>
            <a:ext cx="5257800" cy="4297680"/>
          </a:xfrm>
          <a:prstGeom prst="rect">
            <a:avLst/>
          </a:prstGeom>
          <a:noFill/>
        </p:spPr>
        <p:txBody>
          <a:bodyPr wrap="none">
            <a:spAutoFit/>
          </a:bodyPr>
          <a:lstStyle/>
          <a:p>
            <a:pPr algn="l">
              <a:spcBef>
                <a:spcPts val="200"/>
              </a:spcBef>
              <a:defRPr sz="1300" b="0">
                <a:solidFill>
                  <a:srgbClr val="404040"/>
                </a:solidFill>
              </a:defRPr>
            </a:pPr>
            <a:r>
              <a:t>Controller 层：CourseController 中的 @RequestMapping 方法依次处理列表查询（GET）与增删改操作（POST），参数绑定通过 Spring MVC 的 @ModelAttribute 机制完成，自动实现表单数据到 JavaBean 的转换。</a:t>
            </a:r>
          </a:p>
          <a:p>
            <a:pPr algn="l">
              <a:spcBef>
                <a:spcPts val="500"/>
              </a:spcBef>
              <a:defRPr sz="1300" b="0">
                <a:solidFill>
                  <a:srgbClr val="404040"/>
                </a:solidFill>
              </a:defRPr>
            </a:pPr>
            <a:r>
              <a:t>Service 层：CourseService 在保存前执行业务规则校验（如名额区间合法性），调用 CourseMapper 与 ScourseMapper 完成多表联动操作，并通过 Spring @Transactional 注解保证事务一致性。</a:t>
            </a:r>
          </a:p>
          <a:p>
            <a:pPr algn="l">
              <a:spcBef>
                <a:spcPts val="500"/>
              </a:spcBef>
              <a:defRPr sz="1300" b="0">
                <a:solidFill>
                  <a:srgbClr val="404040"/>
                </a:solidFill>
              </a:defRPr>
            </a:pPr>
            <a:r>
              <a:t>前端交互：列表页采用 DataTables 插件实现客户端排序与搜索；删除操作弹出二次确认对话框，防止误操作；表单提交后以 redirect 方式重定向，遵循 PRG（Post/Redirect/Get）模式。</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9144000" cy="420624"/>
          </a:xfrm>
          <a:prstGeom prst="rect">
            <a:avLst/>
          </a:prstGeom>
          <a:noFill/>
        </p:spPr>
        <p:txBody>
          <a:bodyPr wrap="none">
            <a:spAutoFit/>
          </a:bodyPr>
          <a:lstStyle/>
          <a:p>
            <a:pPr algn="l">
              <a:spcBef>
                <a:spcPts val="0"/>
              </a:spcBef>
              <a:defRPr sz="2000" b="1">
                <a:solidFill>
                  <a:srgbClr val="FFFFFF"/>
                </a:solidFill>
              </a:defRPr>
            </a:pPr>
            <a:r>
              <a:t>核心功能实现</a:t>
            </a:r>
          </a:p>
        </p:txBody>
      </p:sp>
      <p:sp>
        <p:nvSpPr>
          <p:cNvPr id="4" name="Rectangle 3"/>
          <p:cNvSpPr/>
          <p:nvPr/>
        </p:nvSpPr>
        <p:spPr>
          <a:xfrm>
            <a:off x="10515600" y="0"/>
            <a:ext cx="1676095" cy="5029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0" y="36576"/>
            <a:ext cx="1676095" cy="420624"/>
          </a:xfrm>
          <a:prstGeom prst="rect">
            <a:avLst/>
          </a:prstGeom>
          <a:noFill/>
        </p:spPr>
        <p:txBody>
          <a:bodyPr wrap="none">
            <a:spAutoFit/>
          </a:bodyPr>
          <a:lstStyle/>
          <a:p>
            <a:pPr algn="ctr">
              <a:spcBef>
                <a:spcPts val="0"/>
              </a:spcBef>
              <a:defRPr sz="1400" b="0">
                <a:solidFill>
                  <a:srgbClr val="FFFFFF"/>
                </a:solidFill>
              </a:defRPr>
            </a:pPr>
            <a:r>
              <a:t>第 04 部分</a:t>
            </a:r>
          </a:p>
        </p:txBody>
      </p:sp>
      <p:sp>
        <p:nvSpPr>
          <p:cNvPr id="6" name="Rectangle 5"/>
          <p:cNvSpPr/>
          <p:nvPr/>
        </p:nvSpPr>
        <p:spPr>
          <a:xfrm>
            <a:off x="0" y="6583680"/>
            <a:ext cx="12191695" cy="2743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01968"/>
            <a:ext cx="9144000" cy="237744"/>
          </a:xfrm>
          <a:prstGeom prst="rect">
            <a:avLst/>
          </a:prstGeom>
          <a:noFill/>
        </p:spPr>
        <p:txBody>
          <a:bodyPr wrap="none">
            <a:spAutoFit/>
          </a:bodyPr>
          <a:lstStyle/>
          <a:p>
            <a:pPr algn="l">
              <a:spcBef>
                <a:spcPts val="0"/>
              </a:spcBef>
              <a:defRPr sz="1100" b="0">
                <a:solidFill>
                  <a:srgbClr val="BDD7EE"/>
                </a:solidFill>
              </a:defRPr>
            </a:pPr>
            <a:r>
              <a:t>青少年活动中心管理平台 · 毕业设计答辩</a:t>
            </a:r>
          </a:p>
        </p:txBody>
      </p:sp>
      <p:sp>
        <p:nvSpPr>
          <p:cNvPr id="8" name="TextBox 7"/>
          <p:cNvSpPr txBox="1"/>
          <p:nvPr/>
        </p:nvSpPr>
        <p:spPr>
          <a:xfrm>
            <a:off x="11064240" y="6601968"/>
            <a:ext cx="914400" cy="237744"/>
          </a:xfrm>
          <a:prstGeom prst="rect">
            <a:avLst/>
          </a:prstGeom>
          <a:noFill/>
        </p:spPr>
        <p:txBody>
          <a:bodyPr wrap="none">
            <a:spAutoFit/>
          </a:bodyPr>
          <a:lstStyle/>
          <a:p>
            <a:pPr algn="r">
              <a:spcBef>
                <a:spcPts val="0"/>
              </a:spcBef>
              <a:defRPr sz="1100" b="0">
                <a:solidFill>
                  <a:srgbClr val="BDD7EE"/>
                </a:solidFill>
              </a:defRPr>
            </a:pPr>
            <a:r>
              <a:t>10 / 15</a:t>
            </a:r>
          </a:p>
        </p:txBody>
      </p:sp>
      <p:sp>
        <p:nvSpPr>
          <p:cNvPr id="9" name="Rectangle 8"/>
          <p:cNvSpPr/>
          <p:nvPr/>
        </p:nvSpPr>
        <p:spPr>
          <a:xfrm>
            <a:off x="0" y="502920"/>
            <a:ext cx="12191695" cy="6080760"/>
          </a:xfrm>
          <a:prstGeom prst="rect">
            <a:avLst/>
          </a:prstGeom>
          <a:solidFill>
            <a:srgbClr val="F2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594360"/>
            <a:ext cx="11430000" cy="731520"/>
          </a:xfrm>
          <a:prstGeom prst="rect">
            <a:avLst/>
          </a:prstGeom>
          <a:noFill/>
        </p:spPr>
        <p:txBody>
          <a:bodyPr wrap="none">
            <a:spAutoFit/>
          </a:bodyPr>
          <a:lstStyle/>
          <a:p>
            <a:pPr algn="l">
              <a:spcBef>
                <a:spcPts val="0"/>
              </a:spcBef>
              <a:defRPr sz="3000" b="1">
                <a:solidFill>
                  <a:srgbClr val="1B3A6B"/>
                </a:solidFill>
              </a:defRPr>
            </a:pPr>
            <a:r>
              <a:t>04  功能实现 — 教师端：成绩管理</a:t>
            </a:r>
          </a:p>
        </p:txBody>
      </p:sp>
      <p:sp>
        <p:nvSpPr>
          <p:cNvPr id="11" name="Rectangle 10"/>
          <p:cNvSpPr/>
          <p:nvPr/>
        </p:nvSpPr>
        <p:spPr>
          <a:xfrm>
            <a:off x="365760" y="1261872"/>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1371600"/>
            <a:ext cx="7315200" cy="4846320"/>
          </a:xfrm>
          <a:prstGeom prst="roundRect">
            <a:avLst/>
          </a:prstGeom>
          <a:solidFill>
            <a:srgbClr val="E8F0FE"/>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429000"/>
            <a:ext cx="7132320" cy="731520"/>
          </a:xfrm>
          <a:prstGeom prst="rect">
            <a:avLst/>
          </a:prstGeom>
          <a:noFill/>
        </p:spPr>
        <p:txBody>
          <a:bodyPr wrap="none">
            <a:spAutoFit/>
          </a:bodyPr>
          <a:lstStyle/>
          <a:p>
            <a:pPr algn="ctr">
              <a:spcBef>
                <a:spcPts val="0"/>
              </a:spcBef>
              <a:defRPr sz="1400" b="0">
                <a:solidFill>
                  <a:srgbClr val="2E75B6"/>
                </a:solidFill>
              </a:defRPr>
            </a:pPr>
            <a:r>
              <a:t>[截图待嵌入]  teacher_grade</a:t>
            </a:r>
          </a:p>
          <a:p>
            <a:pPr algn="ctr">
              <a:spcBef>
                <a:spcPts val="400"/>
              </a:spcBef>
              <a:defRPr sz="900" b="0">
                <a:solidFill>
                  <a:srgbClr val="404040"/>
                </a:solidFill>
              </a:defRPr>
            </a:pPr>
            <a:r>
              <a:t>https://github.com/user-attachments/assets/94de7b8c-ff84-47ab-ab47-2a2df7e89495</a:t>
            </a:r>
          </a:p>
        </p:txBody>
      </p:sp>
      <p:sp>
        <p:nvSpPr>
          <p:cNvPr id="14" name="Rounded Rectangle 13"/>
          <p:cNvSpPr/>
          <p:nvPr/>
        </p:nvSpPr>
        <p:spPr>
          <a:xfrm>
            <a:off x="8001000" y="1371600"/>
            <a:ext cx="3749039" cy="484632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01000" y="1371600"/>
            <a:ext cx="3749039"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10727" y="1408176"/>
            <a:ext cx="3529583" cy="329184"/>
          </a:xfrm>
          <a:prstGeom prst="rect">
            <a:avLst/>
          </a:prstGeom>
          <a:noFill/>
        </p:spPr>
        <p:txBody>
          <a:bodyPr wrap="none">
            <a:spAutoFit/>
          </a:bodyPr>
          <a:lstStyle/>
          <a:p>
            <a:pPr algn="l">
              <a:spcBef>
                <a:spcPts val="0"/>
              </a:spcBef>
              <a:defRPr sz="1700" b="1">
                <a:solidFill>
                  <a:srgbClr val="FFFFFF"/>
                </a:solidFill>
              </a:defRPr>
            </a:pPr>
            <a:r>
              <a:t>功能说明</a:t>
            </a:r>
          </a:p>
        </p:txBody>
      </p:sp>
      <p:sp>
        <p:nvSpPr>
          <p:cNvPr id="17" name="TextBox 16"/>
          <p:cNvSpPr txBox="1"/>
          <p:nvPr/>
        </p:nvSpPr>
        <p:spPr>
          <a:xfrm>
            <a:off x="8183879" y="1828800"/>
            <a:ext cx="3428999" cy="4297680"/>
          </a:xfrm>
          <a:prstGeom prst="rect">
            <a:avLst/>
          </a:prstGeom>
          <a:noFill/>
        </p:spPr>
        <p:txBody>
          <a:bodyPr wrap="none">
            <a:spAutoFit/>
          </a:bodyPr>
          <a:lstStyle/>
          <a:p>
            <a:pPr algn="l">
              <a:spcBef>
                <a:spcPts val="200"/>
              </a:spcBef>
              <a:defRPr sz="1300" b="0">
                <a:solidFill>
                  <a:srgbClr val="404040"/>
                </a:solidFill>
              </a:defRPr>
            </a:pPr>
            <a:r>
              <a:t>成绩录入：教师在成绩管理页面选定课程后，系统自动加载该课程全部已报名学生的列表，教师可逐一填写或修改成绩数值（0～100 分），并批量保存。</a:t>
            </a:r>
          </a:p>
          <a:p>
            <a:pPr algn="l">
              <a:spcBef>
                <a:spcPts val="500"/>
              </a:spcBef>
              <a:defRPr sz="1300" b="0">
                <a:solidFill>
                  <a:srgbClr val="404040"/>
                </a:solidFill>
              </a:defRPr>
            </a:pPr>
            <a:r>
              <a:t>数据校验：前后端双重校验确保成绩输入合法，非数值输入或超出范围的数值将在提交前拦截，同时后端 Service 层再次执行范围检查，防止脏数据入库。</a:t>
            </a:r>
          </a:p>
          <a:p>
            <a:pPr algn="l">
              <a:spcBef>
                <a:spcPts val="500"/>
              </a:spcBef>
              <a:defRPr sz="1300" b="0">
                <a:solidFill>
                  <a:srgbClr val="404040"/>
                </a:solidFill>
              </a:defRPr>
            </a:pPr>
            <a:r>
              <a:t>成绩查询：支持按课程、按学生两个维度的成绩检索与汇总，教师可导出当前视图数据，便于进行离线统计分析。</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9144000" cy="420624"/>
          </a:xfrm>
          <a:prstGeom prst="rect">
            <a:avLst/>
          </a:prstGeom>
          <a:noFill/>
        </p:spPr>
        <p:txBody>
          <a:bodyPr wrap="none">
            <a:spAutoFit/>
          </a:bodyPr>
          <a:lstStyle/>
          <a:p>
            <a:pPr algn="l">
              <a:spcBef>
                <a:spcPts val="0"/>
              </a:spcBef>
              <a:defRPr sz="2000" b="1">
                <a:solidFill>
                  <a:srgbClr val="FFFFFF"/>
                </a:solidFill>
              </a:defRPr>
            </a:pPr>
            <a:r>
              <a:t>核心功能实现</a:t>
            </a:r>
          </a:p>
        </p:txBody>
      </p:sp>
      <p:sp>
        <p:nvSpPr>
          <p:cNvPr id="4" name="Rectangle 3"/>
          <p:cNvSpPr/>
          <p:nvPr/>
        </p:nvSpPr>
        <p:spPr>
          <a:xfrm>
            <a:off x="10515600" y="0"/>
            <a:ext cx="1676095" cy="5029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0" y="36576"/>
            <a:ext cx="1676095" cy="420624"/>
          </a:xfrm>
          <a:prstGeom prst="rect">
            <a:avLst/>
          </a:prstGeom>
          <a:noFill/>
        </p:spPr>
        <p:txBody>
          <a:bodyPr wrap="none">
            <a:spAutoFit/>
          </a:bodyPr>
          <a:lstStyle/>
          <a:p>
            <a:pPr algn="ctr">
              <a:spcBef>
                <a:spcPts val="0"/>
              </a:spcBef>
              <a:defRPr sz="1400" b="0">
                <a:solidFill>
                  <a:srgbClr val="FFFFFF"/>
                </a:solidFill>
              </a:defRPr>
            </a:pPr>
            <a:r>
              <a:t>第 04 部分</a:t>
            </a:r>
          </a:p>
        </p:txBody>
      </p:sp>
      <p:sp>
        <p:nvSpPr>
          <p:cNvPr id="6" name="Rectangle 5"/>
          <p:cNvSpPr/>
          <p:nvPr/>
        </p:nvSpPr>
        <p:spPr>
          <a:xfrm>
            <a:off x="0" y="6583680"/>
            <a:ext cx="12191695" cy="2743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01968"/>
            <a:ext cx="9144000" cy="237744"/>
          </a:xfrm>
          <a:prstGeom prst="rect">
            <a:avLst/>
          </a:prstGeom>
          <a:noFill/>
        </p:spPr>
        <p:txBody>
          <a:bodyPr wrap="none">
            <a:spAutoFit/>
          </a:bodyPr>
          <a:lstStyle/>
          <a:p>
            <a:pPr algn="l">
              <a:spcBef>
                <a:spcPts val="0"/>
              </a:spcBef>
              <a:defRPr sz="1100" b="0">
                <a:solidFill>
                  <a:srgbClr val="BDD7EE"/>
                </a:solidFill>
              </a:defRPr>
            </a:pPr>
            <a:r>
              <a:t>青少年活动中心管理平台 · 毕业设计答辩</a:t>
            </a:r>
          </a:p>
        </p:txBody>
      </p:sp>
      <p:sp>
        <p:nvSpPr>
          <p:cNvPr id="8" name="TextBox 7"/>
          <p:cNvSpPr txBox="1"/>
          <p:nvPr/>
        </p:nvSpPr>
        <p:spPr>
          <a:xfrm>
            <a:off x="11064240" y="6601968"/>
            <a:ext cx="914400" cy="237744"/>
          </a:xfrm>
          <a:prstGeom prst="rect">
            <a:avLst/>
          </a:prstGeom>
          <a:noFill/>
        </p:spPr>
        <p:txBody>
          <a:bodyPr wrap="none">
            <a:spAutoFit/>
          </a:bodyPr>
          <a:lstStyle/>
          <a:p>
            <a:pPr algn="r">
              <a:spcBef>
                <a:spcPts val="0"/>
              </a:spcBef>
              <a:defRPr sz="1100" b="0">
                <a:solidFill>
                  <a:srgbClr val="BDD7EE"/>
                </a:solidFill>
              </a:defRPr>
            </a:pPr>
            <a:r>
              <a:t>11 / 15</a:t>
            </a:r>
          </a:p>
        </p:txBody>
      </p:sp>
      <p:sp>
        <p:nvSpPr>
          <p:cNvPr id="9" name="Rectangle 8"/>
          <p:cNvSpPr/>
          <p:nvPr/>
        </p:nvSpPr>
        <p:spPr>
          <a:xfrm>
            <a:off x="0" y="502920"/>
            <a:ext cx="12191695" cy="6080760"/>
          </a:xfrm>
          <a:prstGeom prst="rect">
            <a:avLst/>
          </a:prstGeom>
          <a:solidFill>
            <a:srgbClr val="F2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594360"/>
            <a:ext cx="11430000" cy="731520"/>
          </a:xfrm>
          <a:prstGeom prst="rect">
            <a:avLst/>
          </a:prstGeom>
          <a:noFill/>
        </p:spPr>
        <p:txBody>
          <a:bodyPr wrap="none">
            <a:spAutoFit/>
          </a:bodyPr>
          <a:lstStyle/>
          <a:p>
            <a:pPr algn="l">
              <a:spcBef>
                <a:spcPts val="0"/>
              </a:spcBef>
              <a:defRPr sz="3000" b="1">
                <a:solidFill>
                  <a:srgbClr val="1B3A6B"/>
                </a:solidFill>
              </a:defRPr>
            </a:pPr>
            <a:r>
              <a:t>04  功能实现 — 教师端：考勤管理</a:t>
            </a:r>
          </a:p>
        </p:txBody>
      </p:sp>
      <p:sp>
        <p:nvSpPr>
          <p:cNvPr id="11" name="Rectangle 10"/>
          <p:cNvSpPr/>
          <p:nvPr/>
        </p:nvSpPr>
        <p:spPr>
          <a:xfrm>
            <a:off x="365760" y="1261872"/>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1371600"/>
            <a:ext cx="7315200" cy="4846320"/>
          </a:xfrm>
          <a:prstGeom prst="roundRect">
            <a:avLst/>
          </a:prstGeom>
          <a:solidFill>
            <a:srgbClr val="E8F0FE"/>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429000"/>
            <a:ext cx="7132320" cy="731520"/>
          </a:xfrm>
          <a:prstGeom prst="rect">
            <a:avLst/>
          </a:prstGeom>
          <a:noFill/>
        </p:spPr>
        <p:txBody>
          <a:bodyPr wrap="none">
            <a:spAutoFit/>
          </a:bodyPr>
          <a:lstStyle/>
          <a:p>
            <a:pPr algn="ctr">
              <a:spcBef>
                <a:spcPts val="0"/>
              </a:spcBef>
              <a:defRPr sz="1400" b="0">
                <a:solidFill>
                  <a:srgbClr val="2E75B6"/>
                </a:solidFill>
              </a:defRPr>
            </a:pPr>
            <a:r>
              <a:t>[截图待嵌入]  teacher_attend</a:t>
            </a:r>
          </a:p>
          <a:p>
            <a:pPr algn="ctr">
              <a:spcBef>
                <a:spcPts val="400"/>
              </a:spcBef>
              <a:defRPr sz="900" b="0">
                <a:solidFill>
                  <a:srgbClr val="404040"/>
                </a:solidFill>
              </a:defRPr>
            </a:pPr>
            <a:r>
              <a:t>https://github.com/user-attachments/assets/4d44de09-7e1b-455e-9dbd-b06c2b20031b</a:t>
            </a:r>
          </a:p>
        </p:txBody>
      </p:sp>
      <p:sp>
        <p:nvSpPr>
          <p:cNvPr id="14" name="Rounded Rectangle 13"/>
          <p:cNvSpPr/>
          <p:nvPr/>
        </p:nvSpPr>
        <p:spPr>
          <a:xfrm>
            <a:off x="8001000" y="1371600"/>
            <a:ext cx="3749039" cy="484632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01000" y="1371600"/>
            <a:ext cx="3749039"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10727" y="1408176"/>
            <a:ext cx="3529583" cy="329184"/>
          </a:xfrm>
          <a:prstGeom prst="rect">
            <a:avLst/>
          </a:prstGeom>
          <a:noFill/>
        </p:spPr>
        <p:txBody>
          <a:bodyPr wrap="none">
            <a:spAutoFit/>
          </a:bodyPr>
          <a:lstStyle/>
          <a:p>
            <a:pPr algn="l">
              <a:spcBef>
                <a:spcPts val="0"/>
              </a:spcBef>
              <a:defRPr sz="1700" b="1">
                <a:solidFill>
                  <a:srgbClr val="FFFFFF"/>
                </a:solidFill>
              </a:defRPr>
            </a:pPr>
            <a:r>
              <a:t>功能说明</a:t>
            </a:r>
          </a:p>
        </p:txBody>
      </p:sp>
      <p:sp>
        <p:nvSpPr>
          <p:cNvPr id="17" name="TextBox 16"/>
          <p:cNvSpPr txBox="1"/>
          <p:nvPr/>
        </p:nvSpPr>
        <p:spPr>
          <a:xfrm>
            <a:off x="8183879" y="1828800"/>
            <a:ext cx="3428999" cy="4297680"/>
          </a:xfrm>
          <a:prstGeom prst="rect">
            <a:avLst/>
          </a:prstGeom>
          <a:noFill/>
        </p:spPr>
        <p:txBody>
          <a:bodyPr wrap="none">
            <a:spAutoFit/>
          </a:bodyPr>
          <a:lstStyle/>
          <a:p>
            <a:pPr algn="l">
              <a:spcBef>
                <a:spcPts val="200"/>
              </a:spcBef>
              <a:defRPr sz="1300" b="0">
                <a:solidFill>
                  <a:srgbClr val="404040"/>
                </a:solidFill>
              </a:defRPr>
            </a:pPr>
            <a:r>
              <a:t>考勤发起：教师在指定课次开始后，通过考勤管理模块选择课程与上课日期，系统自动拉取当前课程全部报名学生名单，逐一进行出勤状态标记（出勤/缺勤/请假）。</a:t>
            </a:r>
          </a:p>
          <a:p>
            <a:pPr algn="l">
              <a:spcBef>
                <a:spcPts val="500"/>
              </a:spcBef>
              <a:defRPr sz="1300" b="0">
                <a:solidFill>
                  <a:srgbClr val="404040"/>
                </a:solidFill>
              </a:defRPr>
            </a:pPr>
            <a:r>
              <a:t>历史查询：支持按学生或按课次两个维度查询历史考勤记录，并以表格形式展示出勤率统计，便于教师掌握整体出勤情况。</a:t>
            </a:r>
          </a:p>
          <a:p>
            <a:pPr algn="l">
              <a:spcBef>
                <a:spcPts val="500"/>
              </a:spcBef>
              <a:defRPr sz="1300" b="0">
                <a:solidFill>
                  <a:srgbClr val="404040"/>
                </a:solidFill>
              </a:defRPr>
            </a:pPr>
            <a:r>
              <a:t>数据关联：考勤记录与选课记录绑定，同一学生在同一课程的所有考勤情况可聚合查看，为学期末综合评价提供量化依据。</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9144000" cy="420624"/>
          </a:xfrm>
          <a:prstGeom prst="rect">
            <a:avLst/>
          </a:prstGeom>
          <a:noFill/>
        </p:spPr>
        <p:txBody>
          <a:bodyPr wrap="none">
            <a:spAutoFit/>
          </a:bodyPr>
          <a:lstStyle/>
          <a:p>
            <a:pPr algn="l">
              <a:spcBef>
                <a:spcPts val="0"/>
              </a:spcBef>
              <a:defRPr sz="2000" b="1">
                <a:solidFill>
                  <a:srgbClr val="FFFFFF"/>
                </a:solidFill>
              </a:defRPr>
            </a:pPr>
            <a:r>
              <a:t>核心功能实现</a:t>
            </a:r>
          </a:p>
        </p:txBody>
      </p:sp>
      <p:sp>
        <p:nvSpPr>
          <p:cNvPr id="4" name="Rectangle 3"/>
          <p:cNvSpPr/>
          <p:nvPr/>
        </p:nvSpPr>
        <p:spPr>
          <a:xfrm>
            <a:off x="10515600" y="0"/>
            <a:ext cx="1676095" cy="5029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0" y="36576"/>
            <a:ext cx="1676095" cy="420624"/>
          </a:xfrm>
          <a:prstGeom prst="rect">
            <a:avLst/>
          </a:prstGeom>
          <a:noFill/>
        </p:spPr>
        <p:txBody>
          <a:bodyPr wrap="none">
            <a:spAutoFit/>
          </a:bodyPr>
          <a:lstStyle/>
          <a:p>
            <a:pPr algn="ctr">
              <a:spcBef>
                <a:spcPts val="0"/>
              </a:spcBef>
              <a:defRPr sz="1400" b="0">
                <a:solidFill>
                  <a:srgbClr val="FFFFFF"/>
                </a:solidFill>
              </a:defRPr>
            </a:pPr>
            <a:r>
              <a:t>第 04 部分</a:t>
            </a:r>
          </a:p>
        </p:txBody>
      </p:sp>
      <p:sp>
        <p:nvSpPr>
          <p:cNvPr id="6" name="Rectangle 5"/>
          <p:cNvSpPr/>
          <p:nvPr/>
        </p:nvSpPr>
        <p:spPr>
          <a:xfrm>
            <a:off x="0" y="6583680"/>
            <a:ext cx="12191695" cy="2743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01968"/>
            <a:ext cx="9144000" cy="237744"/>
          </a:xfrm>
          <a:prstGeom prst="rect">
            <a:avLst/>
          </a:prstGeom>
          <a:noFill/>
        </p:spPr>
        <p:txBody>
          <a:bodyPr wrap="none">
            <a:spAutoFit/>
          </a:bodyPr>
          <a:lstStyle/>
          <a:p>
            <a:pPr algn="l">
              <a:spcBef>
                <a:spcPts val="0"/>
              </a:spcBef>
              <a:defRPr sz="1100" b="0">
                <a:solidFill>
                  <a:srgbClr val="BDD7EE"/>
                </a:solidFill>
              </a:defRPr>
            </a:pPr>
            <a:r>
              <a:t>青少年活动中心管理平台 · 毕业设计答辩</a:t>
            </a:r>
          </a:p>
        </p:txBody>
      </p:sp>
      <p:sp>
        <p:nvSpPr>
          <p:cNvPr id="8" name="TextBox 7"/>
          <p:cNvSpPr txBox="1"/>
          <p:nvPr/>
        </p:nvSpPr>
        <p:spPr>
          <a:xfrm>
            <a:off x="11064240" y="6601968"/>
            <a:ext cx="914400" cy="237744"/>
          </a:xfrm>
          <a:prstGeom prst="rect">
            <a:avLst/>
          </a:prstGeom>
          <a:noFill/>
        </p:spPr>
        <p:txBody>
          <a:bodyPr wrap="none">
            <a:spAutoFit/>
          </a:bodyPr>
          <a:lstStyle/>
          <a:p>
            <a:pPr algn="r">
              <a:spcBef>
                <a:spcPts val="0"/>
              </a:spcBef>
              <a:defRPr sz="1100" b="0">
                <a:solidFill>
                  <a:srgbClr val="BDD7EE"/>
                </a:solidFill>
              </a:defRPr>
            </a:pPr>
            <a:r>
              <a:t>12 / 15</a:t>
            </a:r>
          </a:p>
        </p:txBody>
      </p:sp>
      <p:sp>
        <p:nvSpPr>
          <p:cNvPr id="9" name="Rectangle 8"/>
          <p:cNvSpPr/>
          <p:nvPr/>
        </p:nvSpPr>
        <p:spPr>
          <a:xfrm>
            <a:off x="0" y="502920"/>
            <a:ext cx="12191695" cy="6080760"/>
          </a:xfrm>
          <a:prstGeom prst="rect">
            <a:avLst/>
          </a:prstGeom>
          <a:solidFill>
            <a:srgbClr val="F2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594360"/>
            <a:ext cx="11430000" cy="731520"/>
          </a:xfrm>
          <a:prstGeom prst="rect">
            <a:avLst/>
          </a:prstGeom>
          <a:noFill/>
        </p:spPr>
        <p:txBody>
          <a:bodyPr wrap="none">
            <a:spAutoFit/>
          </a:bodyPr>
          <a:lstStyle/>
          <a:p>
            <a:pPr algn="l">
              <a:spcBef>
                <a:spcPts val="0"/>
              </a:spcBef>
              <a:defRPr sz="3000" b="1">
                <a:solidFill>
                  <a:srgbClr val="1B3A6B"/>
                </a:solidFill>
              </a:defRPr>
            </a:pPr>
            <a:r>
              <a:t>04  教师端业务流程闭环分析</a:t>
            </a:r>
          </a:p>
        </p:txBody>
      </p:sp>
      <p:sp>
        <p:nvSpPr>
          <p:cNvPr id="11" name="Rectangle 10"/>
          <p:cNvSpPr/>
          <p:nvPr/>
        </p:nvSpPr>
        <p:spPr>
          <a:xfrm>
            <a:off x="365760" y="1261872"/>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1417320"/>
            <a:ext cx="1737360" cy="685800"/>
          </a:xfrm>
          <a:prstGeom prst="round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527048"/>
            <a:ext cx="1645919" cy="502920"/>
          </a:xfrm>
          <a:prstGeom prst="rect">
            <a:avLst/>
          </a:prstGeom>
          <a:noFill/>
        </p:spPr>
        <p:txBody>
          <a:bodyPr wrap="none">
            <a:spAutoFit/>
          </a:bodyPr>
          <a:lstStyle/>
          <a:p>
            <a:pPr algn="ctr">
              <a:spcBef>
                <a:spcPts val="0"/>
              </a:spcBef>
              <a:defRPr sz="1600" b="1">
                <a:solidFill>
                  <a:srgbClr val="FFFFFF"/>
                </a:solidFill>
              </a:defRPr>
            </a:pPr>
            <a:r>
              <a:t>课程发布</a:t>
            </a:r>
          </a:p>
        </p:txBody>
      </p:sp>
      <p:sp>
        <p:nvSpPr>
          <p:cNvPr id="14" name="TextBox 13"/>
          <p:cNvSpPr txBox="1"/>
          <p:nvPr/>
        </p:nvSpPr>
        <p:spPr>
          <a:xfrm>
            <a:off x="2157984" y="1572768"/>
            <a:ext cx="128016" cy="438912"/>
          </a:xfrm>
          <a:prstGeom prst="rect">
            <a:avLst/>
          </a:prstGeom>
          <a:noFill/>
        </p:spPr>
        <p:txBody>
          <a:bodyPr wrap="none">
            <a:spAutoFit/>
          </a:bodyPr>
          <a:lstStyle/>
          <a:p>
            <a:pPr algn="ctr">
              <a:spcBef>
                <a:spcPts val="0"/>
              </a:spcBef>
              <a:defRPr sz="1600" b="0">
                <a:solidFill>
                  <a:srgbClr val="2E75B6"/>
                </a:solidFill>
              </a:defRPr>
            </a:pPr>
            <a:r>
              <a:t>▶</a:t>
            </a:r>
          </a:p>
        </p:txBody>
      </p:sp>
      <p:sp>
        <p:nvSpPr>
          <p:cNvPr id="15" name="Rounded Rectangle 14"/>
          <p:cNvSpPr/>
          <p:nvPr/>
        </p:nvSpPr>
        <p:spPr>
          <a:xfrm>
            <a:off x="2258568" y="1417320"/>
            <a:ext cx="1737360" cy="685800"/>
          </a:xfrm>
          <a:prstGeom prst="roundRect">
            <a:avLst/>
          </a:prstGeom>
          <a:solidFill>
            <a:srgbClr val="206A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04288" y="1527048"/>
            <a:ext cx="1645919" cy="502920"/>
          </a:xfrm>
          <a:prstGeom prst="rect">
            <a:avLst/>
          </a:prstGeom>
          <a:noFill/>
        </p:spPr>
        <p:txBody>
          <a:bodyPr wrap="none">
            <a:spAutoFit/>
          </a:bodyPr>
          <a:lstStyle/>
          <a:p>
            <a:pPr algn="ctr">
              <a:spcBef>
                <a:spcPts val="0"/>
              </a:spcBef>
              <a:defRPr sz="1600" b="1">
                <a:solidFill>
                  <a:srgbClr val="FFFFFF"/>
                </a:solidFill>
              </a:defRPr>
            </a:pPr>
            <a:r>
              <a:t>学生报名</a:t>
            </a:r>
          </a:p>
        </p:txBody>
      </p:sp>
      <p:sp>
        <p:nvSpPr>
          <p:cNvPr id="17" name="TextBox 16"/>
          <p:cNvSpPr txBox="1"/>
          <p:nvPr/>
        </p:nvSpPr>
        <p:spPr>
          <a:xfrm>
            <a:off x="4005072" y="1572768"/>
            <a:ext cx="128016" cy="438912"/>
          </a:xfrm>
          <a:prstGeom prst="rect">
            <a:avLst/>
          </a:prstGeom>
          <a:noFill/>
        </p:spPr>
        <p:txBody>
          <a:bodyPr wrap="none">
            <a:spAutoFit/>
          </a:bodyPr>
          <a:lstStyle/>
          <a:p>
            <a:pPr algn="ctr">
              <a:spcBef>
                <a:spcPts val="0"/>
              </a:spcBef>
              <a:defRPr sz="1600" b="0">
                <a:solidFill>
                  <a:srgbClr val="2E75B6"/>
                </a:solidFill>
              </a:defRPr>
            </a:pPr>
            <a:r>
              <a:t>▶</a:t>
            </a:r>
          </a:p>
        </p:txBody>
      </p:sp>
      <p:sp>
        <p:nvSpPr>
          <p:cNvPr id="18" name="Rounded Rectangle 17"/>
          <p:cNvSpPr/>
          <p:nvPr/>
        </p:nvSpPr>
        <p:spPr>
          <a:xfrm>
            <a:off x="4105656" y="1417320"/>
            <a:ext cx="1737360" cy="685800"/>
          </a:xfrm>
          <a:prstGeom prst="roundRect">
            <a:avLst/>
          </a:prstGeom>
          <a:solidFill>
            <a:srgbClr val="1A5F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51376" y="1527048"/>
            <a:ext cx="1645919" cy="502920"/>
          </a:xfrm>
          <a:prstGeom prst="rect">
            <a:avLst/>
          </a:prstGeom>
          <a:noFill/>
        </p:spPr>
        <p:txBody>
          <a:bodyPr wrap="none">
            <a:spAutoFit/>
          </a:bodyPr>
          <a:lstStyle/>
          <a:p>
            <a:pPr algn="ctr">
              <a:spcBef>
                <a:spcPts val="0"/>
              </a:spcBef>
              <a:defRPr sz="1600" b="1">
                <a:solidFill>
                  <a:srgbClr val="FFFFFF"/>
                </a:solidFill>
              </a:defRPr>
            </a:pPr>
            <a:r>
              <a:t>开课确认</a:t>
            </a:r>
          </a:p>
        </p:txBody>
      </p:sp>
      <p:sp>
        <p:nvSpPr>
          <p:cNvPr id="20" name="TextBox 19"/>
          <p:cNvSpPr txBox="1"/>
          <p:nvPr/>
        </p:nvSpPr>
        <p:spPr>
          <a:xfrm>
            <a:off x="5852160" y="1572768"/>
            <a:ext cx="128016" cy="438912"/>
          </a:xfrm>
          <a:prstGeom prst="rect">
            <a:avLst/>
          </a:prstGeom>
          <a:noFill/>
        </p:spPr>
        <p:txBody>
          <a:bodyPr wrap="none">
            <a:spAutoFit/>
          </a:bodyPr>
          <a:lstStyle/>
          <a:p>
            <a:pPr algn="ctr">
              <a:spcBef>
                <a:spcPts val="0"/>
              </a:spcBef>
              <a:defRPr sz="1600" b="0">
                <a:solidFill>
                  <a:srgbClr val="2E75B6"/>
                </a:solidFill>
              </a:defRPr>
            </a:pPr>
            <a:r>
              <a:t>▶</a:t>
            </a:r>
          </a:p>
        </p:txBody>
      </p:sp>
      <p:sp>
        <p:nvSpPr>
          <p:cNvPr id="21" name="Rounded Rectangle 20"/>
          <p:cNvSpPr/>
          <p:nvPr/>
        </p:nvSpPr>
        <p:spPr>
          <a:xfrm>
            <a:off x="5952744" y="1417320"/>
            <a:ext cx="1737360" cy="685800"/>
          </a:xfrm>
          <a:prstGeom prst="roundRect">
            <a:avLst/>
          </a:prstGeom>
          <a:solidFill>
            <a:srgbClr val="1552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98464" y="1527048"/>
            <a:ext cx="1645919" cy="502920"/>
          </a:xfrm>
          <a:prstGeom prst="rect">
            <a:avLst/>
          </a:prstGeom>
          <a:noFill/>
        </p:spPr>
        <p:txBody>
          <a:bodyPr wrap="none">
            <a:spAutoFit/>
          </a:bodyPr>
          <a:lstStyle/>
          <a:p>
            <a:pPr algn="ctr">
              <a:spcBef>
                <a:spcPts val="0"/>
              </a:spcBef>
              <a:defRPr sz="1600" b="1">
                <a:solidFill>
                  <a:srgbClr val="FFFFFF"/>
                </a:solidFill>
              </a:defRPr>
            </a:pPr>
            <a:r>
              <a:t>成绩录入</a:t>
            </a:r>
          </a:p>
        </p:txBody>
      </p:sp>
      <p:sp>
        <p:nvSpPr>
          <p:cNvPr id="23" name="TextBox 22"/>
          <p:cNvSpPr txBox="1"/>
          <p:nvPr/>
        </p:nvSpPr>
        <p:spPr>
          <a:xfrm>
            <a:off x="7699248" y="1572768"/>
            <a:ext cx="128016" cy="438912"/>
          </a:xfrm>
          <a:prstGeom prst="rect">
            <a:avLst/>
          </a:prstGeom>
          <a:noFill/>
        </p:spPr>
        <p:txBody>
          <a:bodyPr wrap="none">
            <a:spAutoFit/>
          </a:bodyPr>
          <a:lstStyle/>
          <a:p>
            <a:pPr algn="ctr">
              <a:spcBef>
                <a:spcPts val="0"/>
              </a:spcBef>
              <a:defRPr sz="1600" b="0">
                <a:solidFill>
                  <a:srgbClr val="2E75B6"/>
                </a:solidFill>
              </a:defRPr>
            </a:pPr>
            <a:r>
              <a:t>▶</a:t>
            </a:r>
          </a:p>
        </p:txBody>
      </p:sp>
      <p:sp>
        <p:nvSpPr>
          <p:cNvPr id="24" name="Rounded Rectangle 23"/>
          <p:cNvSpPr/>
          <p:nvPr/>
        </p:nvSpPr>
        <p:spPr>
          <a:xfrm>
            <a:off x="7799831" y="1417320"/>
            <a:ext cx="1737360" cy="685800"/>
          </a:xfrm>
          <a:prstGeom prst="roundRect">
            <a:avLst/>
          </a:prstGeom>
          <a:solidFill>
            <a:srgbClr val="104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45552" y="1527048"/>
            <a:ext cx="1645919" cy="502920"/>
          </a:xfrm>
          <a:prstGeom prst="rect">
            <a:avLst/>
          </a:prstGeom>
          <a:noFill/>
        </p:spPr>
        <p:txBody>
          <a:bodyPr wrap="none">
            <a:spAutoFit/>
          </a:bodyPr>
          <a:lstStyle/>
          <a:p>
            <a:pPr algn="ctr">
              <a:spcBef>
                <a:spcPts val="0"/>
              </a:spcBef>
              <a:defRPr sz="1600" b="1">
                <a:solidFill>
                  <a:srgbClr val="FFFFFF"/>
                </a:solidFill>
              </a:defRPr>
            </a:pPr>
            <a:r>
              <a:t>考勤记录</a:t>
            </a:r>
          </a:p>
        </p:txBody>
      </p:sp>
      <p:sp>
        <p:nvSpPr>
          <p:cNvPr id="26" name="TextBox 25"/>
          <p:cNvSpPr txBox="1"/>
          <p:nvPr/>
        </p:nvSpPr>
        <p:spPr>
          <a:xfrm>
            <a:off x="9546336" y="1572768"/>
            <a:ext cx="128016" cy="438912"/>
          </a:xfrm>
          <a:prstGeom prst="rect">
            <a:avLst/>
          </a:prstGeom>
          <a:noFill/>
        </p:spPr>
        <p:txBody>
          <a:bodyPr wrap="none">
            <a:spAutoFit/>
          </a:bodyPr>
          <a:lstStyle/>
          <a:p>
            <a:pPr algn="ctr">
              <a:spcBef>
                <a:spcPts val="0"/>
              </a:spcBef>
              <a:defRPr sz="1600" b="0">
                <a:solidFill>
                  <a:srgbClr val="2E75B6"/>
                </a:solidFill>
              </a:defRPr>
            </a:pPr>
            <a:r>
              <a:t>▶</a:t>
            </a:r>
          </a:p>
        </p:txBody>
      </p:sp>
      <p:sp>
        <p:nvSpPr>
          <p:cNvPr id="27" name="Rounded Rectangle 26"/>
          <p:cNvSpPr/>
          <p:nvPr/>
        </p:nvSpPr>
        <p:spPr>
          <a:xfrm>
            <a:off x="9646919" y="1417320"/>
            <a:ext cx="1737360" cy="685800"/>
          </a:xfrm>
          <a:prstGeom prst="round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92640" y="1527048"/>
            <a:ext cx="1645919" cy="502920"/>
          </a:xfrm>
          <a:prstGeom prst="rect">
            <a:avLst/>
          </a:prstGeom>
          <a:noFill/>
        </p:spPr>
        <p:txBody>
          <a:bodyPr wrap="none">
            <a:spAutoFit/>
          </a:bodyPr>
          <a:lstStyle/>
          <a:p>
            <a:pPr algn="ctr">
              <a:spcBef>
                <a:spcPts val="0"/>
              </a:spcBef>
              <a:defRPr sz="1600" b="1">
                <a:solidFill>
                  <a:srgbClr val="FFFFFF"/>
                </a:solidFill>
              </a:defRPr>
            </a:pPr>
            <a:r>
              <a:t>数据汇总</a:t>
            </a:r>
          </a:p>
        </p:txBody>
      </p:sp>
      <p:sp>
        <p:nvSpPr>
          <p:cNvPr id="29" name="Rounded Rectangle 28"/>
          <p:cNvSpPr/>
          <p:nvPr/>
        </p:nvSpPr>
        <p:spPr>
          <a:xfrm>
            <a:off x="411480" y="2331720"/>
            <a:ext cx="5486400" cy="388620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2331720"/>
            <a:ext cx="5486400"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1208" y="2368296"/>
            <a:ext cx="5266944" cy="329184"/>
          </a:xfrm>
          <a:prstGeom prst="rect">
            <a:avLst/>
          </a:prstGeom>
          <a:noFill/>
        </p:spPr>
        <p:txBody>
          <a:bodyPr wrap="none">
            <a:spAutoFit/>
          </a:bodyPr>
          <a:lstStyle/>
          <a:p>
            <a:pPr algn="l">
              <a:spcBef>
                <a:spcPts val="0"/>
              </a:spcBef>
              <a:defRPr sz="1700" b="1">
                <a:solidFill>
                  <a:srgbClr val="FFFFFF"/>
                </a:solidFill>
              </a:defRPr>
            </a:pPr>
            <a:r>
              <a:t>核心环节说明</a:t>
            </a:r>
          </a:p>
        </p:txBody>
      </p:sp>
      <p:sp>
        <p:nvSpPr>
          <p:cNvPr id="32" name="TextBox 31"/>
          <p:cNvSpPr txBox="1"/>
          <p:nvPr/>
        </p:nvSpPr>
        <p:spPr>
          <a:xfrm>
            <a:off x="594360" y="2788920"/>
            <a:ext cx="5166360" cy="3337560"/>
          </a:xfrm>
          <a:prstGeom prst="rect">
            <a:avLst/>
          </a:prstGeom>
          <a:noFill/>
        </p:spPr>
        <p:txBody>
          <a:bodyPr wrap="none">
            <a:spAutoFit/>
          </a:bodyPr>
          <a:lstStyle/>
          <a:p>
            <a:pPr algn="l">
              <a:spcBef>
                <a:spcPts val="200"/>
              </a:spcBef>
              <a:defRPr sz="1300" b="0">
                <a:solidFill>
                  <a:srgbClr val="404040"/>
                </a:solidFill>
              </a:defRPr>
            </a:pPr>
            <a:r>
              <a:t>课程发布阶段：教师通过课程管理模块新建课程，设置名称、时段、名额等属性后发布，系统将课程状态置为"招募中"，学生端即可查看并发起报名。</a:t>
            </a:r>
          </a:p>
          <a:p>
            <a:pPr algn="l">
              <a:spcBef>
                <a:spcPts val="500"/>
              </a:spcBef>
              <a:defRPr sz="1300" b="0">
                <a:solidFill>
                  <a:srgbClr val="404040"/>
                </a:solidFill>
              </a:defRPr>
            </a:pPr>
            <a:r>
              <a:t>开课确认阶段：教师在报名截止后核查报名名单，确认选课学生信息无误后将课程状态更新为"进行中"，系统锁定名单，后续成绩与考勤以此为基准录入。</a:t>
            </a:r>
          </a:p>
          <a:p>
            <a:pPr algn="l">
              <a:spcBef>
                <a:spcPts val="500"/>
              </a:spcBef>
              <a:defRPr sz="1300" b="0">
                <a:solidFill>
                  <a:srgbClr val="404040"/>
                </a:solidFill>
              </a:defRPr>
            </a:pPr>
            <a:r>
              <a:t>数据汇总阶段：课程结束后，教师可在成绩与考勤模块内完成期末数据的复核与汇总，系统提供按课程导出功能，为档案归档与管理报表提供数据支持。</a:t>
            </a:r>
          </a:p>
        </p:txBody>
      </p:sp>
      <p:sp>
        <p:nvSpPr>
          <p:cNvPr id="33" name="Rounded Rectangle 32"/>
          <p:cNvSpPr/>
          <p:nvPr/>
        </p:nvSpPr>
        <p:spPr>
          <a:xfrm>
            <a:off x="6217920" y="2331720"/>
            <a:ext cx="5577840" cy="388620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17920" y="2331720"/>
            <a:ext cx="5577840"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27648" y="2368296"/>
            <a:ext cx="5358383" cy="329184"/>
          </a:xfrm>
          <a:prstGeom prst="rect">
            <a:avLst/>
          </a:prstGeom>
          <a:noFill/>
        </p:spPr>
        <p:txBody>
          <a:bodyPr wrap="none">
            <a:spAutoFit/>
          </a:bodyPr>
          <a:lstStyle/>
          <a:p>
            <a:pPr algn="l">
              <a:spcBef>
                <a:spcPts val="0"/>
              </a:spcBef>
              <a:defRPr sz="1700" b="1">
                <a:solidFill>
                  <a:srgbClr val="FFFFFF"/>
                </a:solidFill>
              </a:defRPr>
            </a:pPr>
            <a:r>
              <a:t>数字化管理的核心价值</a:t>
            </a:r>
          </a:p>
        </p:txBody>
      </p:sp>
      <p:sp>
        <p:nvSpPr>
          <p:cNvPr id="36" name="TextBox 35"/>
          <p:cNvSpPr txBox="1"/>
          <p:nvPr/>
        </p:nvSpPr>
        <p:spPr>
          <a:xfrm>
            <a:off x="6400800" y="2788920"/>
            <a:ext cx="5257800" cy="3337560"/>
          </a:xfrm>
          <a:prstGeom prst="rect">
            <a:avLst/>
          </a:prstGeom>
          <a:noFill/>
        </p:spPr>
        <p:txBody>
          <a:bodyPr wrap="none">
            <a:spAutoFit/>
          </a:bodyPr>
          <a:lstStyle/>
          <a:p>
            <a:pPr algn="l">
              <a:spcBef>
                <a:spcPts val="200"/>
              </a:spcBef>
              <a:defRPr sz="1300" b="0">
                <a:solidFill>
                  <a:srgbClr val="404040"/>
                </a:solidFill>
              </a:defRPr>
            </a:pPr>
            <a:r>
              <a:t>提升效率：全部操作线上化，消除纸质表单流转环节，教师单次操作即可完成批量成绩/考勤保存，平均效率提升估计超过 60%。</a:t>
            </a:r>
          </a:p>
          <a:p>
            <a:pPr algn="l">
              <a:spcBef>
                <a:spcPts val="500"/>
              </a:spcBef>
              <a:defRPr sz="1300" b="0">
                <a:solidFill>
                  <a:srgbClr val="404040"/>
                </a:solidFill>
              </a:defRPr>
            </a:pPr>
            <a:r>
              <a:t>数据可靠：系统通过事务机制与双重校验保证数据一致性，所有修改均有时间戳记录，可追溯操作历史，满足教学档案管理要求。</a:t>
            </a:r>
          </a:p>
          <a:p>
            <a:pPr algn="l">
              <a:spcBef>
                <a:spcPts val="500"/>
              </a:spcBef>
              <a:defRPr sz="1300" b="0">
                <a:solidFill>
                  <a:srgbClr val="404040"/>
                </a:solidFill>
              </a:defRPr>
            </a:pPr>
            <a:r>
              <a:t>体验优化：采用响应式 UI，操作流程简洁直观，即使对计算机操作不熟悉的教师也能快速上手，降低系统推广阻力。</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9144000" cy="420624"/>
          </a:xfrm>
          <a:prstGeom prst="rect">
            <a:avLst/>
          </a:prstGeom>
          <a:noFill/>
        </p:spPr>
        <p:txBody>
          <a:bodyPr wrap="none">
            <a:spAutoFit/>
          </a:bodyPr>
          <a:lstStyle/>
          <a:p>
            <a:pPr algn="l">
              <a:spcBef>
                <a:spcPts val="0"/>
              </a:spcBef>
              <a:defRPr sz="2000" b="1">
                <a:solidFill>
                  <a:srgbClr val="FFFFFF"/>
                </a:solidFill>
              </a:defRPr>
            </a:pPr>
            <a:r>
              <a:t>核心功能实现</a:t>
            </a:r>
          </a:p>
        </p:txBody>
      </p:sp>
      <p:sp>
        <p:nvSpPr>
          <p:cNvPr id="4" name="Rectangle 3"/>
          <p:cNvSpPr/>
          <p:nvPr/>
        </p:nvSpPr>
        <p:spPr>
          <a:xfrm>
            <a:off x="10515600" y="0"/>
            <a:ext cx="1676095" cy="5029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0" y="36576"/>
            <a:ext cx="1676095" cy="420624"/>
          </a:xfrm>
          <a:prstGeom prst="rect">
            <a:avLst/>
          </a:prstGeom>
          <a:noFill/>
        </p:spPr>
        <p:txBody>
          <a:bodyPr wrap="none">
            <a:spAutoFit/>
          </a:bodyPr>
          <a:lstStyle/>
          <a:p>
            <a:pPr algn="ctr">
              <a:spcBef>
                <a:spcPts val="0"/>
              </a:spcBef>
              <a:defRPr sz="1400" b="0">
                <a:solidFill>
                  <a:srgbClr val="FFFFFF"/>
                </a:solidFill>
              </a:defRPr>
            </a:pPr>
            <a:r>
              <a:t>第 04 部分</a:t>
            </a:r>
          </a:p>
        </p:txBody>
      </p:sp>
      <p:sp>
        <p:nvSpPr>
          <p:cNvPr id="6" name="Rectangle 5"/>
          <p:cNvSpPr/>
          <p:nvPr/>
        </p:nvSpPr>
        <p:spPr>
          <a:xfrm>
            <a:off x="0" y="6583680"/>
            <a:ext cx="12191695" cy="2743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01968"/>
            <a:ext cx="9144000" cy="237744"/>
          </a:xfrm>
          <a:prstGeom prst="rect">
            <a:avLst/>
          </a:prstGeom>
          <a:noFill/>
        </p:spPr>
        <p:txBody>
          <a:bodyPr wrap="none">
            <a:spAutoFit/>
          </a:bodyPr>
          <a:lstStyle/>
          <a:p>
            <a:pPr algn="l">
              <a:spcBef>
                <a:spcPts val="0"/>
              </a:spcBef>
              <a:defRPr sz="1100" b="0">
                <a:solidFill>
                  <a:srgbClr val="BDD7EE"/>
                </a:solidFill>
              </a:defRPr>
            </a:pPr>
            <a:r>
              <a:t>青少年活动中心管理平台 · 毕业设计答辩</a:t>
            </a:r>
          </a:p>
        </p:txBody>
      </p:sp>
      <p:sp>
        <p:nvSpPr>
          <p:cNvPr id="8" name="TextBox 7"/>
          <p:cNvSpPr txBox="1"/>
          <p:nvPr/>
        </p:nvSpPr>
        <p:spPr>
          <a:xfrm>
            <a:off x="11064240" y="6601968"/>
            <a:ext cx="914400" cy="237744"/>
          </a:xfrm>
          <a:prstGeom prst="rect">
            <a:avLst/>
          </a:prstGeom>
          <a:noFill/>
        </p:spPr>
        <p:txBody>
          <a:bodyPr wrap="none">
            <a:spAutoFit/>
          </a:bodyPr>
          <a:lstStyle/>
          <a:p>
            <a:pPr algn="r">
              <a:spcBef>
                <a:spcPts val="0"/>
              </a:spcBef>
              <a:defRPr sz="1100" b="0">
                <a:solidFill>
                  <a:srgbClr val="BDD7EE"/>
                </a:solidFill>
              </a:defRPr>
            </a:pPr>
            <a:r>
              <a:t>13 / 15</a:t>
            </a:r>
          </a:p>
        </p:txBody>
      </p:sp>
      <p:sp>
        <p:nvSpPr>
          <p:cNvPr id="9" name="Rectangle 8"/>
          <p:cNvSpPr/>
          <p:nvPr/>
        </p:nvSpPr>
        <p:spPr>
          <a:xfrm>
            <a:off x="0" y="502920"/>
            <a:ext cx="12191695" cy="6080760"/>
          </a:xfrm>
          <a:prstGeom prst="rect">
            <a:avLst/>
          </a:prstGeom>
          <a:solidFill>
            <a:srgbClr val="F2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594360"/>
            <a:ext cx="11430000" cy="731520"/>
          </a:xfrm>
          <a:prstGeom prst="rect">
            <a:avLst/>
          </a:prstGeom>
          <a:noFill/>
        </p:spPr>
        <p:txBody>
          <a:bodyPr wrap="none">
            <a:spAutoFit/>
          </a:bodyPr>
          <a:lstStyle/>
          <a:p>
            <a:pPr algn="l">
              <a:spcBef>
                <a:spcPts val="0"/>
              </a:spcBef>
              <a:defRPr sz="3000" b="1">
                <a:solidFill>
                  <a:srgbClr val="1B3A6B"/>
                </a:solidFill>
              </a:defRPr>
            </a:pPr>
            <a:r>
              <a:t>04  功能实现 — 管理员端：用户管理</a:t>
            </a:r>
          </a:p>
        </p:txBody>
      </p:sp>
      <p:sp>
        <p:nvSpPr>
          <p:cNvPr id="11" name="Rectangle 10"/>
          <p:cNvSpPr/>
          <p:nvPr/>
        </p:nvSpPr>
        <p:spPr>
          <a:xfrm>
            <a:off x="365760" y="1261872"/>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1371600"/>
            <a:ext cx="7315200" cy="4846320"/>
          </a:xfrm>
          <a:prstGeom prst="roundRect">
            <a:avLst/>
          </a:prstGeom>
          <a:solidFill>
            <a:srgbClr val="E8F0FE"/>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429000"/>
            <a:ext cx="7132320" cy="731520"/>
          </a:xfrm>
          <a:prstGeom prst="rect">
            <a:avLst/>
          </a:prstGeom>
          <a:noFill/>
        </p:spPr>
        <p:txBody>
          <a:bodyPr wrap="none">
            <a:spAutoFit/>
          </a:bodyPr>
          <a:lstStyle/>
          <a:p>
            <a:pPr algn="ctr">
              <a:spcBef>
                <a:spcPts val="0"/>
              </a:spcBef>
              <a:defRPr sz="1400" b="0">
                <a:solidFill>
                  <a:srgbClr val="2E75B6"/>
                </a:solidFill>
              </a:defRPr>
            </a:pPr>
            <a:r>
              <a:t>[截图待嵌入]  admin_user</a:t>
            </a:r>
          </a:p>
          <a:p>
            <a:pPr algn="ctr">
              <a:spcBef>
                <a:spcPts val="400"/>
              </a:spcBef>
              <a:defRPr sz="900" b="0">
                <a:solidFill>
                  <a:srgbClr val="404040"/>
                </a:solidFill>
              </a:defRPr>
            </a:pPr>
            <a:r>
              <a:t>https://github.com/user-attachments/assets/a4a8e15f-ff50-4b5b-8f90-be961cac541b</a:t>
            </a:r>
          </a:p>
        </p:txBody>
      </p:sp>
      <p:sp>
        <p:nvSpPr>
          <p:cNvPr id="14" name="Rounded Rectangle 13"/>
          <p:cNvSpPr/>
          <p:nvPr/>
        </p:nvSpPr>
        <p:spPr>
          <a:xfrm>
            <a:off x="8001000" y="1371600"/>
            <a:ext cx="3749039" cy="484632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01000" y="1371600"/>
            <a:ext cx="3749039"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10727" y="1408176"/>
            <a:ext cx="3529583" cy="329184"/>
          </a:xfrm>
          <a:prstGeom prst="rect">
            <a:avLst/>
          </a:prstGeom>
          <a:noFill/>
        </p:spPr>
        <p:txBody>
          <a:bodyPr wrap="none">
            <a:spAutoFit/>
          </a:bodyPr>
          <a:lstStyle/>
          <a:p>
            <a:pPr algn="l">
              <a:spcBef>
                <a:spcPts val="0"/>
              </a:spcBef>
              <a:defRPr sz="1700" b="1">
                <a:solidFill>
                  <a:srgbClr val="FFFFFF"/>
                </a:solidFill>
              </a:defRPr>
            </a:pPr>
            <a:r>
              <a:t>功能说明</a:t>
            </a:r>
          </a:p>
        </p:txBody>
      </p:sp>
      <p:sp>
        <p:nvSpPr>
          <p:cNvPr id="17" name="TextBox 16"/>
          <p:cNvSpPr txBox="1"/>
          <p:nvPr/>
        </p:nvSpPr>
        <p:spPr>
          <a:xfrm>
            <a:off x="8183879" y="1828800"/>
            <a:ext cx="3428999" cy="4297680"/>
          </a:xfrm>
          <a:prstGeom prst="rect">
            <a:avLst/>
          </a:prstGeom>
          <a:noFill/>
        </p:spPr>
        <p:txBody>
          <a:bodyPr wrap="none">
            <a:spAutoFit/>
          </a:bodyPr>
          <a:lstStyle/>
          <a:p>
            <a:pPr algn="l">
              <a:spcBef>
                <a:spcPts val="200"/>
              </a:spcBef>
              <a:defRPr sz="1300" b="0">
                <a:solidFill>
                  <a:srgbClr val="404040"/>
                </a:solidFill>
              </a:defRPr>
            </a:pPr>
            <a:r>
              <a:t>用户维护：管理员可对系统内全部用户进行增删改查操作，包括新增学生账号（批量导入）、编辑教师基本信息、禁用/启用账号等，同时支持重置用户密码。</a:t>
            </a:r>
          </a:p>
          <a:p>
            <a:pPr algn="l">
              <a:spcBef>
                <a:spcPts val="500"/>
              </a:spcBef>
              <a:defRPr sz="1300" b="0">
                <a:solidFill>
                  <a:srgbClr val="404040"/>
                </a:solidFill>
              </a:defRPr>
            </a:pPr>
            <a:r>
              <a:t>角色权限：系统基于 RBAC 模型实现权限控制，管理员可为每位用户设定角色（学生/教师/管理员），角色变更后立即生效，不需要重启服务。</a:t>
            </a:r>
          </a:p>
          <a:p>
            <a:pPr algn="l">
              <a:spcBef>
                <a:spcPts val="500"/>
              </a:spcBef>
              <a:defRPr sz="1300" b="0">
                <a:solidFill>
                  <a:srgbClr val="404040"/>
                </a:solidFill>
              </a:defRPr>
            </a:pPr>
            <a:r>
              <a:t>安全审计：关键操作（如角色变更、账号禁用）均记录操作日志，保留操作人、操作时间与变更内容，满足教育系统对安全审计的合规要求。</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9144000" cy="420624"/>
          </a:xfrm>
          <a:prstGeom prst="rect">
            <a:avLst/>
          </a:prstGeom>
          <a:noFill/>
        </p:spPr>
        <p:txBody>
          <a:bodyPr wrap="none">
            <a:spAutoFit/>
          </a:bodyPr>
          <a:lstStyle/>
          <a:p>
            <a:pPr algn="l">
              <a:spcBef>
                <a:spcPts val="0"/>
              </a:spcBef>
              <a:defRPr sz="2000" b="1">
                <a:solidFill>
                  <a:srgbClr val="FFFFFF"/>
                </a:solidFill>
              </a:defRPr>
            </a:pPr>
            <a:r>
              <a:t>系统测试与运行结果</a:t>
            </a:r>
          </a:p>
        </p:txBody>
      </p:sp>
      <p:sp>
        <p:nvSpPr>
          <p:cNvPr id="4" name="Rectangle 3"/>
          <p:cNvSpPr/>
          <p:nvPr/>
        </p:nvSpPr>
        <p:spPr>
          <a:xfrm>
            <a:off x="10515600" y="0"/>
            <a:ext cx="1676095" cy="5029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0" y="36576"/>
            <a:ext cx="1676095" cy="420624"/>
          </a:xfrm>
          <a:prstGeom prst="rect">
            <a:avLst/>
          </a:prstGeom>
          <a:noFill/>
        </p:spPr>
        <p:txBody>
          <a:bodyPr wrap="none">
            <a:spAutoFit/>
          </a:bodyPr>
          <a:lstStyle/>
          <a:p>
            <a:pPr algn="ctr">
              <a:spcBef>
                <a:spcPts val="0"/>
              </a:spcBef>
              <a:defRPr sz="1400" b="0">
                <a:solidFill>
                  <a:srgbClr val="FFFFFF"/>
                </a:solidFill>
              </a:defRPr>
            </a:pPr>
            <a:r>
              <a:t>第 05 部分</a:t>
            </a:r>
          </a:p>
        </p:txBody>
      </p:sp>
      <p:sp>
        <p:nvSpPr>
          <p:cNvPr id="6" name="Rectangle 5"/>
          <p:cNvSpPr/>
          <p:nvPr/>
        </p:nvSpPr>
        <p:spPr>
          <a:xfrm>
            <a:off x="0" y="6583680"/>
            <a:ext cx="12191695" cy="2743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01968"/>
            <a:ext cx="9144000" cy="237744"/>
          </a:xfrm>
          <a:prstGeom prst="rect">
            <a:avLst/>
          </a:prstGeom>
          <a:noFill/>
        </p:spPr>
        <p:txBody>
          <a:bodyPr wrap="none">
            <a:spAutoFit/>
          </a:bodyPr>
          <a:lstStyle/>
          <a:p>
            <a:pPr algn="l">
              <a:spcBef>
                <a:spcPts val="0"/>
              </a:spcBef>
              <a:defRPr sz="1100" b="0">
                <a:solidFill>
                  <a:srgbClr val="BDD7EE"/>
                </a:solidFill>
              </a:defRPr>
            </a:pPr>
            <a:r>
              <a:t>青少年活动中心管理平台 · 毕业设计答辩</a:t>
            </a:r>
          </a:p>
        </p:txBody>
      </p:sp>
      <p:sp>
        <p:nvSpPr>
          <p:cNvPr id="8" name="TextBox 7"/>
          <p:cNvSpPr txBox="1"/>
          <p:nvPr/>
        </p:nvSpPr>
        <p:spPr>
          <a:xfrm>
            <a:off x="11064240" y="6601968"/>
            <a:ext cx="914400" cy="237744"/>
          </a:xfrm>
          <a:prstGeom prst="rect">
            <a:avLst/>
          </a:prstGeom>
          <a:noFill/>
        </p:spPr>
        <p:txBody>
          <a:bodyPr wrap="none">
            <a:spAutoFit/>
          </a:bodyPr>
          <a:lstStyle/>
          <a:p>
            <a:pPr algn="r">
              <a:spcBef>
                <a:spcPts val="0"/>
              </a:spcBef>
              <a:defRPr sz="1100" b="0">
                <a:solidFill>
                  <a:srgbClr val="BDD7EE"/>
                </a:solidFill>
              </a:defRPr>
            </a:pPr>
            <a:r>
              <a:t>14 / 15</a:t>
            </a:r>
          </a:p>
        </p:txBody>
      </p:sp>
      <p:sp>
        <p:nvSpPr>
          <p:cNvPr id="9" name="Rectangle 8"/>
          <p:cNvSpPr/>
          <p:nvPr/>
        </p:nvSpPr>
        <p:spPr>
          <a:xfrm>
            <a:off x="0" y="502920"/>
            <a:ext cx="12191695" cy="6080760"/>
          </a:xfrm>
          <a:prstGeom prst="rect">
            <a:avLst/>
          </a:prstGeom>
          <a:solidFill>
            <a:srgbClr val="F2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594360"/>
            <a:ext cx="11430000" cy="731520"/>
          </a:xfrm>
          <a:prstGeom prst="rect">
            <a:avLst/>
          </a:prstGeom>
          <a:noFill/>
        </p:spPr>
        <p:txBody>
          <a:bodyPr wrap="none">
            <a:spAutoFit/>
          </a:bodyPr>
          <a:lstStyle/>
          <a:p>
            <a:pPr algn="l">
              <a:spcBef>
                <a:spcPts val="0"/>
              </a:spcBef>
              <a:defRPr sz="3000" b="1">
                <a:solidFill>
                  <a:srgbClr val="1B3A6B"/>
                </a:solidFill>
              </a:defRPr>
            </a:pPr>
            <a:r>
              <a:t>05  系统测试与运行结果分析</a:t>
            </a:r>
          </a:p>
        </p:txBody>
      </p:sp>
      <p:sp>
        <p:nvSpPr>
          <p:cNvPr id="11" name="Rectangle 10"/>
          <p:cNvSpPr/>
          <p:nvPr/>
        </p:nvSpPr>
        <p:spPr>
          <a:xfrm>
            <a:off x="365760" y="1261872"/>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1371600"/>
            <a:ext cx="5394960" cy="484632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371600"/>
            <a:ext cx="5394960"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 y="1408176"/>
            <a:ext cx="5175504" cy="329184"/>
          </a:xfrm>
          <a:prstGeom prst="rect">
            <a:avLst/>
          </a:prstGeom>
          <a:noFill/>
        </p:spPr>
        <p:txBody>
          <a:bodyPr wrap="none">
            <a:spAutoFit/>
          </a:bodyPr>
          <a:lstStyle/>
          <a:p>
            <a:pPr algn="l">
              <a:spcBef>
                <a:spcPts val="0"/>
              </a:spcBef>
              <a:defRPr sz="1700" b="1">
                <a:solidFill>
                  <a:srgbClr val="FFFFFF"/>
                </a:solidFill>
              </a:defRPr>
            </a:pPr>
            <a:r>
              <a:t>功能测试结果</a:t>
            </a:r>
          </a:p>
        </p:txBody>
      </p:sp>
      <p:sp>
        <p:nvSpPr>
          <p:cNvPr id="15" name="TextBox 14"/>
          <p:cNvSpPr txBox="1"/>
          <p:nvPr/>
        </p:nvSpPr>
        <p:spPr>
          <a:xfrm>
            <a:off x="594360" y="1828800"/>
            <a:ext cx="5074920" cy="4297680"/>
          </a:xfrm>
          <a:prstGeom prst="rect">
            <a:avLst/>
          </a:prstGeom>
          <a:noFill/>
        </p:spPr>
        <p:txBody>
          <a:bodyPr wrap="none">
            <a:spAutoFit/>
          </a:bodyPr>
          <a:lstStyle/>
          <a:p>
            <a:pPr algn="l">
              <a:spcBef>
                <a:spcPts val="200"/>
              </a:spcBef>
              <a:defRPr sz="1300" b="0">
                <a:solidFill>
                  <a:srgbClr val="404040"/>
                </a:solidFill>
              </a:defRPr>
            </a:pPr>
            <a:r>
              <a:t>登录模块：针对正确账号、错误密码、不同角色跳转等场景进行测试，系统均能正确处理，权限隔离效果符合设计预期。</a:t>
            </a:r>
          </a:p>
          <a:p>
            <a:pPr algn="l">
              <a:spcBef>
                <a:spcPts val="500"/>
              </a:spcBef>
              <a:defRPr sz="1300" b="0">
                <a:solidFill>
                  <a:srgbClr val="404040"/>
                </a:solidFill>
              </a:defRPr>
            </a:pPr>
            <a:r>
              <a:t>课程管理：测试了新增、编辑、删除、分页查询、关键字搜索等全部操作，数据均能正确持久化，UI 反馈及时准确。</a:t>
            </a:r>
          </a:p>
          <a:p>
            <a:pPr algn="l">
              <a:spcBef>
                <a:spcPts val="500"/>
              </a:spcBef>
              <a:defRPr sz="1300" b="0">
                <a:solidFill>
                  <a:srgbClr val="404040"/>
                </a:solidFill>
              </a:defRPr>
            </a:pPr>
            <a:r>
              <a:t>成绩管理：录入合法成绩、非法字符、超范围数值等多种场景，前后端校验均能正确拦截非法输入，合法数据成功入库。</a:t>
            </a:r>
          </a:p>
          <a:p>
            <a:pPr algn="l">
              <a:spcBef>
                <a:spcPts val="500"/>
              </a:spcBef>
              <a:defRPr sz="1300" b="0">
                <a:solidFill>
                  <a:srgbClr val="404040"/>
                </a:solidFill>
              </a:defRPr>
            </a:pPr>
            <a:r>
              <a:t>考勤管理：对多学生、多课次、跨日期的考勤场景进行测试，数据按预期记录与统计，出勤率计算结果正确。</a:t>
            </a:r>
          </a:p>
          <a:p>
            <a:pPr algn="l">
              <a:spcBef>
                <a:spcPts val="500"/>
              </a:spcBef>
              <a:defRPr sz="1300" b="0">
                <a:solidFill>
                  <a:srgbClr val="404040"/>
                </a:solidFill>
              </a:defRPr>
            </a:pPr>
            <a:r>
              <a:t>用户管理：批量新增、编辑角色、禁用账号后立即登录等测试用例均通过，权限变更实时生效。</a:t>
            </a:r>
          </a:p>
        </p:txBody>
      </p:sp>
      <p:sp>
        <p:nvSpPr>
          <p:cNvPr id="16" name="Rounded Rectangle 15"/>
          <p:cNvSpPr/>
          <p:nvPr/>
        </p:nvSpPr>
        <p:spPr>
          <a:xfrm>
            <a:off x="6126480" y="1371600"/>
            <a:ext cx="5669280" cy="484632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1371600"/>
            <a:ext cx="5669280"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6208" y="1408176"/>
            <a:ext cx="5449824" cy="329184"/>
          </a:xfrm>
          <a:prstGeom prst="rect">
            <a:avLst/>
          </a:prstGeom>
          <a:noFill/>
        </p:spPr>
        <p:txBody>
          <a:bodyPr wrap="none">
            <a:spAutoFit/>
          </a:bodyPr>
          <a:lstStyle/>
          <a:p>
            <a:pPr algn="l">
              <a:spcBef>
                <a:spcPts val="0"/>
              </a:spcBef>
              <a:defRPr sz="1700" b="1">
                <a:solidFill>
                  <a:srgbClr val="FFFFFF"/>
                </a:solidFill>
              </a:defRPr>
            </a:pPr>
            <a:r>
              <a:t>测试方法与质量保障</a:t>
            </a:r>
          </a:p>
        </p:txBody>
      </p:sp>
      <p:sp>
        <p:nvSpPr>
          <p:cNvPr id="19" name="TextBox 18"/>
          <p:cNvSpPr txBox="1"/>
          <p:nvPr/>
        </p:nvSpPr>
        <p:spPr>
          <a:xfrm>
            <a:off x="6309360" y="1828800"/>
            <a:ext cx="5349240" cy="4297680"/>
          </a:xfrm>
          <a:prstGeom prst="rect">
            <a:avLst/>
          </a:prstGeom>
          <a:noFill/>
        </p:spPr>
        <p:txBody>
          <a:bodyPr wrap="none">
            <a:spAutoFit/>
          </a:bodyPr>
          <a:lstStyle/>
          <a:p>
            <a:pPr algn="l">
              <a:spcBef>
                <a:spcPts val="200"/>
              </a:spcBef>
              <a:defRPr sz="1300" b="0">
                <a:solidFill>
                  <a:srgbClr val="404040"/>
                </a:solidFill>
              </a:defRPr>
            </a:pPr>
            <a:r>
              <a:t>单元测试：使用 JUnit 4 对 Service 层关键方法（如报名名额检查、成绩合法性校验）进行单元测试，覆盖正常路径与边界条件，测试通过率 100%（`mvn -q test` 验证）。</a:t>
            </a:r>
          </a:p>
          <a:p>
            <a:pPr algn="l">
              <a:spcBef>
                <a:spcPts val="500"/>
              </a:spcBef>
              <a:defRPr sz="1300" b="0">
                <a:solidFill>
                  <a:srgbClr val="404040"/>
                </a:solidFill>
              </a:defRPr>
            </a:pPr>
            <a:r>
              <a:t>集成测试：通过模拟完整用户操作路径（登录 → 报名 → 成绩录入 → 考勤）的端到端测试，验证各模块间数据流转的正确性。</a:t>
            </a:r>
          </a:p>
          <a:p>
            <a:pPr algn="l">
              <a:spcBef>
                <a:spcPts val="500"/>
              </a:spcBef>
              <a:defRPr sz="1300" b="0">
                <a:solidFill>
                  <a:srgbClr val="404040"/>
                </a:solidFill>
              </a:defRPr>
            </a:pPr>
            <a:r>
              <a:t>兼容性测试：在 Chrome、Edge、Firefox 主流浏览器上进行页面兼容性验证，Bootstrap 响应式布局在不同分辨率下均能正常渲染。</a:t>
            </a:r>
          </a:p>
          <a:p>
            <a:pPr algn="l">
              <a:spcBef>
                <a:spcPts val="500"/>
              </a:spcBef>
              <a:defRPr sz="1300" b="0">
                <a:solidFill>
                  <a:srgbClr val="404040"/>
                </a:solidFill>
              </a:defRPr>
            </a:pPr>
            <a:r>
              <a:t>安全性验证：对 SQL 注入、越权访问等常见 Web 安全威胁进行手工测试，MyBatis 参数化查询与 Session 角色校验有效防御了上述攻击。</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45720"/>
            <a:ext cx="9144000" cy="420624"/>
          </a:xfrm>
          <a:prstGeom prst="rect">
            <a:avLst/>
          </a:prstGeom>
          <a:noFill/>
        </p:spPr>
        <p:txBody>
          <a:bodyPr wrap="none">
            <a:spAutoFit/>
          </a:bodyPr>
          <a:lstStyle/>
          <a:p>
            <a:pPr algn="l">
              <a:spcBef>
                <a:spcPts val="0"/>
              </a:spcBef>
              <a:defRPr sz="2000" b="1">
                <a:solidFill>
                  <a:srgbClr val="FFFFFF"/>
                </a:solidFill>
              </a:defRPr>
            </a:pPr>
            <a:r>
              <a:t>总结与展望</a:t>
            </a:r>
          </a:p>
        </p:txBody>
      </p:sp>
      <p:sp>
        <p:nvSpPr>
          <p:cNvPr id="4" name="Rectangle 3"/>
          <p:cNvSpPr/>
          <p:nvPr/>
        </p:nvSpPr>
        <p:spPr>
          <a:xfrm>
            <a:off x="10515600" y="0"/>
            <a:ext cx="1676095" cy="5029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0" y="36576"/>
            <a:ext cx="1676095" cy="420624"/>
          </a:xfrm>
          <a:prstGeom prst="rect">
            <a:avLst/>
          </a:prstGeom>
          <a:noFill/>
        </p:spPr>
        <p:txBody>
          <a:bodyPr wrap="none">
            <a:spAutoFit/>
          </a:bodyPr>
          <a:lstStyle/>
          <a:p>
            <a:pPr algn="ctr">
              <a:spcBef>
                <a:spcPts val="0"/>
              </a:spcBef>
              <a:defRPr sz="1400" b="0">
                <a:solidFill>
                  <a:srgbClr val="FFFFFF"/>
                </a:solidFill>
              </a:defRPr>
            </a:pPr>
            <a:r>
              <a:t>第 06 部分</a:t>
            </a:r>
          </a:p>
        </p:txBody>
      </p:sp>
      <p:sp>
        <p:nvSpPr>
          <p:cNvPr id="6" name="Rectangle 5"/>
          <p:cNvSpPr/>
          <p:nvPr/>
        </p:nvSpPr>
        <p:spPr>
          <a:xfrm>
            <a:off x="0" y="6583680"/>
            <a:ext cx="12191695" cy="27432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01968"/>
            <a:ext cx="9144000" cy="237744"/>
          </a:xfrm>
          <a:prstGeom prst="rect">
            <a:avLst/>
          </a:prstGeom>
          <a:noFill/>
        </p:spPr>
        <p:txBody>
          <a:bodyPr wrap="none">
            <a:spAutoFit/>
          </a:bodyPr>
          <a:lstStyle/>
          <a:p>
            <a:pPr algn="l">
              <a:spcBef>
                <a:spcPts val="0"/>
              </a:spcBef>
              <a:defRPr sz="1100" b="0">
                <a:solidFill>
                  <a:srgbClr val="BDD7EE"/>
                </a:solidFill>
              </a:defRPr>
            </a:pPr>
            <a:r>
              <a:t>青少年活动中心管理平台 · 毕业设计答辩</a:t>
            </a:r>
          </a:p>
        </p:txBody>
      </p:sp>
      <p:sp>
        <p:nvSpPr>
          <p:cNvPr id="8" name="TextBox 7"/>
          <p:cNvSpPr txBox="1"/>
          <p:nvPr/>
        </p:nvSpPr>
        <p:spPr>
          <a:xfrm>
            <a:off x="11064240" y="6601968"/>
            <a:ext cx="914400" cy="237744"/>
          </a:xfrm>
          <a:prstGeom prst="rect">
            <a:avLst/>
          </a:prstGeom>
          <a:noFill/>
        </p:spPr>
        <p:txBody>
          <a:bodyPr wrap="none">
            <a:spAutoFit/>
          </a:bodyPr>
          <a:lstStyle/>
          <a:p>
            <a:pPr algn="r">
              <a:spcBef>
                <a:spcPts val="0"/>
              </a:spcBef>
              <a:defRPr sz="1100" b="0">
                <a:solidFill>
                  <a:srgbClr val="BDD7EE"/>
                </a:solidFill>
              </a:defRPr>
            </a:pPr>
            <a:r>
              <a:t>15 / 15</a:t>
            </a:r>
          </a:p>
        </p:txBody>
      </p:sp>
      <p:sp>
        <p:nvSpPr>
          <p:cNvPr id="9" name="Rectangle 8"/>
          <p:cNvSpPr/>
          <p:nvPr/>
        </p:nvSpPr>
        <p:spPr>
          <a:xfrm>
            <a:off x="0" y="502920"/>
            <a:ext cx="12191695" cy="6080760"/>
          </a:xfrm>
          <a:prstGeom prst="rect">
            <a:avLst/>
          </a:prstGeom>
          <a:solidFill>
            <a:srgbClr val="F2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594360"/>
            <a:ext cx="11430000" cy="731520"/>
          </a:xfrm>
          <a:prstGeom prst="rect">
            <a:avLst/>
          </a:prstGeom>
          <a:noFill/>
        </p:spPr>
        <p:txBody>
          <a:bodyPr wrap="none">
            <a:spAutoFit/>
          </a:bodyPr>
          <a:lstStyle/>
          <a:p>
            <a:pPr algn="l">
              <a:spcBef>
                <a:spcPts val="0"/>
              </a:spcBef>
              <a:defRPr sz="3000" b="1">
                <a:solidFill>
                  <a:srgbClr val="1B3A6B"/>
                </a:solidFill>
              </a:defRPr>
            </a:pPr>
            <a:r>
              <a:t>06  总结与研究展望</a:t>
            </a:r>
          </a:p>
        </p:txBody>
      </p:sp>
      <p:sp>
        <p:nvSpPr>
          <p:cNvPr id="11" name="Rectangle 10"/>
          <p:cNvSpPr/>
          <p:nvPr/>
        </p:nvSpPr>
        <p:spPr>
          <a:xfrm>
            <a:off x="365760" y="1261872"/>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1371600"/>
            <a:ext cx="5394960" cy="484632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371600"/>
            <a:ext cx="5394960"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 y="1408176"/>
            <a:ext cx="5175504" cy="329184"/>
          </a:xfrm>
          <a:prstGeom prst="rect">
            <a:avLst/>
          </a:prstGeom>
          <a:noFill/>
        </p:spPr>
        <p:txBody>
          <a:bodyPr wrap="none">
            <a:spAutoFit/>
          </a:bodyPr>
          <a:lstStyle/>
          <a:p>
            <a:pPr algn="l">
              <a:spcBef>
                <a:spcPts val="0"/>
              </a:spcBef>
              <a:defRPr sz="1700" b="1">
                <a:solidFill>
                  <a:srgbClr val="FFFFFF"/>
                </a:solidFill>
              </a:defRPr>
            </a:pPr>
            <a:r>
              <a:t>工作总结</a:t>
            </a:r>
          </a:p>
        </p:txBody>
      </p:sp>
      <p:sp>
        <p:nvSpPr>
          <p:cNvPr id="15" name="TextBox 14"/>
          <p:cNvSpPr txBox="1"/>
          <p:nvPr/>
        </p:nvSpPr>
        <p:spPr>
          <a:xfrm>
            <a:off x="594360" y="1828800"/>
            <a:ext cx="5074920" cy="4297680"/>
          </a:xfrm>
          <a:prstGeom prst="rect">
            <a:avLst/>
          </a:prstGeom>
          <a:noFill/>
        </p:spPr>
        <p:txBody>
          <a:bodyPr wrap="none">
            <a:spAutoFit/>
          </a:bodyPr>
          <a:lstStyle/>
          <a:p>
            <a:pPr algn="l">
              <a:spcBef>
                <a:spcPts val="200"/>
              </a:spcBef>
              <a:defRPr sz="1300" b="0">
                <a:solidFill>
                  <a:srgbClr val="404040"/>
                </a:solidFill>
              </a:defRPr>
            </a:pPr>
            <a:r>
              <a:t>本文设计并实现了一套面向青少年活动中心的综合管理平台，系统基于 Spring MVC + MyBatis + MySQL 技术栈，采用 B/S 架构，完整实现了学生端、教师端与管理员端三类角色的业务功能。</a:t>
            </a:r>
          </a:p>
          <a:p>
            <a:pPr algn="l">
              <a:spcBef>
                <a:spcPts val="500"/>
              </a:spcBef>
              <a:defRPr sz="1300" b="0">
                <a:solidFill>
                  <a:srgbClr val="404040"/>
                </a:solidFill>
              </a:defRPr>
            </a:pPr>
            <a:r>
              <a:t>系统核心功能模块包括：统一认证与权限分发、课程发布与管理、学生在线报名、教师成绩录入、课程考勤管理及管理员用户维护，全部功能均经过测试验证，运行稳定。</a:t>
            </a:r>
          </a:p>
          <a:p>
            <a:pPr algn="l">
              <a:spcBef>
                <a:spcPts val="500"/>
              </a:spcBef>
              <a:defRPr sz="1300" b="0">
                <a:solidFill>
                  <a:srgbClr val="404040"/>
                </a:solidFill>
              </a:defRPr>
            </a:pPr>
            <a:r>
              <a:t>系统采用标准 MVC 分层架构，代码结构清晰，模块耦合度低，具备良好的可维护性，为后续功能扩展提供了坚实基础。</a:t>
            </a:r>
          </a:p>
          <a:p>
            <a:pPr algn="l">
              <a:spcBef>
                <a:spcPts val="500"/>
              </a:spcBef>
              <a:defRPr sz="1300" b="0">
                <a:solidFill>
                  <a:srgbClr val="404040"/>
                </a:solidFill>
              </a:defRPr>
            </a:pPr>
            <a:r>
              <a:t>本次设计在实践中深化了对 JavaEE 企业级开发规范、数据库设计原则及 Web 安全防护策略的理解与应用能力。</a:t>
            </a:r>
          </a:p>
        </p:txBody>
      </p:sp>
      <p:sp>
        <p:nvSpPr>
          <p:cNvPr id="16" name="Rounded Rectangle 15"/>
          <p:cNvSpPr/>
          <p:nvPr/>
        </p:nvSpPr>
        <p:spPr>
          <a:xfrm>
            <a:off x="6126480" y="1371600"/>
            <a:ext cx="5669280" cy="4846320"/>
          </a:xfrm>
          <a:prstGeom prst="roundRect">
            <a:avLst/>
          </a:prstGeom>
          <a:solidFill>
            <a:srgbClr val="FFFFFF"/>
          </a:solidFill>
          <a:ln>
            <a:solidFill>
              <a:srgbClr val="9DB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1371600"/>
            <a:ext cx="5669280" cy="38404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6208" y="1408176"/>
            <a:ext cx="5449824" cy="329184"/>
          </a:xfrm>
          <a:prstGeom prst="rect">
            <a:avLst/>
          </a:prstGeom>
          <a:noFill/>
        </p:spPr>
        <p:txBody>
          <a:bodyPr wrap="none">
            <a:spAutoFit/>
          </a:bodyPr>
          <a:lstStyle/>
          <a:p>
            <a:pPr algn="l">
              <a:spcBef>
                <a:spcPts val="0"/>
              </a:spcBef>
              <a:defRPr sz="1700" b="1">
                <a:solidFill>
                  <a:srgbClr val="FFFFFF"/>
                </a:solidFill>
              </a:defRPr>
            </a:pPr>
            <a:r>
              <a:t>研究展望</a:t>
            </a:r>
          </a:p>
        </p:txBody>
      </p:sp>
      <p:sp>
        <p:nvSpPr>
          <p:cNvPr id="19" name="TextBox 18"/>
          <p:cNvSpPr txBox="1"/>
          <p:nvPr/>
        </p:nvSpPr>
        <p:spPr>
          <a:xfrm>
            <a:off x="6309360" y="1828800"/>
            <a:ext cx="5349240" cy="4297680"/>
          </a:xfrm>
          <a:prstGeom prst="rect">
            <a:avLst/>
          </a:prstGeom>
          <a:noFill/>
        </p:spPr>
        <p:txBody>
          <a:bodyPr wrap="none">
            <a:spAutoFit/>
          </a:bodyPr>
          <a:lstStyle/>
          <a:p>
            <a:pPr algn="l">
              <a:spcBef>
                <a:spcPts val="200"/>
              </a:spcBef>
              <a:defRPr sz="1300" b="0">
                <a:solidFill>
                  <a:srgbClr val="404040"/>
                </a:solidFill>
              </a:defRPr>
            </a:pPr>
            <a:r>
              <a:t>数据可视化：后续可引入 ECharts 图表组件，对课程报名趋势、成绩分布、考勤统计等数据进行可视化展示，辅助管理层进行数据驱动决策。</a:t>
            </a:r>
          </a:p>
          <a:p>
            <a:pPr algn="l">
              <a:spcBef>
                <a:spcPts val="500"/>
              </a:spcBef>
              <a:defRPr sz="1300" b="0">
                <a:solidFill>
                  <a:srgbClr val="404040"/>
                </a:solidFill>
              </a:defRPr>
            </a:pPr>
            <a:r>
              <a:t>移动端适配：在现有响应式框架基础上，进一步优化移动端体验，或开发微信小程序端，方便学生随时随地查看课程与出勤信息。</a:t>
            </a:r>
          </a:p>
          <a:p>
            <a:pPr algn="l">
              <a:spcBef>
                <a:spcPts val="500"/>
              </a:spcBef>
              <a:defRPr sz="1300" b="0">
                <a:solidFill>
                  <a:srgbClr val="404040"/>
                </a:solidFill>
              </a:defRPr>
            </a:pPr>
            <a:r>
              <a:t>智能推荐：利用协同过滤算法或基于内容的推荐策略，根据学生历史选课记录为其推荐感兴趣的课程，提升平台活跃度与用户黏性。</a:t>
            </a:r>
          </a:p>
          <a:p>
            <a:pPr algn="l">
              <a:spcBef>
                <a:spcPts val="500"/>
              </a:spcBef>
              <a:defRPr sz="1300" b="0">
                <a:solidFill>
                  <a:srgbClr val="404040"/>
                </a:solidFill>
              </a:defRPr>
            </a:pPr>
            <a:r>
              <a:t>消息通知：集成短信或站内消息推送服务，在报名审批、成绩发布、考勤异常等关键节点自动通知相关用户，提升信息传递及时性。</a:t>
            </a:r>
          </a:p>
        </p:txBody>
      </p:sp>
      <p:sp>
        <p:nvSpPr>
          <p:cNvPr id="20" name="Rectangle 19"/>
          <p:cNvSpPr/>
          <p:nvPr/>
        </p:nvSpPr>
        <p:spPr>
          <a:xfrm>
            <a:off x="411480" y="6272784"/>
            <a:ext cx="11384280" cy="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6035040"/>
            <a:ext cx="11384280" cy="457200"/>
          </a:xfrm>
          <a:prstGeom prst="rect">
            <a:avLst/>
          </a:prstGeom>
          <a:noFill/>
        </p:spPr>
        <p:txBody>
          <a:bodyPr wrap="none">
            <a:spAutoFit/>
          </a:bodyPr>
          <a:lstStyle/>
          <a:p>
            <a:pPr algn="ctr">
              <a:spcBef>
                <a:spcPts val="0"/>
              </a:spcBef>
              <a:defRPr sz="1800" b="1">
                <a:solidFill>
                  <a:srgbClr val="1B3A6B"/>
                </a:solidFill>
              </a:defRPr>
            </a:pPr>
            <a:r>
              <a:t>感谢各位评审老师的宝贵时间，请批评指正！</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