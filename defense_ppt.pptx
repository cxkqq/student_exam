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475488"/>
            <a:ext cx="11384280" cy="594360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475488"/>
            <a:ext cx="11384280" cy="64008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t>本科毕业设计答辩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2412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1F4A85"/>
                </a:solidFill>
              </a:defRPr>
            </a:pPr>
            <a:r>
              <a:t>青少年活动中心管理平台</a:t>
            </a:r>
          </a:p>
          <a:p>
            <a:pPr algn="l">
              <a:spcBef>
                <a:spcPts val="400"/>
              </a:spcBef>
              <a:defRPr sz="1800" b="0">
                <a:solidFill>
                  <a:srgbClr val="2F75B5"/>
                </a:solidFill>
              </a:defRPr>
            </a:pPr>
            <a:r>
              <a:t>—— 基于 Spring MVC + MyBatis 的多角色管理系统设计与实现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102412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93268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A2A2A"/>
                </a:solidFill>
              </a:defRPr>
            </a:pPr>
            <a:r>
              <a:t>学院：工学院</a:t>
            </a:r>
          </a:p>
          <a:p>
            <a:pPr algn="l">
              <a:spcBef>
                <a:spcPts val="400"/>
              </a:spcBef>
              <a:defRPr sz="2000" b="0">
                <a:solidFill>
                  <a:srgbClr val="2A2A2A"/>
                </a:solidFill>
              </a:defRPr>
            </a:pPr>
            <a:r>
              <a:t>专业：计算机科学与技术</a:t>
            </a:r>
          </a:p>
          <a:p>
            <a:pPr algn="l">
              <a:spcBef>
                <a:spcPts val="400"/>
              </a:spcBef>
              <a:defRPr sz="2000" b="0">
                <a:solidFill>
                  <a:srgbClr val="2A2A2A"/>
                </a:solidFill>
              </a:defRPr>
            </a:pPr>
            <a:r>
              <a:t>学生：[姓名]   学号：[学号]</a:t>
            </a:r>
          </a:p>
          <a:p>
            <a:pPr algn="l">
              <a:spcBef>
                <a:spcPts val="400"/>
              </a:spcBef>
              <a:defRPr sz="2000" b="0">
                <a:solidFill>
                  <a:srgbClr val="2A2A2A"/>
                </a:solidFill>
              </a:defRPr>
            </a:pPr>
            <a:r>
              <a:t>指导教师：[教师姓名]   答辩日期：2026 年  月 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00  答辩目录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2/16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3444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6304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01  毕设系统背景与研究意义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02  需求分析与总体设计目标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0332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93192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03  采用技术与开发环境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93776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04  软件结构图与系统架构说明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3444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46304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05  其它关键模型图（用例 / ER / 时序）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46888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6974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06  核心界面展示与业务流程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70332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93192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07  测试结果、总结与研究展望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937760"/>
            <a:ext cx="5029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516636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</a:defRPr>
            </a:pPr>
            <a:r>
              <a:t>08  致谢（单独一页）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01  毕设系统背景与研究意义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3/16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57607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76072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14984"/>
            <a:ext cx="54864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72184"/>
            <a:ext cx="544068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2A2A2A"/>
                </a:solidFill>
              </a:defRPr>
            </a:pPr>
            <a:r>
              <a:t>线下教学活动管理效率低、信息分散，难以满足精细化管理需求。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A2A2A"/>
                </a:solidFill>
              </a:defRPr>
            </a:pPr>
            <a:r>
              <a:t>传统纸质登记方式存在重复录入、统计滞后和易出错等问题，教师需要投入大量时间处理报名、成绩和考勤表。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A2A2A"/>
                </a:solidFill>
              </a:defRPr>
            </a:pPr>
            <a:r>
              <a:t>学生无法实时查看课程名额、成绩反馈与出勤记录，导致信息不透明，影响学习体验。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960120"/>
            <a:ext cx="56692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960120"/>
            <a:ext cx="56692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014984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课题意义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472184"/>
            <a:ext cx="534924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2A2A2A"/>
                </a:solidFill>
              </a:defRPr>
            </a:pPr>
            <a:r>
              <a:t>建设统一平台，实现“报名—教学—评价—归档”全流程数字化。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A2A2A"/>
                </a:solidFill>
              </a:defRPr>
            </a:pPr>
            <a:r>
              <a:t>通过多角色协同管理（学生/教师/管理员），提升数据一致性和业务协作效率。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A2A2A"/>
                </a:solidFill>
              </a:defRPr>
            </a:pPr>
            <a:r>
              <a:t>为后续数据分析、可视化决策和智慧校园扩展提供可复用的信息化基础。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A2A2A"/>
                </a:solidFill>
              </a:defRPr>
            </a:pPr>
            <a:r>
              <a:t>本课题具有明确工程实践价值，能够直接服务教学活动管理场景。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02  需求分析与总体目标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4/16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38404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38404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14984"/>
            <a:ext cx="35661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学生端需求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72184"/>
            <a:ext cx="352044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支持课程浏览、在线报名、成绩查询、考勤查看和个人信息维护。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界面应简洁直观，减少学习成本，支持快速完成高频操作。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960120"/>
            <a:ext cx="38404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960120"/>
            <a:ext cx="38404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014984"/>
            <a:ext cx="35661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教师端需求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472184"/>
            <a:ext cx="352044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支持课程增删改查、成绩录入、考勤登记与历史记录查询。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教师需在一页内完成批量操作，避免重复跳转，提升工作效率。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960120"/>
            <a:ext cx="365760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960120"/>
            <a:ext cx="365760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1" y="1014984"/>
            <a:ext cx="33832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管理员端需求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1472184"/>
            <a:ext cx="333756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支持用户管理、角色授权、基础数据维护与系统运行保障。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通过角色权限控制保障系统安全，避免越权访问。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03  采用技术与开发环境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5/16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56692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6692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14984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后端与数据层技术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72184"/>
            <a:ext cx="5349240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Spring + Spring MVC：构建清晰 MVC 分层，便于控制器、业务逻辑与视图解耦。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MyBatis：使用 Mapper 映射管理 SQL，兼顾开发效率与查询灵活性。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MySQL：存储用户、课程、报名、成绩、考勤等核心业务数据。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703320"/>
            <a:ext cx="566928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3703320"/>
            <a:ext cx="56692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758183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前端与开发工具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15383"/>
            <a:ext cx="5349240" cy="2057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JSP + Bootstrap/AdminLTE：快速构建后台管理界面，保持统一视觉风格。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Maven：依赖管理与项目构建；JUnit：基础单元测试；Tomcat：Web 容器部署运行。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Git：版本管理，保障开发过程可追溯。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960120"/>
            <a:ext cx="56692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960120"/>
            <a:ext cx="56692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014984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技术选型理由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472184"/>
            <a:ext cx="534924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本项目采用成熟、稳定、易维护的 Java Web 技术栈，兼顾教学项目实现难度与工程可落地性。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采用 MVC 分层有利于后续模块扩展与多人协作开发。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MyBatis 对复杂查询支持友好，适合课程管理场景下多条件检索与统计需求。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前后端结构清晰、部署成本低，便于后续二次开发。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04  软件结构图（总体架构）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6/16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005840"/>
            <a:ext cx="2743200" cy="640080"/>
          </a:xfrm>
          <a:prstGeom prst="roundRect">
            <a:avLst/>
          </a:prstGeom>
          <a:solidFill>
            <a:srgbClr val="DFEAF7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088136"/>
            <a:ext cx="26517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4A85"/>
                </a:solidFill>
              </a:defRPr>
            </a:pPr>
            <a:r>
              <a:t>浏览器 / 前端页面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920240"/>
            <a:ext cx="27432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002536"/>
            <a:ext cx="26517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A2A2A"/>
                </a:solidFill>
              </a:defRPr>
            </a:pPr>
            <a:r>
              <a:t>Controller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926080"/>
            <a:ext cx="27432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008376"/>
            <a:ext cx="26517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A2A2A"/>
                </a:solidFill>
              </a:defRPr>
            </a:pPr>
            <a:r>
              <a:t>Service 层</a:t>
            </a:r>
            <a:br/>
            <a:r>
              <a:t>业务规则处理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926080"/>
            <a:ext cx="27432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008376"/>
            <a:ext cx="26517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A2A2A"/>
                </a:solidFill>
              </a:defRPr>
            </a:pPr>
            <a:r>
              <a:t>DAO / Mapper 层</a:t>
            </a:r>
            <a:br/>
            <a:r>
              <a:t>数据访问接口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926080"/>
            <a:ext cx="27432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008376"/>
            <a:ext cx="26517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A2A2A"/>
                </a:solidFill>
              </a:defRPr>
            </a:pPr>
            <a:r>
              <a:t>权限/日志/会话控制</a:t>
            </a:r>
            <a:br/>
            <a:r>
              <a:t>横切能力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114800"/>
            <a:ext cx="2743200" cy="731520"/>
          </a:xfrm>
          <a:prstGeom prst="roundRect">
            <a:avLst/>
          </a:prstGeom>
          <a:solidFill>
            <a:srgbClr val="DFEAF7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26517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4A85"/>
                </a:solidFill>
              </a:defRPr>
            </a:pPr>
            <a:r>
              <a:t>MySQL 数据库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645920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651760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3749039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4983480"/>
            <a:ext cx="115214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983480"/>
            <a:ext cx="1152144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5038344"/>
            <a:ext cx="1124711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结构说明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95544"/>
            <a:ext cx="11201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系统采用典型 B/S + MVC 架构：前端页面发起请求，经 Controller 路由到 Service 进行业务处理，再由 DAO/MyBatis 完成数据库读写。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分层结构提升了系统可维护性与可扩展性，支持后续快速新增模块。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05  其它重要模型图（一）：用例图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7/16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114300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1463040" cy="640080"/>
          </a:xfrm>
          <a:prstGeom prst="roundRect">
            <a:avLst/>
          </a:prstGeom>
          <a:solidFill>
            <a:srgbClr val="F2F6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02536"/>
            <a:ext cx="13716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学生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1463040" cy="640080"/>
          </a:xfrm>
          <a:prstGeom prst="roundRect">
            <a:avLst/>
          </a:prstGeom>
          <a:solidFill>
            <a:srgbClr val="F2F6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008376"/>
            <a:ext cx="13716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教师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463040" cy="640080"/>
          </a:xfrm>
          <a:prstGeom prst="roundRect">
            <a:avLst/>
          </a:prstGeom>
          <a:solidFill>
            <a:srgbClr val="F2F6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14215"/>
            <a:ext cx="13716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管理员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554480"/>
            <a:ext cx="1828800" cy="640080"/>
          </a:xfrm>
          <a:prstGeom prst="roundRect">
            <a:avLst/>
          </a:prstGeom>
          <a:solidFill>
            <a:srgbClr val="E6EFFA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636776"/>
            <a:ext cx="17373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4A85"/>
                </a:solidFill>
              </a:defRPr>
            </a:pPr>
            <a:r>
              <a:t>登录系统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86000"/>
            <a:ext cx="1828800" cy="640080"/>
          </a:xfrm>
          <a:prstGeom prst="roundRect">
            <a:avLst/>
          </a:prstGeom>
          <a:solidFill>
            <a:srgbClr val="E6EFFA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368296"/>
            <a:ext cx="17373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4A85"/>
                </a:solidFill>
              </a:defRPr>
            </a:pPr>
            <a:r>
              <a:t>课程管理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554480"/>
            <a:ext cx="1828800" cy="640080"/>
          </a:xfrm>
          <a:prstGeom prst="roundRect">
            <a:avLst/>
          </a:prstGeom>
          <a:solidFill>
            <a:srgbClr val="E6EFFA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1636776"/>
            <a:ext cx="17373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4A85"/>
                </a:solidFill>
              </a:defRPr>
            </a:pPr>
            <a:r>
              <a:t>报名选课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2286000"/>
            <a:ext cx="1828800" cy="640080"/>
          </a:xfrm>
          <a:prstGeom prst="roundRect">
            <a:avLst/>
          </a:prstGeom>
          <a:solidFill>
            <a:srgbClr val="E6EFFA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368296"/>
            <a:ext cx="17373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4A85"/>
                </a:solidFill>
              </a:defRPr>
            </a:pPr>
            <a:r>
              <a:t>成绩录入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108960"/>
            <a:ext cx="1828800" cy="640080"/>
          </a:xfrm>
          <a:prstGeom prst="roundRect">
            <a:avLst/>
          </a:prstGeom>
          <a:solidFill>
            <a:srgbClr val="E6EFFA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3191256"/>
            <a:ext cx="17373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4A85"/>
                </a:solidFill>
              </a:defRPr>
            </a:pPr>
            <a:r>
              <a:t>考勤管理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3931920"/>
            <a:ext cx="1828800" cy="640080"/>
          </a:xfrm>
          <a:prstGeom prst="roundRect">
            <a:avLst/>
          </a:prstGeom>
          <a:solidFill>
            <a:srgbClr val="E6EFFA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4014215"/>
            <a:ext cx="17373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4A85"/>
                </a:solidFill>
              </a:defRPr>
            </a:pPr>
            <a:r>
              <a:t>用户与权限管理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12080"/>
            <a:ext cx="111556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212080"/>
            <a:ext cx="111556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5266944"/>
            <a:ext cx="1088135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模型解读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724144"/>
            <a:ext cx="10835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该用例图体现了三类角色在系统中的边界：学生以查询与报名为主，教师负责教学过程管理，管理员承担全局配置与安全治理。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05  其它重要模型图（二）：ER 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8/16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114300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45336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4320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25496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Student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02336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5656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Teacher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46304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45336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Course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74320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825496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Scourse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10312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185415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Grade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3657600"/>
            <a:ext cx="2011680" cy="822960"/>
          </a:xfrm>
          <a:prstGeom prst="roundRect">
            <a:avLst/>
          </a:prstGeom>
          <a:solidFill>
            <a:srgbClr val="EEF3FB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3739896"/>
            <a:ext cx="1920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A85"/>
                </a:solidFill>
              </a:defRPr>
            </a:pPr>
            <a:r>
              <a:t>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828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F75B5"/>
                </a:solidFill>
              </a:defRPr>
            </a:pPr>
            <a:r>
              <a:t>1:1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108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F75B5"/>
                </a:solidFill>
              </a:defRPr>
            </a:pPr>
            <a:r>
              <a:t>1:1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3891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F75B5"/>
                </a:solidFill>
              </a:defRPr>
            </a:pPr>
            <a:r>
              <a:t>1:N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108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F75B5"/>
                </a:solidFill>
              </a:defRPr>
            </a:pPr>
            <a:r>
              <a:t>1:N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206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F75B5"/>
                </a:solidFill>
              </a:defRPr>
            </a:pPr>
            <a:r>
              <a:t>1:N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212080"/>
            <a:ext cx="111556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212080"/>
            <a:ext cx="111556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5266944"/>
            <a:ext cx="1088135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模型解读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24144"/>
            <a:ext cx="10835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ER 模型围绕选课中间表 Scourse 建立核心关联，确保成绩与考勤均能追溯到“学生-课程”这一稳定业务主线，降低数据冗余并提升一致性。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05  其它重要模型图（三）：关键业务时序图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9/16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114300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280160"/>
            <a:ext cx="1463040" cy="548640"/>
          </a:xfrm>
          <a:prstGeom prst="roundRect">
            <a:avLst/>
          </a:prstGeom>
          <a:solidFill>
            <a:srgbClr val="EAF1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362456"/>
            <a:ext cx="1371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A85"/>
                </a:solidFill>
              </a:defRPr>
            </a:pPr>
            <a:r>
              <a:t>学生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627632" y="1828800"/>
            <a:ext cx="36576" cy="3474720"/>
          </a:xfrm>
          <a:prstGeom prst="rect">
            <a:avLst/>
          </a:prstGeom>
          <a:solidFill>
            <a:srgbClr val="9F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1280160"/>
            <a:ext cx="1463040" cy="548640"/>
          </a:xfrm>
          <a:prstGeom prst="roundRect">
            <a:avLst/>
          </a:prstGeom>
          <a:solidFill>
            <a:srgbClr val="EAF1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79" y="1362456"/>
            <a:ext cx="1371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A85"/>
                </a:solidFill>
              </a:defRPr>
            </a:pPr>
            <a:r>
              <a:t>Web页面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22191" y="1828800"/>
            <a:ext cx="36576" cy="3474720"/>
          </a:xfrm>
          <a:prstGeom prst="rect">
            <a:avLst/>
          </a:prstGeom>
          <a:solidFill>
            <a:srgbClr val="9F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03520" y="1280160"/>
            <a:ext cx="1463040" cy="548640"/>
          </a:xfrm>
          <a:prstGeom prst="roundRect">
            <a:avLst/>
          </a:prstGeom>
          <a:solidFill>
            <a:srgbClr val="EAF1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1362456"/>
            <a:ext cx="1371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A85"/>
                </a:solidFill>
              </a:defRPr>
            </a:pPr>
            <a:r>
              <a:t>Controller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2" y="1828800"/>
            <a:ext cx="36576" cy="3474720"/>
          </a:xfrm>
          <a:prstGeom prst="rect">
            <a:avLst/>
          </a:prstGeom>
          <a:solidFill>
            <a:srgbClr val="9F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79" y="1280160"/>
            <a:ext cx="1463040" cy="548640"/>
          </a:xfrm>
          <a:prstGeom prst="roundRect">
            <a:avLst/>
          </a:prstGeom>
          <a:solidFill>
            <a:srgbClr val="EAF1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1362456"/>
            <a:ext cx="1371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A85"/>
                </a:solidFill>
              </a:defRPr>
            </a:pPr>
            <a:r>
              <a:t>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11311" y="1828800"/>
            <a:ext cx="36576" cy="3474720"/>
          </a:xfrm>
          <a:prstGeom prst="rect">
            <a:avLst/>
          </a:prstGeom>
          <a:solidFill>
            <a:srgbClr val="9F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0" y="1280160"/>
            <a:ext cx="1463040" cy="548640"/>
          </a:xfrm>
          <a:prstGeom prst="roundRect">
            <a:avLst/>
          </a:prstGeom>
          <a:solidFill>
            <a:srgbClr val="EAF1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362456"/>
            <a:ext cx="1371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A85"/>
                </a:solidFill>
              </a:defRPr>
            </a:pPr>
            <a:r>
              <a:t>DB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05872" y="1828800"/>
            <a:ext cx="36576" cy="3474720"/>
          </a:xfrm>
          <a:prstGeom prst="rect">
            <a:avLst/>
          </a:prstGeom>
          <a:solidFill>
            <a:srgbClr val="9F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148840"/>
            <a:ext cx="8961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1. 提交报名请求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697480"/>
            <a:ext cx="8961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2. 参数校验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246120"/>
            <a:ext cx="8961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3. 名额检查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94760"/>
            <a:ext cx="8961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4. 写入选课记录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343400"/>
            <a:ext cx="8961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5. 返回报名结果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12080"/>
            <a:ext cx="111556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212080"/>
            <a:ext cx="111556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5266944"/>
            <a:ext cx="1088135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模型解读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724144"/>
            <a:ext cx="10835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A2A2A"/>
                </a:solidFill>
              </a:defRPr>
            </a:pPr>
            <a:r>
              <a:t>时序图展示了“报名选课”过程中的核心调用链，强调了在 Service 层进行业务校验与事务处理对保障数据正确性的重要性。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06  核心界面展示（一）：登录与入口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10/16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7406640" cy="5394960"/>
          </a:xfrm>
          <a:prstGeom prst="roundRect">
            <a:avLst/>
          </a:prstGeom>
          <a:solidFill>
            <a:srgbClr val="F6F8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291840"/>
            <a:ext cx="70408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【核心界面截图】登录页</a:t>
            </a:r>
          </a:p>
          <a:p>
            <a:pPr algn="ctr">
              <a:spcBef>
                <a:spcPts val="800"/>
              </a:spcBef>
              <a:defRPr sz="1000" b="0">
                <a:solidFill>
                  <a:srgbClr val="5B5B5B"/>
                </a:solidFill>
              </a:defRPr>
            </a:pPr>
            <a:r>
              <a:t>https://github.com/user-attachments/assets/d5695ebd-ffb9-4766-93e6-bef8c12eaf6c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005840"/>
            <a:ext cx="37947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005840"/>
            <a:ext cx="379476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5592" y="1060704"/>
            <a:ext cx="3520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517904"/>
            <a:ext cx="34747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统一认证入口，登录后按角色自动分流到学生端、教师端和管理员端。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对异常登录进行提示，减少误操作；界面信息层次清晰，便于答辩演示。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06  核心界面展示（二）：教师端课程管理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11/16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7406640" cy="5394960"/>
          </a:xfrm>
          <a:prstGeom prst="roundRect">
            <a:avLst/>
          </a:prstGeom>
          <a:solidFill>
            <a:srgbClr val="F6F8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291840"/>
            <a:ext cx="70408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【核心界面截图】课程管理页</a:t>
            </a:r>
          </a:p>
          <a:p>
            <a:pPr algn="ctr">
              <a:spcBef>
                <a:spcPts val="800"/>
              </a:spcBef>
              <a:defRPr sz="1000" b="0">
                <a:solidFill>
                  <a:srgbClr val="5B5B5B"/>
                </a:solidFill>
              </a:defRPr>
            </a:pPr>
            <a:r>
              <a:t>https://github.com/user-attachments/assets/d2089224-643f-491f-a304-a48b0c04a6c5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005840"/>
            <a:ext cx="37947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005840"/>
            <a:ext cx="379476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5592" y="1060704"/>
            <a:ext cx="3520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517904"/>
            <a:ext cx="34747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支持课程新增、编辑、删除、分页查询，覆盖教师高频业务。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列表化管理降低了信息查找成本，操作按钮集中，演示路径清晰。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06  核心界面展示（三）：成绩与考勤管理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12/16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577840" cy="2606040"/>
          </a:xfrm>
          <a:prstGeom prst="roundRect">
            <a:avLst/>
          </a:prstGeom>
          <a:solidFill>
            <a:srgbClr val="F6F8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97380"/>
            <a:ext cx="5212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【核心界面截图】成绩录入页</a:t>
            </a:r>
          </a:p>
          <a:p>
            <a:pPr algn="ctr">
              <a:spcBef>
                <a:spcPts val="800"/>
              </a:spcBef>
              <a:defRPr sz="1000" b="0">
                <a:solidFill>
                  <a:srgbClr val="5B5B5B"/>
                </a:solidFill>
              </a:defRPr>
            </a:pPr>
            <a:r>
              <a:t>https://github.com/user-attachments/assets/94de7b8c-ff84-47ab-ab47-2a2df7e89495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794760"/>
            <a:ext cx="5577840" cy="2606040"/>
          </a:xfrm>
          <a:prstGeom prst="roundRect">
            <a:avLst/>
          </a:prstGeom>
          <a:solidFill>
            <a:srgbClr val="F6F8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686300"/>
            <a:ext cx="5212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【核心界面截图】考勤管理页</a:t>
            </a:r>
          </a:p>
          <a:p>
            <a:pPr algn="ctr">
              <a:spcBef>
                <a:spcPts val="800"/>
              </a:spcBef>
              <a:defRPr sz="1000" b="0">
                <a:solidFill>
                  <a:srgbClr val="5B5B5B"/>
                </a:solidFill>
              </a:defRPr>
            </a:pPr>
            <a:r>
              <a:t>https://github.com/user-attachments/assets/4d44de09-7e1b-455e-9dbd-b06c2b20031b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05840"/>
            <a:ext cx="56235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005840"/>
            <a:ext cx="562356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060704"/>
            <a:ext cx="5349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成绩模块实现分数录入与修改；考勤模块实现课次维度的出勤登记与统计。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两者都依赖选课记录进行关联，保证“谁在什么课程下得到什么结果”可追溯。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演示时可按“课程选择 → 学生列表 → 批量保存”的路径讲解，逻辑更顺畅。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06  核心界面展示（四）：管理员用户与权限管理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13/16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7406640" cy="5394960"/>
          </a:xfrm>
          <a:prstGeom prst="roundRect">
            <a:avLst/>
          </a:prstGeom>
          <a:solidFill>
            <a:srgbClr val="F6F8FC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291840"/>
            <a:ext cx="70408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A85"/>
                </a:solidFill>
              </a:defRPr>
            </a:pPr>
            <a:r>
              <a:t>【核心界面截图】用户管理页</a:t>
            </a:r>
          </a:p>
          <a:p>
            <a:pPr algn="ctr">
              <a:spcBef>
                <a:spcPts val="800"/>
              </a:spcBef>
              <a:defRPr sz="1000" b="0">
                <a:solidFill>
                  <a:srgbClr val="5B5B5B"/>
                </a:solidFill>
              </a:defRPr>
            </a:pPr>
            <a:r>
              <a:t>https://github.com/user-attachments/assets/a4a8e15f-ff50-4b5b-8f90-be961cac541b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005840"/>
            <a:ext cx="37947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005840"/>
            <a:ext cx="379476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5592" y="1060704"/>
            <a:ext cx="3520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517904"/>
            <a:ext cx="34747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管理员统一维护账号信息并配置角色权限，确保系统运行有序。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角色权限变化可即时生效，能够有效防止越权访问并提高管理规范性。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07  系统测试结果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14/16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57607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76072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14984"/>
            <a:ext cx="54864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功能测试结论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72184"/>
            <a:ext cx="544068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登录、课程管理、成绩录入、考勤管理、用户权限等关键功能链路均可正常运行。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针对边界输入（空值、超范围分数、重复报名）进行了有效性校验，系统能正确拦截异常。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页面交互流程完整，角色切换后权限范围符合预期。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960120"/>
            <a:ext cx="56692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960120"/>
            <a:ext cx="56692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014984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质量验证与可维护性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472184"/>
            <a:ext cx="534924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项目可通过 `mvn -q test` 完成基础自动化测试校验。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分层结构明确，模块职责清晰，便于后续版本迭代和功能扩展。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数据库关系稳定，业务数据具备较好的一致性与可追溯性。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07  总结与研究展望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15/16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57607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76072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14984"/>
            <a:ext cx="54864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72184"/>
            <a:ext cx="544068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本课题完成了面向青少年活动中心的综合管理平台设计与实现，构建了可用、可扩展的多角色教学管理系统。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通过信息化手段打通了报名、课程实施、成绩评定和考勤管理全过程，显著提升了管理效率与数据规范性。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在工程实践中，进一步巩固了 Java Web 开发、数据库建模与系统分层设计能力。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960120"/>
            <a:ext cx="56692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960120"/>
            <a:ext cx="5669280" cy="438912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014984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研究展望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472184"/>
            <a:ext cx="5349240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</a:defRPr>
            </a:pPr>
            <a:r>
              <a:t>后续可增加数据可视化看板，对报名趋势、成绩分布和出勤率进行图形化分析。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可拓展移动端或小程序入口，提升学生端使用便捷性。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可引入智能推荐算法，为学生提供个性化课程推荐服务。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A2A2A"/>
                </a:solidFill>
              </a:defRPr>
            </a:pPr>
            <a:r>
              <a:t>可完善消息通知能力，在关键节点自动推送提醒。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F4A85"/>
                </a:solidFill>
              </a:defRPr>
            </a:pPr>
            <a:r>
              <a:t>08  致谢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6384"/>
            <a:ext cx="11612880" cy="45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56539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1F4A85"/>
                </a:solidFill>
              </a:defRPr>
            </a:pPr>
            <a:r>
              <a:t>青少年活动中心管理平台毕业设计答辩                                        16/16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05156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9FB5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15600" cy="6858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36776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致  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77440"/>
            <a:ext cx="97840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A2A2A"/>
                </a:solidFill>
              </a:defRPr>
            </a:pPr>
            <a:r>
              <a:t>在本次毕业设计与论文撰写过程中，衷心感谢指导老师在选题、方案设计、系统实现和答辩准备中的悉心指导。</a:t>
            </a:r>
          </a:p>
          <a:p>
            <a:pPr algn="l">
              <a:spcBef>
                <a:spcPts val="400"/>
              </a:spcBef>
              <a:defRPr sz="1800" b="0">
                <a:solidFill>
                  <a:srgbClr val="2A2A2A"/>
                </a:solidFill>
              </a:defRPr>
            </a:pPr>
            <a:r>
              <a:t>感谢学院各位老师在课程学习阶段给予的帮助与鼓励，使我具备完成本课题所需的理论与实践基础。</a:t>
            </a:r>
          </a:p>
          <a:p>
            <a:pPr algn="l">
              <a:spcBef>
                <a:spcPts val="400"/>
              </a:spcBef>
              <a:defRPr sz="1800" b="0">
                <a:solidFill>
                  <a:srgbClr val="2A2A2A"/>
                </a:solidFill>
              </a:defRPr>
            </a:pPr>
            <a:r>
              <a:t>感谢同学与朋友在测试、交流和资料整理过程中提供的支持。</a:t>
            </a:r>
          </a:p>
          <a:p>
            <a:pPr algn="ctr">
              <a:spcBef>
                <a:spcPts val="1200"/>
              </a:spcBef>
              <a:defRPr sz="2000" b="1">
                <a:solidFill>
                  <a:srgbClr val="1F4A85"/>
                </a:solidFill>
              </a:defRPr>
            </a:pPr>
            <a:r>
              <a:t>最后，感谢各位答辩老师的审阅与指正！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