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731520"/>
            <a:ext cx="73152" cy="539496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881360" cy="11887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3800" b="1">
                <a:solidFill>
                  <a:srgbClr val="174E81"/>
                </a:solidFill>
              </a:defRPr>
            </a:pPr>
            <a:r>
              <a:t>青少年活动中心管理平台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2300" b="1">
                <a:solidFill>
                  <a:srgbClr val="2E7DC2"/>
                </a:solidFill>
              </a:defRPr>
            </a:pPr>
            <a:r>
              <a:t>毕业设计答辩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2240280"/>
            <a:ext cx="7086600" cy="3337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83480" y="2578608"/>
            <a:ext cx="6492240" cy="28346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800" b="1">
                <a:solidFill>
                  <a:srgbClr val="174E81"/>
                </a:solidFill>
              </a:defRPr>
            </a:pPr>
            <a:r>
              <a:t>项目简介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263238"/>
                </a:solidFill>
              </a:defRPr>
            </a:pPr>
            <a:r>
              <a:t>基于 Spring MVC + MyBatis 的教学管理系统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学院：工学院     专业：计算机科学与技术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学生：[姓名]     学号：[学号]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指导教师：[教师姓名]     答辩日期：2026 年  月 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01  答辩目录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9728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1097280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演示结构（18 页）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1060704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500" b="0">
                <a:solidFill>
                  <a:srgbClr val="263238"/>
                </a:solidFill>
              </a:defRPr>
            </a:pPr>
            <a:r>
              <a:t>1) 项目背景与研究意义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2) 需求分析与设计目标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3) 采用技术与开发环境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4) 软件结构图与模块架构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5) 重要模型图（用例图、ER 图、时序图）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6) 核心界面展示（管理员 / 学生 / 教师）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7) 测试与效果说明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8) 总结与展望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500" b="0">
                <a:solidFill>
                  <a:srgbClr val="263238"/>
                </a:solidFill>
              </a:defRPr>
            </a:pPr>
            <a:r>
              <a:t>9) 致谢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02  毕设系统背景与研究意义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53035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530352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4937759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4937759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青少年活动中心常见痛点是业务分散：报名、排课、成绩、考勤分别记录。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人工或表格管理方式易出现重复登记、统计滞后和数据不一致。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多角色信息不对称，教师、学生、管理员协作成本高。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97280"/>
            <a:ext cx="55321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553212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170432"/>
            <a:ext cx="5166359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研究意义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82495"/>
            <a:ext cx="5166359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构建统一平台，形成“选课—教学—评价—归档”闭环。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提升高频业务处理效率，降低人工统计和对账成本。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为后续移动化、数据分析和智能推荐奠定基础。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03  需求分析与总体设计目标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53035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530352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4937759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核心需求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4937759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学生端：课程浏览、在线选课、成绩查询、考勤查看。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教师端：课程管理、学生名单查看、成绩录入。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管理员端：用户管理、基础数据维护、权限分配。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97280"/>
            <a:ext cx="55321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553212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170432"/>
            <a:ext cx="5166359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设计目标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82495"/>
            <a:ext cx="5166359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目标 1：权限边界清晰，角色页面与操作隔离。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目标 2：分层结构明确，便于维护与功能扩展。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目标 3：交互路径简洁，保证常用功能可快速完成。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04  采用技术与开发环境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35661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356616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320040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后端技术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320040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Spring / Spring MVC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MyBatis + MySQL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PageHelper 分页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097280"/>
            <a:ext cx="35661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097280"/>
            <a:ext cx="356616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1170432"/>
            <a:ext cx="320040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前端与安全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1682495"/>
            <a:ext cx="320040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JSP + AdminLTE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Spring Security 认证授权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统一登录与角色跳转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097280"/>
            <a:ext cx="338328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21040" y="1097280"/>
            <a:ext cx="338328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19" y="1170432"/>
            <a:ext cx="301752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工程环境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1682495"/>
            <a:ext cx="301752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Maven 构建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Tomcat 部署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JUnit 测试 + Git 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05  软件结构图与系统架构说明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9728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1097280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系统分层架构（B/S + MVC）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1060704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389120" y="1874519"/>
            <a:ext cx="3474720" cy="566928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929384"/>
            <a:ext cx="3383279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300" b="1">
                <a:solidFill>
                  <a:srgbClr val="263238"/>
                </a:solidFill>
              </a:defRPr>
            </a:pPr>
            <a:r>
              <a:t>浏览器 / JSP 页面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697480"/>
            <a:ext cx="347472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752344"/>
            <a:ext cx="3383279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63238"/>
                </a:solidFill>
              </a:defRPr>
            </a:pPr>
            <a:r>
              <a:t>Controller 层（请求分发）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520440"/>
            <a:ext cx="347472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3575304"/>
            <a:ext cx="3383279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63238"/>
                </a:solidFill>
              </a:defRPr>
            </a:pPr>
            <a:r>
              <a:t>Service 层（业务规则）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343400"/>
            <a:ext cx="347472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398264"/>
            <a:ext cx="3383279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263238"/>
                </a:solidFill>
              </a:defRPr>
            </a:pPr>
            <a:r>
              <a:t>DAO / Mapper 层（数据访问）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5166360"/>
            <a:ext cx="3474720" cy="566928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5221224"/>
            <a:ext cx="3383279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300" b="1">
                <a:solidFill>
                  <a:srgbClr val="263238"/>
                </a:solidFill>
              </a:defRPr>
            </a:pPr>
            <a:r>
              <a:t>MySQL 数据库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2450592"/>
            <a:ext cx="182880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2E7DC2"/>
                </a:solidFill>
              </a:defRPr>
            </a:pPr>
            <a: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3273552"/>
            <a:ext cx="182880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2E7DC2"/>
                </a:solidFill>
              </a:defRPr>
            </a:pPr>
            <a: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16752" y="4096512"/>
            <a:ext cx="182880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2E7DC2"/>
                </a:solidFill>
              </a:defRPr>
            </a:pPr>
            <a:r>
              <a:t>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16752" y="4919472"/>
            <a:ext cx="182880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2E7DC2"/>
                </a:solidFill>
              </a:defRPr>
            </a:pPr>
            <a:r>
              <a:t>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06  系统模块划分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9728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1097280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功能模块关系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1060704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846320" y="1828800"/>
            <a:ext cx="2468880" cy="658368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883664"/>
            <a:ext cx="2377440" cy="56692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263238"/>
                </a:solidFill>
              </a:defRPr>
            </a:pPr>
            <a:r>
              <a:t>统一登录模块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2971800"/>
            <a:ext cx="2743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3026664"/>
            <a:ext cx="2651760" cy="8229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管理员模块</a:t>
            </a:r>
            <a:br/>
            <a:r>
              <a:t>用户/教师/学生/课程管理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2971800"/>
            <a:ext cx="2743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3026664"/>
            <a:ext cx="2651760" cy="8229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学生模块</a:t>
            </a:r>
            <a:br/>
            <a:r>
              <a:t>选课/退课/成绩查询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971800"/>
            <a:ext cx="2743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3026664"/>
            <a:ext cx="2651760" cy="8229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教师模块</a:t>
            </a:r>
            <a:br/>
            <a:r>
              <a:t>学生名单/成绩录入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4572000"/>
            <a:ext cx="2468880" cy="731520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4626864"/>
            <a:ext cx="2377440" cy="6400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公共数据模块</a:t>
            </a:r>
            <a:br/>
            <a:r>
              <a:t>课程/选课/成绩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80644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0">
                <a:solidFill>
                  <a:srgbClr val="607D8B"/>
                </a:solidFill>
              </a:defRPr>
            </a:pPr>
            <a:r>
              <a:t>说明：模块职责清晰、边界明确，支持按角色演示业务闭环。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07  其它重要模型图（一）：用例图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9728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1097280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角色—能力映射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1060704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097280" y="2011680"/>
            <a:ext cx="1828800" cy="621792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66544"/>
            <a:ext cx="17373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263238"/>
                </a:solidFill>
              </a:defRPr>
            </a:pPr>
            <a:r>
              <a:t>学生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971800"/>
            <a:ext cx="1828800" cy="621792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17373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263238"/>
                </a:solidFill>
              </a:defRPr>
            </a:pPr>
            <a:r>
              <a:t>教师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931920"/>
            <a:ext cx="1828800" cy="621792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986783"/>
            <a:ext cx="17373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263238"/>
                </a:solidFill>
              </a:defRPr>
            </a:pPr>
            <a:r>
              <a:t>管理员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1828800"/>
            <a:ext cx="18288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79" y="1883664"/>
            <a:ext cx="1737360" cy="49377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登录系统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1828800"/>
            <a:ext cx="18288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883664"/>
            <a:ext cx="1737360" cy="49377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选课/退课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1828800"/>
            <a:ext cx="18288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1883664"/>
            <a:ext cx="1737360" cy="49377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成绩查询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26080"/>
            <a:ext cx="18288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980944"/>
            <a:ext cx="1737360" cy="49377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学生名单查看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926080"/>
            <a:ext cx="18288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980944"/>
            <a:ext cx="1737360" cy="49377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成绩录入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023360"/>
            <a:ext cx="18288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78224"/>
            <a:ext cx="1737360" cy="49377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用户管理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0" y="4023360"/>
            <a:ext cx="1828800" cy="585216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078224"/>
            <a:ext cx="1737360" cy="49377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课程管理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08  其它重要模型图（二）：ER 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9728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1097280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核心实体与关系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1060704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097280" y="2194560"/>
            <a:ext cx="192024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249424"/>
            <a:ext cx="1828800" cy="60350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User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383280"/>
            <a:ext cx="192024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38144"/>
            <a:ext cx="1828800" cy="60350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Student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572000"/>
            <a:ext cx="192024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626864"/>
            <a:ext cx="1828800" cy="60350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Teacher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2194560"/>
            <a:ext cx="192024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59" y="2249424"/>
            <a:ext cx="1828800" cy="60350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Course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3383280"/>
            <a:ext cx="192024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59" y="3438144"/>
            <a:ext cx="1828800" cy="60350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Scourse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2834640"/>
            <a:ext cx="173736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2889504"/>
            <a:ext cx="1645919" cy="60350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Mark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0" y="4023360"/>
            <a:ext cx="173736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4078224"/>
            <a:ext cx="1645919" cy="60350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Attendance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69280"/>
            <a:ext cx="10149840" cy="5029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200" b="0">
                <a:solidFill>
                  <a:srgbClr val="607D8B"/>
                </a:solidFill>
              </a:defRPr>
            </a:pPr>
            <a:r>
              <a:t>关系说明：Student 与 Course 通过 Scourse 形成多对多；成绩与考勤依附选课关系。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09  其它重要模型图（三）：时序图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9728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1097280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106070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选课流程时序（简化）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1060704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005840" y="1828800"/>
            <a:ext cx="1645920" cy="566928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83664"/>
            <a:ext cx="155448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学生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1368" y="2487168"/>
            <a:ext cx="36576" cy="2468880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08960" y="1828800"/>
            <a:ext cx="1645920" cy="566928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79" y="1883664"/>
            <a:ext cx="155448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页面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04487" y="2487168"/>
            <a:ext cx="36576" cy="2468880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2080" y="1828800"/>
            <a:ext cx="1645920" cy="566928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1883664"/>
            <a:ext cx="155448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Controller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07608" y="2487168"/>
            <a:ext cx="36576" cy="2468880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0" y="1828800"/>
            <a:ext cx="1645920" cy="566928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1883664"/>
            <a:ext cx="155448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Service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0727" y="2487168"/>
            <a:ext cx="36576" cy="2468880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18320" y="1828800"/>
            <a:ext cx="1645920" cy="566928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4040" y="1883664"/>
            <a:ext cx="155448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DB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13848" y="2487168"/>
            <a:ext cx="36576" cy="2468880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2743200"/>
            <a:ext cx="841248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263238"/>
                </a:solidFill>
              </a:defRPr>
            </a:pPr>
            <a:r>
              <a:t>1. 发起选课请求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200400"/>
            <a:ext cx="841248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263238"/>
                </a:solidFill>
              </a:defRPr>
            </a:pPr>
            <a:r>
              <a:t>2. 校验名额与重复选课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657600"/>
            <a:ext cx="841248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263238"/>
                </a:solidFill>
              </a:defRPr>
            </a:pPr>
            <a:r>
              <a:t>3. 写入选课记录并更新余量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114800"/>
            <a:ext cx="8412480" cy="27432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100" b="0">
                <a:solidFill>
                  <a:srgbClr val="263238"/>
                </a:solidFill>
              </a:defRPr>
            </a:pPr>
            <a:r>
              <a:t>4. 返回结果并刷新页面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10  核心界面展示（一）：总体界面结构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097280"/>
            <a:ext cx="429768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06640" y="1097280"/>
            <a:ext cx="429768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19" y="1170432"/>
            <a:ext cx="393192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展示原则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1682495"/>
            <a:ext cx="393192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300" b="0">
                <a:solidFill>
                  <a:srgbClr val="263238"/>
                </a:solidFill>
              </a:defRPr>
            </a:pPr>
            <a:r>
              <a:t>按角色拆分展示，统一风格、统一交互。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300" b="0">
                <a:solidFill>
                  <a:srgbClr val="263238"/>
                </a:solidFill>
              </a:defRPr>
            </a:pPr>
            <a:r>
              <a:t>重点演示“查询—编辑—保存”核心路径。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300" b="0">
                <a:solidFill>
                  <a:srgbClr val="263238"/>
                </a:solidFill>
              </a:defRPr>
            </a:pPr>
            <a:r>
              <a:t>避免无关装饰图，保证答辩可读性。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828800"/>
            <a:ext cx="557784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1883664"/>
            <a:ext cx="5486400" cy="56692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顶部：系统标题 + 用户信息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2651760"/>
            <a:ext cx="1280160" cy="3291840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706624"/>
            <a:ext cx="1188719" cy="32004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左侧菜单</a:t>
            </a:r>
            <a:br/>
            <a:r>
              <a:t>模块导航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651760"/>
            <a:ext cx="411480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79" y="2706624"/>
            <a:ext cx="4023360" cy="12801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中部：列表/表单区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51760" y="4251960"/>
            <a:ext cx="41148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79" y="4306824"/>
            <a:ext cx="4023360" cy="1600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底部：分页/操作按钮区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11  核心界面展示（二）：登录与角色跳转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097280"/>
            <a:ext cx="521208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1097280"/>
            <a:ext cx="521208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170432"/>
            <a:ext cx="484632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实现依据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82495"/>
            <a:ext cx="484632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300" b="0">
                <a:solidFill>
                  <a:srgbClr val="263238"/>
                </a:solidFill>
              </a:defRPr>
            </a:pPr>
            <a:r>
              <a:t>`/user/login.do` 根据角色 ID 跳转不同主页。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300" b="0">
                <a:solidFill>
                  <a:srgbClr val="263238"/>
                </a:solidFill>
              </a:defRPr>
            </a:pPr>
            <a:r>
              <a:t>管理员：admin/main，学生：student/main，教师：teacher/main。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300" b="0">
                <a:solidFill>
                  <a:srgbClr val="263238"/>
                </a:solidFill>
              </a:defRPr>
            </a:pPr>
            <a:r>
              <a:t>保证入口统一、页面职责清晰。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2011680"/>
            <a:ext cx="1828800" cy="621792"/>
          </a:xfrm>
          <a:prstGeom prst="roundRect">
            <a:avLst/>
          </a:prstGeom>
          <a:solidFill>
            <a:srgbClr val="E7F0FA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066544"/>
            <a:ext cx="17373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1">
                <a:solidFill>
                  <a:srgbClr val="263238"/>
                </a:solidFill>
              </a:defRPr>
            </a:pPr>
            <a:r>
              <a:t>登录页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011680"/>
            <a:ext cx="182880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066544"/>
            <a:ext cx="17373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认证成功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3108960"/>
            <a:ext cx="182880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163824"/>
            <a:ext cx="17373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管理员首页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3108960"/>
            <a:ext cx="182880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3163824"/>
            <a:ext cx="17373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学生首页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0280" y="4206240"/>
            <a:ext cx="182880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261103"/>
            <a:ext cx="173736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100" b="0">
                <a:solidFill>
                  <a:srgbClr val="263238"/>
                </a:solidFill>
              </a:defRPr>
            </a:pPr>
            <a:r>
              <a:t>教师首页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12  核心界面展示（三）：管理员端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097280"/>
            <a:ext cx="50292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0" y="1097280"/>
            <a:ext cx="502920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170432"/>
            <a:ext cx="46634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关键能力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682495"/>
            <a:ext cx="466344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300" b="0">
                <a:solidFill>
                  <a:srgbClr val="263238"/>
                </a:solidFill>
              </a:defRPr>
            </a:pPr>
            <a:r>
              <a:t>用户与课程集中维护，支持增删改查。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300" b="0">
                <a:solidFill>
                  <a:srgbClr val="263238"/>
                </a:solidFill>
              </a:defRPr>
            </a:pPr>
            <a:r>
              <a:t>分页列表提高数据浏览效率。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300" b="0">
                <a:solidFill>
                  <a:srgbClr val="263238"/>
                </a:solidFill>
              </a:defRPr>
            </a:pPr>
            <a:r>
              <a:t>管理员承担系统配置与运行治理职责。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01168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66544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student-list.jsp / student-add.jsp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74320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798064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teacher-list.jsp / course-list.jsp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47472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529584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编辑页：exitStudent.jsp / exitTeacher.jsp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20624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261103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main.jsp：后台首页入口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13  核心界面展示（四）：学生端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097280"/>
            <a:ext cx="50292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0" y="1097280"/>
            <a:ext cx="502920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170432"/>
            <a:ext cx="46634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关键流程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682495"/>
            <a:ext cx="466344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300" b="0">
                <a:solidFill>
                  <a:srgbClr val="263238"/>
                </a:solidFill>
              </a:defRPr>
            </a:pPr>
            <a:r>
              <a:t>选课前进行名额和重复校验，避免无效提交。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300" b="0">
                <a:solidFill>
                  <a:srgbClr val="263238"/>
                </a:solidFill>
              </a:defRPr>
            </a:pPr>
            <a:r>
              <a:t>支持退课并同步更新课程余量。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300" b="0">
                <a:solidFill>
                  <a:srgbClr val="263238"/>
                </a:solidFill>
              </a:defRPr>
            </a:pPr>
            <a:r>
              <a:t>学习结果可通过成绩页面直接查看。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01168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66544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selectcourse.jsp：课程选择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74320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798064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alreadySelectCourse.jsp：已选课程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47472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529584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courseMark.jsp：成绩查询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20624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261103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main.jsp：学生首页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14  核心界面展示（五）：教师端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097280"/>
            <a:ext cx="502920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0" y="1097280"/>
            <a:ext cx="502920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170432"/>
            <a:ext cx="46634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关键流程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682495"/>
            <a:ext cx="4663440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300" b="0">
                <a:solidFill>
                  <a:srgbClr val="263238"/>
                </a:solidFill>
              </a:defRPr>
            </a:pPr>
            <a:r>
              <a:t>教师按课程查看选课学生名单。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300" b="0">
                <a:solidFill>
                  <a:srgbClr val="263238"/>
                </a:solidFill>
              </a:defRPr>
            </a:pPr>
            <a:r>
              <a:t>按学生维度录入成绩，提交后即时生效。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300" b="0">
                <a:solidFill>
                  <a:srgbClr val="263238"/>
                </a:solidFill>
              </a:defRPr>
            </a:pPr>
            <a:r>
              <a:t>流程紧凑，满足日常教学管理场景。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01168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66544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selectStudent.jsp：已选学生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74320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798064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studentGrate.jsp：成绩录入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47472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529584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main.jsp：教师首页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206240"/>
            <a:ext cx="50292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261103"/>
            <a:ext cx="493776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263238"/>
                </a:solidFill>
              </a:defRPr>
            </a:pPr>
            <a:r>
              <a:t>findGrade.do：成绩列表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15  测试与运行效果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53035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530352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4937759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测试范围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4937759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功能测试：登录、选课、退课、成绩录入、查询。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权限测试：不同角色访问路径是否隔离。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数据一致性：选课人数与成绩记录联动校验。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97280"/>
            <a:ext cx="55321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553212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170432"/>
            <a:ext cx="5166359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效果说明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82495"/>
            <a:ext cx="5166359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核心流程可闭环完成，页面跳转逻辑清晰。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分页展示与表单操作响应稳定。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系统具备毕业设计答辩演示所需完整度。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16  总结与后续展望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53035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097280"/>
            <a:ext cx="530352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170432"/>
            <a:ext cx="4937759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工作总结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82495"/>
            <a:ext cx="4937759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完成了青少年活动中心教学管理核心业务闭环。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系统覆盖管理员、学生、教师三类角色。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形成可维护的分层结构与清晰模块边界。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97280"/>
            <a:ext cx="553212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553212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170432"/>
            <a:ext cx="5166359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后续展望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82495"/>
            <a:ext cx="5166359" cy="46634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1400" b="0">
                <a:solidFill>
                  <a:srgbClr val="263238"/>
                </a:solidFill>
              </a:defRPr>
            </a:pPr>
            <a:r>
              <a:t>接入数据可视化看板，支持运营分析。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优化移动端体验，提升随时访问能力。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  <a:defRPr sz="1400" b="0">
                <a:solidFill>
                  <a:srgbClr val="263238"/>
                </a:solidFill>
              </a:defRPr>
            </a:pPr>
            <a:r>
              <a:t>扩展消息通知与推荐能力，增强平台服务质量。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2E7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82880"/>
            <a:ext cx="11704320" cy="27432"/>
          </a:xfrm>
          <a:prstGeom prst="rect">
            <a:avLst/>
          </a:prstGeom>
          <a:solidFill>
            <a:srgbClr val="D6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1247120" cy="6583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  <a:defRPr sz="2400" b="1">
                <a:solidFill>
                  <a:srgbClr val="174E81"/>
                </a:solidFill>
              </a:defRPr>
            </a:pPr>
            <a:r>
              <a:t>17  致谢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463040"/>
            <a:ext cx="102412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6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463040"/>
            <a:ext cx="10241280" cy="493776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1536192"/>
            <a:ext cx="9875519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174E81"/>
                </a:solidFill>
              </a:defRPr>
            </a:pPr>
            <a:r>
              <a:t>致  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48256"/>
            <a:ext cx="9875519" cy="40233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  <a:defRPr sz="1800" b="0">
                <a:solidFill>
                  <a:srgbClr val="263238"/>
                </a:solidFill>
              </a:defRPr>
            </a:pPr>
            <a:r>
              <a:t>感谢指导老师在选题、设计与实现过程中的悉心指导。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  <a:defRPr sz="1800" b="0">
                <a:solidFill>
                  <a:srgbClr val="263238"/>
                </a:solidFill>
              </a:defRPr>
            </a:pPr>
            <a:r>
              <a:t>感谢学院老师在专业课程学习阶段提供的帮助与支持。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  <a:defRPr sz="1800" b="0">
                <a:solidFill>
                  <a:srgbClr val="263238"/>
                </a:solidFill>
              </a:defRPr>
            </a:pPr>
            <a:r>
              <a:t>感谢同学在测试与答辩准备中的协作与建议。</a:t>
            </a:r>
          </a:p>
          <a:p>
            <a:pPr algn="ctr">
              <a:lnSpc>
                <a:spcPct val="120000"/>
              </a:lnSpc>
              <a:spcAft>
                <a:spcPts val="0"/>
              </a:spcAft>
              <a:defRPr sz="2200" b="1">
                <a:solidFill>
                  <a:srgbClr val="174E81"/>
                </a:solidFill>
              </a:defRPr>
            </a:pPr>
            <a:r>
              <a:t>感谢各位答辩老师审阅与指正！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