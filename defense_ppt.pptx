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222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914400"/>
            <a:ext cx="10515600" cy="5303520"/>
          </a:xfrm>
          <a:prstGeom prst="roundRect">
            <a:avLst/>
          </a:prstGeom>
          <a:solidFill>
            <a:srgbClr val="FFFFFF"/>
          </a:solidFill>
          <a:ln>
            <a:solidFill>
              <a:srgbClr val="DC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200" b="1">
                <a:solidFill>
                  <a:srgbClr val="22293F"/>
                </a:solidFill>
              </a:defRPr>
            </a:pPr>
            <a:r>
              <a:t>青少年活动中心管理平台</a:t>
            </a:r>
          </a:p>
          <a:p>
            <a:pPr algn="ctr">
              <a:defRPr sz="2800">
                <a:solidFill>
                  <a:srgbClr val="3166BE"/>
                </a:solidFill>
              </a:defRPr>
            </a:pPr>
            <a:r>
              <a:t>毕业设计答辩</a:t>
            </a:r>
          </a:p>
          <a:p>
            <a:pPr algn="ctr">
              <a:defRPr sz="1800">
                <a:solidFill>
                  <a:srgbClr val="464646"/>
                </a:solidFill>
              </a:defRPr>
            </a:pPr>
            <a:r>
              <a:t>Student_Exam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222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2293F"/>
                </a:solidFill>
              </a:defRPr>
            </a:pPr>
            <a:r>
              <a:t>目录</a:t>
            </a:r>
          </a:p>
          <a:p>
            <a:pPr>
              <a:defRPr sz="1500">
                <a:solidFill>
                  <a:srgbClr val="464646"/>
                </a:solidFill>
              </a:defRPr>
            </a:pPr>
            <a:r>
              <a:t>全流程展示系统能力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1737360"/>
            <a:ext cx="98755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C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22293F"/>
                </a:solidFill>
              </a:defRPr>
            </a:pPr>
            <a:r>
              <a:t>章节安排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1. 项目背景与目标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2. 需求分析与角色职责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3. 系统架构与数据库设计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4. 关键功能演示（教师/管理员）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5. 测试结果与总结展望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222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2293F"/>
                </a:solidFill>
              </a:defRPr>
            </a:pPr>
            <a:r>
              <a:t>项目背景与目标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91640"/>
            <a:ext cx="530352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DC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22293F"/>
                </a:solidFill>
              </a:defRPr>
            </a:pPr>
            <a:r>
              <a:t>建设背景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传统线下管理效率低、信息不透明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缺少统一平台协同学生/教师/管理员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691640"/>
            <a:ext cx="530352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DC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22293F"/>
                </a:solidFill>
              </a:defRPr>
            </a:pPr>
            <a:r>
              <a:t>项目目标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课程活动全流程数字化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提升管理效率与体验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形成可扩展的教学活动管理系统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222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2293F"/>
                </a:solidFill>
              </a:defRPr>
            </a:pPr>
            <a:r>
              <a:t>角色与业务边界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91640"/>
            <a:ext cx="356616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DC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22293F"/>
                </a:solidFill>
              </a:defRPr>
            </a:pPr>
            <a:r>
              <a:t>学生端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浏览课程活动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报名参与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查看结果并评价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26280" y="1691640"/>
            <a:ext cx="356616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DC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22293F"/>
                </a:solidFill>
              </a:defRPr>
            </a:pPr>
            <a:r>
              <a:t>教师端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课程/活动维护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成绩录入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考勤管理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1691640"/>
            <a:ext cx="310896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DC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22293F"/>
                </a:solidFill>
              </a:defRPr>
            </a:pPr>
            <a:r>
              <a:t>管理员端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用户管理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角色权限维护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数据基础维护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222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2293F"/>
                </a:solidFill>
              </a:defRPr>
            </a:pPr>
            <a:r>
              <a:t>系统技术架构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91640"/>
            <a:ext cx="530352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DC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22293F"/>
                </a:solidFill>
              </a:defRPr>
            </a:pPr>
            <a:r>
              <a:t>技术栈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后端：Spring + Spring MVC + MyBatis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前端：JSP + Bootstrap/AdminLTE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数据库：MySQL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691640"/>
            <a:ext cx="530352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DC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22293F"/>
                </a:solidFill>
              </a:defRPr>
            </a:pPr>
            <a:r>
              <a:t>设计要点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分层结构清晰：Controller/Service/DAO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角色权限控制保障访问安全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CRUD能力覆盖核心业务场景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222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2293F"/>
                </a:solidFill>
              </a:defRPr>
            </a:pPr>
            <a:r>
              <a:t>数据库设计思路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91640"/>
            <a:ext cx="530352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DC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22293F"/>
                </a:solidFill>
              </a:defRPr>
            </a:pPr>
            <a:r>
              <a:t>核心实体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用户（User）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教师（Teacher）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学生（Student）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课程活动（Course）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选课关联（Scourse）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691640"/>
            <a:ext cx="530352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DC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22293F"/>
                </a:solidFill>
              </a:defRPr>
            </a:pPr>
            <a:r>
              <a:t>关系与约束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一人一角色（或扩展多角色）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课程与学生多对多关联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成绩与考勤依赖报名记录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222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2293F"/>
                </a:solidFill>
              </a:defRPr>
            </a:pPr>
            <a:r>
              <a:t>登录与系统入口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7498079" cy="4754880"/>
          </a:xfrm>
          <a:prstGeom prst="roundRect">
            <a:avLst/>
          </a:prstGeom>
          <a:solidFill>
            <a:srgbClr val="E8ECF5"/>
          </a:solidFill>
          <a:ln>
            <a:solidFill>
              <a:srgbClr val="BEC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800">
                <a:solidFill>
                  <a:srgbClr val="22293F"/>
                </a:solidFill>
              </a:defRPr>
            </a:pPr>
            <a:r>
              <a:t>待插入：登录页面</a:t>
            </a:r>
          </a:p>
          <a:p>
            <a:pPr algn="ctr">
              <a:defRPr sz="900">
                <a:solidFill>
                  <a:srgbClr val="464646"/>
                </a:solidFill>
              </a:defRPr>
            </a:pPr>
            <a:r>
              <a:t>https://github.com/user-attachments/assets/d5695ebd-ffb9-4766-93e6-bef8c12eaf6c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828800"/>
            <a:ext cx="283464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C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22293F"/>
                </a:solidFill>
              </a:defRPr>
            </a:pPr>
            <a:r>
              <a:t>说明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统一认证入口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支持按角色进入功能域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界面简洁，使用门槛低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222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2293F"/>
                </a:solidFill>
              </a:defRPr>
            </a:pPr>
            <a:r>
              <a:t>教师端：课程/活动管理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89920" cy="4754880"/>
          </a:xfrm>
          <a:prstGeom prst="roundRect">
            <a:avLst/>
          </a:prstGeom>
          <a:solidFill>
            <a:srgbClr val="E8ECF5"/>
          </a:solidFill>
          <a:ln>
            <a:solidFill>
              <a:srgbClr val="BEC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800">
                <a:solidFill>
                  <a:srgbClr val="22293F"/>
                </a:solidFill>
              </a:defRPr>
            </a:pPr>
            <a:r>
              <a:t>待插入：课程/活动管理</a:t>
            </a:r>
          </a:p>
          <a:p>
            <a:pPr algn="ctr">
              <a:defRPr sz="900">
                <a:solidFill>
                  <a:srgbClr val="464646"/>
                </a:solidFill>
              </a:defRPr>
            </a:pPr>
            <a:r>
              <a:t>https://github.com/user-attachments/assets/d2089224-643f-491f-a304-a48b0c04a6c5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222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2293F"/>
                </a:solidFill>
              </a:defRPr>
            </a:pPr>
            <a:r>
              <a:t>教师端：课程管理能力拆解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3749039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C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22293F"/>
                </a:solidFill>
              </a:defRPr>
            </a:pPr>
            <a:r>
              <a:t>业务动作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新增课程/活动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编辑课程信息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删除无效课程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9160" y="1737360"/>
            <a:ext cx="3749039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C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22293F"/>
                </a:solidFill>
              </a:defRPr>
            </a:pPr>
            <a:r>
              <a:t>界面价值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列表化管理提高可读性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操作按钮聚焦常用动作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减少教师维护成本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0" y="1828800"/>
            <a:ext cx="2743200" cy="4206240"/>
          </a:xfrm>
          <a:prstGeom prst="roundRect">
            <a:avLst/>
          </a:prstGeom>
          <a:solidFill>
            <a:srgbClr val="E8ECF5"/>
          </a:solidFill>
          <a:ln>
            <a:solidFill>
              <a:srgbClr val="BEC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800">
                <a:solidFill>
                  <a:srgbClr val="22293F"/>
                </a:solidFill>
              </a:defRPr>
            </a:pPr>
            <a:r>
              <a:t>待插入：课程管理页面</a:t>
            </a:r>
          </a:p>
          <a:p>
            <a:pPr algn="ctr">
              <a:defRPr sz="900">
                <a:solidFill>
                  <a:srgbClr val="464646"/>
                </a:solidFill>
              </a:defRPr>
            </a:pPr>
            <a:r>
              <a:t>https://github.com/user-attachments/assets/d2089224-643f-491f-a304-a48b0c04a6c5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222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2293F"/>
                </a:solidFill>
              </a:defRPr>
            </a:pPr>
            <a:r>
              <a:t>教师端：成绩录入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89920" cy="4754880"/>
          </a:xfrm>
          <a:prstGeom prst="roundRect">
            <a:avLst/>
          </a:prstGeom>
          <a:solidFill>
            <a:srgbClr val="E8ECF5"/>
          </a:solidFill>
          <a:ln>
            <a:solidFill>
              <a:srgbClr val="BEC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800">
                <a:solidFill>
                  <a:srgbClr val="22293F"/>
                </a:solidFill>
              </a:defRPr>
            </a:pPr>
            <a:r>
              <a:t>待插入：成绩录入</a:t>
            </a:r>
          </a:p>
          <a:p>
            <a:pPr algn="ctr">
              <a:defRPr sz="900">
                <a:solidFill>
                  <a:srgbClr val="464646"/>
                </a:solidFill>
              </a:defRPr>
            </a:pPr>
            <a:r>
              <a:t>https://github.com/user-attachments/assets/94de7b8c-ff84-47ab-ab47-2a2df7e89495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222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2293F"/>
                </a:solidFill>
              </a:defRPr>
            </a:pPr>
            <a:r>
              <a:t>教师端：考勤管理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89920" cy="4754880"/>
          </a:xfrm>
          <a:prstGeom prst="roundRect">
            <a:avLst/>
          </a:prstGeom>
          <a:solidFill>
            <a:srgbClr val="E8ECF5"/>
          </a:solidFill>
          <a:ln>
            <a:solidFill>
              <a:srgbClr val="BEC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800">
                <a:solidFill>
                  <a:srgbClr val="22293F"/>
                </a:solidFill>
              </a:defRPr>
            </a:pPr>
            <a:r>
              <a:t>待插入：考勤管理</a:t>
            </a:r>
          </a:p>
          <a:p>
            <a:pPr algn="ctr">
              <a:defRPr sz="900">
                <a:solidFill>
                  <a:srgbClr val="464646"/>
                </a:solidFill>
              </a:defRPr>
            </a:pPr>
            <a:r>
              <a:t>https://github.com/user-attachments/assets/4d44de09-7e1b-455e-9dbd-b06c2b20031b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222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2293F"/>
                </a:solidFill>
              </a:defRPr>
            </a:pPr>
            <a:r>
              <a:t>教师端流程闭环总结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91640"/>
            <a:ext cx="530352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DC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22293F"/>
                </a:solidFill>
              </a:defRPr>
            </a:pPr>
            <a:r>
              <a:t>完整流程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课程创建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学生参与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成绩记录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考勤记录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过程复盘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691640"/>
            <a:ext cx="530352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DC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22293F"/>
                </a:solidFill>
              </a:defRPr>
            </a:pPr>
            <a:r>
              <a:t>成效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规范教学活动过程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降低线下统计工作量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沉淀可追踪教学数据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222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2293F"/>
                </a:solidFill>
              </a:defRPr>
            </a:pPr>
            <a:r>
              <a:t>管理员端：用户管理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7498079" cy="4754880"/>
          </a:xfrm>
          <a:prstGeom prst="roundRect">
            <a:avLst/>
          </a:prstGeom>
          <a:solidFill>
            <a:srgbClr val="E8ECF5"/>
          </a:solidFill>
          <a:ln>
            <a:solidFill>
              <a:srgbClr val="BEC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800">
                <a:solidFill>
                  <a:srgbClr val="22293F"/>
                </a:solidFill>
              </a:defRPr>
            </a:pPr>
            <a:r>
              <a:t>待插入：用户管理</a:t>
            </a:r>
          </a:p>
          <a:p>
            <a:pPr algn="ctr">
              <a:defRPr sz="900">
                <a:solidFill>
                  <a:srgbClr val="464646"/>
                </a:solidFill>
              </a:defRPr>
            </a:pPr>
            <a:r>
              <a:t>https://github.com/user-attachments/assets/a4a8e15f-ff50-4b5b-8f90-be961cac541b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0" y="1828800"/>
            <a:ext cx="29260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C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22293F"/>
                </a:solidFill>
              </a:defRPr>
            </a:pPr>
            <a:r>
              <a:t>功能价值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用户信息统一维护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角色权限清晰配置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保障系统稳定运行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222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2293F"/>
                </a:solidFill>
              </a:defRPr>
            </a:pPr>
            <a:r>
              <a:t>测试与运行结果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91640"/>
            <a:ext cx="530352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DC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22293F"/>
                </a:solidFill>
              </a:defRPr>
            </a:pPr>
            <a:r>
              <a:t>功能验证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登录、课程管理、成绩、考勤、用户管理均可正常运行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核心页面交互链路完整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691640"/>
            <a:ext cx="530352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DC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22293F"/>
                </a:solidFill>
              </a:defRPr>
            </a:pPr>
            <a:r>
              <a:t>质量保障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项目可通过 `mvn -q test` 进行基础验证</a:t>
            </a:r>
          </a:p>
          <a:p>
            <a:pPr>
              <a:defRPr sz="1700">
                <a:solidFill>
                  <a:srgbClr val="464646"/>
                </a:solidFill>
              </a:defRPr>
            </a:pPr>
            <a:r>
              <a:t>页面流程与角色权限符合预期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222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097280"/>
            <a:ext cx="1033272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DC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22293F"/>
                </a:solidFill>
              </a:defRPr>
            </a:pPr>
            <a:r>
              <a:t>总结与展望</a:t>
            </a:r>
          </a:p>
          <a:p>
            <a:pPr algn="ctr">
              <a:defRPr sz="2200">
                <a:solidFill>
                  <a:srgbClr val="464646"/>
                </a:solidFill>
              </a:defRPr>
            </a:pPr>
            <a:r>
              <a:t>已实现多角色一体化课程活动管理能力</a:t>
            </a:r>
          </a:p>
          <a:p>
            <a:pPr algn="ctr">
              <a:defRPr sz="2000">
                <a:solidFill>
                  <a:srgbClr val="464646"/>
                </a:solidFill>
              </a:defRPr>
            </a:pPr>
            <a:r>
              <a:t>后续可扩展：数据可视化、移动端适配、智能推荐</a:t>
            </a:r>
          </a:p>
          <a:p>
            <a:pPr algn="ctr">
              <a:defRPr sz="3000" b="1">
                <a:solidFill>
                  <a:srgbClr val="3166BE"/>
                </a:solidFill>
              </a:defRPr>
            </a:pPr>
            <a:r>
              <a:t>感谢各位老师指正！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