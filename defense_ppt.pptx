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00 毕业设计答辩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青少年活动中心管理平台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defRPr sz="2200" b="1">
                <a:solidFill>
                  <a:srgbClr val="224981"/>
                </a:solidFill>
              </a:defRPr>
            </a:pPr>
            <a:r>
              <a:t>—— 基于 Spring MVC + MyBatis 的综合管理系统设计与实现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学院：工学院    专业：计算机科学与技术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学生：[姓名]    学号：[学号]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指导教师：[教师姓名]    答辩日期：2026 年  月 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00 答辩目录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01 毕设系统背景与研究意义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02 需求分析与总体设计目标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03 采用技术与开发环境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04 软件结构图与系统架构说明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05 其它重要模型图（用例图 / ER图 / 时序图）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06 核心界面展示与关键流程说明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07 总结与研究展望</a:t>
            </a:r>
          </a:p>
          <a:p>
            <a:pPr algn="l">
              <a:lnSpc>
                <a:spcPct val="125000"/>
              </a:lnSpc>
              <a:spcAft>
                <a:spcPts val="800"/>
              </a:spcAft>
              <a:defRPr sz="1700" b="0">
                <a:solidFill>
                  <a:srgbClr val="2D2D2D"/>
                </a:solidFill>
              </a:defRPr>
            </a:pPr>
            <a:r>
              <a:t>08 致谢（单独一页）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01 毕设系统背景与研究意义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研究背景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课题意义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当前线下活动管理方式以人工登记和分散表格为主，数据更新不及时，流程衔接效率低。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在报名、排课、成绩与考勤环节中，重复录入与统计滞后问题明显，影响教学管理质量。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师生端缺少统一入口，信息获取不透明，沟通成本高。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建设统一平台可实现“报名—教学—评价—归档”全流程数字化与标准化。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通过学生、教师、管理员三类角色协同，显著提升业务处理效率和数据一致性。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系统为后续数据可视化、移动化扩展和智能推荐提供可复用基础。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02 需求分析与总体设计目标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核心功能需求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总体设计目标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学生端：课程浏览、在线报名、成绩查询、考勤查看、个人信息维护。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教师端：课程发布与管理、成绩录入、考勤登记、历史记录查询。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管理员端：用户管理、角色授权、基础字典维护、系统运行保障。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目标一：实现多角色统一入口与权限隔离，保障系统安全可控。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目标二：形成清晰分层架构，便于维护、扩展与后续迭代。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目标三：保证高频业务操作路径短、界面简洁、响应稳定。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03 采用技术与开发环境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技术栈构成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选型说明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后端：Spring、Spring MVC、MyBatis；数据库：MySQL。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前端：JSP + Bootstrap/AdminLTE，构建统一后台管理界面。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工具：Maven 构建管理、JUnit 测试、Tomcat 部署运行、Git 版本控制。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技术成熟稳定、学习成本可控，适合毕业设计项目完整落地。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MVC 分层便于模块化开发，MyBatis 兼顾 SQL 灵活性与开发效率。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部署链路简单，后续可平滑扩展更多业务模块。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04 软件结构图与系统架构说明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系统总体架构（B/S + MVC）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300" b="0">
                <a:solidFill>
                  <a:srgbClr val="2D2D2D"/>
                </a:solidFill>
              </a:defRPr>
            </a:pPr>
            <a:r>
              <a:t>前端请求经 Controller 路由至 Service 执行业务逻辑，再由 DAO/MyBatis 完成数据库读写。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300" b="0">
                <a:solidFill>
                  <a:srgbClr val="2D2D2D"/>
                </a:solidFill>
              </a:defRPr>
            </a:pPr>
            <a:r>
              <a:t>分层清晰、耦合较低，支持后续功能扩展与团队协作开发。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331720"/>
            <a:ext cx="2286000" cy="566928"/>
          </a:xfrm>
          <a:prstGeom prst="roundRect">
            <a:avLst/>
          </a:prstGeom>
          <a:solidFill>
            <a:srgbClr val="DFEBF9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10912" y="2404872"/>
            <a:ext cx="213969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400" b="1">
                <a:solidFill>
                  <a:srgbClr val="224981"/>
                </a:solidFill>
              </a:defRPr>
            </a:pPr>
            <a:r>
              <a:t>浏览器 / 前端页面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3063240"/>
            <a:ext cx="2286000" cy="566928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3136392"/>
            <a:ext cx="213969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300" b="1">
                <a:solidFill>
                  <a:srgbClr val="2D2D2D"/>
                </a:solidFill>
              </a:defRPr>
            </a:pPr>
            <a:r>
              <a:t>Controller 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3840480"/>
            <a:ext cx="2286000" cy="658368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4832" y="3913632"/>
            <a:ext cx="2139696" cy="51206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0">
                <a:solidFill>
                  <a:srgbClr val="2D2D2D"/>
                </a:solidFill>
              </a:defRPr>
            </a:pPr>
            <a:r>
              <a:t>Service 层</a:t>
            </a:r>
            <a:br/>
            <a:r>
              <a:t>业务处理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840480"/>
            <a:ext cx="2286000" cy="658368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3913632"/>
            <a:ext cx="2139696" cy="51206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0">
                <a:solidFill>
                  <a:srgbClr val="2D2D2D"/>
                </a:solidFill>
              </a:defRPr>
            </a:pPr>
            <a:r>
              <a:t>Mapper/DAO 层</a:t>
            </a:r>
            <a:br/>
            <a:r>
              <a:t>数据访问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840480"/>
            <a:ext cx="2286000" cy="658368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3913632"/>
            <a:ext cx="2139696" cy="51206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0">
                <a:solidFill>
                  <a:srgbClr val="2D2D2D"/>
                </a:solidFill>
              </a:defRPr>
            </a:pPr>
            <a:r>
              <a:t>权限/日志/会话</a:t>
            </a:r>
            <a:br/>
            <a:r>
              <a:t>横切能力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36592"/>
            <a:ext cx="2286000" cy="621792"/>
          </a:xfrm>
          <a:prstGeom prst="roundRect">
            <a:avLst/>
          </a:prstGeom>
          <a:solidFill>
            <a:srgbClr val="DFEBF9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0912" y="4809744"/>
            <a:ext cx="2139696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400" b="1">
                <a:solidFill>
                  <a:srgbClr val="224981"/>
                </a:solidFill>
              </a:defRPr>
            </a:pPr>
            <a:r>
              <a:t>MySQL 数据库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743200"/>
            <a:ext cx="228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600" b="1">
                <a:solidFill>
                  <a:srgbClr val="224981"/>
                </a:solidFill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474720"/>
            <a:ext cx="228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600" b="1">
                <a:solidFill>
                  <a:srgbClr val="224981"/>
                </a:solidFill>
              </a:defRPr>
            </a:pPr>
            <a: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526280"/>
            <a:ext cx="228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600" b="1">
                <a:solidFill>
                  <a:srgbClr val="224981"/>
                </a:solidFill>
              </a:defRPr>
            </a:pPr>
            <a:r>
              <a:t>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05 其它重要模型图（一）：用例图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用例模型（角色与职责边界）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300" b="0">
                <a:solidFill>
                  <a:srgbClr val="2D2D2D"/>
                </a:solidFill>
              </a:defRPr>
            </a:pPr>
            <a:r>
              <a:t>模型明确三类参与者职责：学生以报名查询为主，教师负责教学过程管理，管理员承担全局配置与安全治理。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423160"/>
            <a:ext cx="1417320" cy="548640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496312"/>
            <a:ext cx="1271016" cy="402335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学生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46120"/>
            <a:ext cx="1417320" cy="548640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3319272"/>
            <a:ext cx="1271016" cy="402335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教师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069080"/>
            <a:ext cx="1417320" cy="548640"/>
          </a:xfrm>
          <a:prstGeom prst="roundRect">
            <a:avLst/>
          </a:prstGeom>
          <a:solidFill>
            <a:srgbClr val="EFF5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142232"/>
            <a:ext cx="1271016" cy="402335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管理员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201168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208483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登录系统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01168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08483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报名选课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4320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81635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课程管理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81635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成绩录入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47472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354787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考勤管理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4206240"/>
            <a:ext cx="1920240" cy="566928"/>
          </a:xfrm>
          <a:prstGeom prst="roundRect">
            <a:avLst/>
          </a:prstGeom>
          <a:solidFill>
            <a:srgbClr val="E6EFFA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62672" y="4279392"/>
            <a:ext cx="1773936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24981"/>
                </a:solidFill>
              </a:defRPr>
            </a:pPr>
            <a:r>
              <a:t>用户与权限管理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05 其它重要模型图（二）：ER 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ER 模型（核心实体与关系）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300" b="0">
                <a:solidFill>
                  <a:srgbClr val="2D2D2D"/>
                </a:solidFill>
              </a:defRPr>
            </a:pPr>
            <a:r>
              <a:t>以 Scourse（选课关系）作为核心中间实体，连接学生与课程，并向成绩、考勤表延展，保证数据追溯性与一致性。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14884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22199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20040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27355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Student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425196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32511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Teacher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214884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22199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Course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20040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792" y="327355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Scourse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278892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86207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Grade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3840480"/>
            <a:ext cx="1874519" cy="685800"/>
          </a:xfrm>
          <a:prstGeom prst="roundRect">
            <a:avLst/>
          </a:prstGeom>
          <a:solidFill>
            <a:srgbClr val="EEF4FB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3913632"/>
            <a:ext cx="1728216" cy="5394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224981"/>
                </a:solidFill>
              </a:defRPr>
            </a:pPr>
            <a:r>
              <a:t>Attendance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468880"/>
            <a:ext cx="64008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347AB8"/>
                </a:solidFill>
              </a:defRPr>
            </a:pPr>
            <a:r>
              <a:t>1:1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520440"/>
            <a:ext cx="64008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347AB8"/>
                </a:solidFill>
              </a:defRPr>
            </a:pPr>
            <a:r>
              <a:t>1:1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572000"/>
            <a:ext cx="64008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347AB8"/>
                </a:solidFill>
              </a:defRPr>
            </a:pPr>
            <a:r>
              <a:t>1:N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429000"/>
            <a:ext cx="64008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347AB8"/>
                </a:solidFill>
              </a:defRPr>
            </a:pPr>
            <a:r>
              <a:t>1:N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480560"/>
            <a:ext cx="64008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200" b="1">
                <a:solidFill>
                  <a:srgbClr val="347AB8"/>
                </a:solidFill>
              </a:defRPr>
            </a:pPr>
            <a:r>
              <a:t>1:N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05 其它重要模型图（三）：关键业务时序图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“报名选课”业务时序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300" b="0">
                <a:solidFill>
                  <a:srgbClr val="2D2D2D"/>
                </a:solidFill>
              </a:defRPr>
            </a:pPr>
            <a:r>
              <a:t>时序图展示从前端提交到数据库落库的关键路径，重点体现 Service 层规则校验与一致性控制。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057400"/>
            <a:ext cx="1463040" cy="530352"/>
          </a:xfrm>
          <a:prstGeom prst="roundRect">
            <a:avLst/>
          </a:prstGeom>
          <a:solidFill>
            <a:srgbClr val="EAF2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2130552"/>
            <a:ext cx="1316736" cy="384047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1">
                <a:solidFill>
                  <a:srgbClr val="224981"/>
                </a:solidFill>
              </a:defRPr>
            </a:pPr>
            <a:r>
              <a:t>学生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391" y="2606040"/>
            <a:ext cx="36576" cy="2057400"/>
          </a:xfrm>
          <a:prstGeom prst="rect">
            <a:avLst/>
          </a:prstGeom>
          <a:solidFill>
            <a:srgbClr val="A3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0" y="2057400"/>
            <a:ext cx="1463040" cy="530352"/>
          </a:xfrm>
          <a:prstGeom prst="roundRect">
            <a:avLst/>
          </a:prstGeom>
          <a:solidFill>
            <a:srgbClr val="EAF2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2130552"/>
            <a:ext cx="1316736" cy="384047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1">
                <a:solidFill>
                  <a:srgbClr val="224981"/>
                </a:solidFill>
              </a:defRPr>
            </a:pPr>
            <a:r>
              <a:t>Web页面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5072" y="2606040"/>
            <a:ext cx="36576" cy="2057400"/>
          </a:xfrm>
          <a:prstGeom prst="rect">
            <a:avLst/>
          </a:prstGeom>
          <a:solidFill>
            <a:srgbClr val="A3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0" y="2057400"/>
            <a:ext cx="1463040" cy="530352"/>
          </a:xfrm>
          <a:prstGeom prst="roundRect">
            <a:avLst/>
          </a:prstGeom>
          <a:solidFill>
            <a:srgbClr val="EAF2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2130552"/>
            <a:ext cx="1316736" cy="384047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1">
                <a:solidFill>
                  <a:srgbClr val="224981"/>
                </a:solidFill>
              </a:defRPr>
            </a:pPr>
            <a:r>
              <a:t>Controller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2" y="2606040"/>
            <a:ext cx="36576" cy="2057400"/>
          </a:xfrm>
          <a:prstGeom prst="rect">
            <a:avLst/>
          </a:prstGeom>
          <a:solidFill>
            <a:srgbClr val="A3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0" y="2057400"/>
            <a:ext cx="1463040" cy="530352"/>
          </a:xfrm>
          <a:prstGeom prst="roundRect">
            <a:avLst/>
          </a:prstGeom>
          <a:solidFill>
            <a:srgbClr val="EAF2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2130552"/>
            <a:ext cx="1316736" cy="384047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1">
                <a:solidFill>
                  <a:srgbClr val="224981"/>
                </a:solidFill>
              </a:defRPr>
            </a:pPr>
            <a:r>
              <a:t>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2606040"/>
            <a:ext cx="36576" cy="2057400"/>
          </a:xfrm>
          <a:prstGeom prst="rect">
            <a:avLst/>
          </a:prstGeom>
          <a:solidFill>
            <a:srgbClr val="A3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26880" y="2057400"/>
            <a:ext cx="1463040" cy="530352"/>
          </a:xfrm>
          <a:prstGeom prst="roundRect">
            <a:avLst/>
          </a:prstGeom>
          <a:solidFill>
            <a:srgbClr val="EAF2FC"/>
          </a:solidFill>
          <a:ln>
            <a:solidFill>
              <a:srgbClr val="A0B5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2130552"/>
            <a:ext cx="1316736" cy="384047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defRPr sz="1100" b="1">
                <a:solidFill>
                  <a:srgbClr val="224981"/>
                </a:solidFill>
              </a:defRPr>
            </a:pPr>
            <a:r>
              <a:t>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0111" y="2606040"/>
            <a:ext cx="36576" cy="2057400"/>
          </a:xfrm>
          <a:prstGeom prst="rect">
            <a:avLst/>
          </a:prstGeom>
          <a:solidFill>
            <a:srgbClr val="A3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788920"/>
            <a:ext cx="8961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D2D2D"/>
                </a:solidFill>
              </a:defRPr>
            </a:pPr>
            <a:r>
              <a:t>1. 提交报名请求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154680"/>
            <a:ext cx="8961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D2D2D"/>
                </a:solidFill>
              </a:defRPr>
            </a:pPr>
            <a:r>
              <a:t>2. 参数校验与权限校验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520440"/>
            <a:ext cx="8961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D2D2D"/>
                </a:solidFill>
              </a:defRPr>
            </a:pPr>
            <a:r>
              <a:t>3. 课程名额与重复报名检查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86200"/>
            <a:ext cx="8961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00" b="0">
                <a:solidFill>
                  <a:srgbClr val="2D2D2D"/>
                </a:solidFill>
              </a:defRPr>
            </a:pPr>
            <a:r>
              <a:t>4. 写入选课记录并返回结果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06 核心界面展示（一）：登录与统一入口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界面展示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defRPr sz="1600" b="1">
                <a:solidFill>
                  <a:srgbClr val="224981"/>
                </a:solidFill>
              </a:defRPr>
            </a:pPr>
            <a:r>
              <a:t>【此处放置登录页截图】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建议使用清晰截图（包含账号输入区与登录按钮）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系统提供统一认证入口，登录后按角色自动进入学生端、教师端或管理员端。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登录提示信息明确，能有效减少误操作，便于答辩现场快速演示系统入口逻辑。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06 核心界面展示（二）：教师端课程管理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界面展示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defRPr sz="1600" b="1">
                <a:solidFill>
                  <a:srgbClr val="224981"/>
                </a:solidFill>
              </a:defRPr>
            </a:pPr>
            <a:r>
              <a:t>【此处放置课程管理页截图】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建议截图包含“新增/编辑/删除/查询”按钮区与表格区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教师可完成课程发布、课程维护、信息查询等高频业务。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列表化管理使操作路径清晰，适合答辩时按“查询→编辑→保存”流程演示。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06 核心界面展示（三）：成绩与考勤管理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界面展示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defRPr sz="1500" b="1">
                <a:solidFill>
                  <a:srgbClr val="224981"/>
                </a:solidFill>
              </a:defRPr>
            </a:pPr>
            <a:r>
              <a:t>【上：成绩录入截图】</a:t>
            </a:r>
            <a:br/>
            <a:r>
              <a:t>【下：考勤管理截图】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建议展示课程选择区、学生列表区、保存按钮区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成绩与考勤均与选课记录关联，保证“学生-课程-结果”主线可追溯。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可突出批量操作能力，展示系统在教学管理中的效率优势。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06 核心界面展示（四）：管理员用户与权限管理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界面展示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讲解要点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defRPr sz="1600" b="1">
                <a:solidFill>
                  <a:srgbClr val="224981"/>
                </a:solidFill>
              </a:defRPr>
            </a:pPr>
            <a:r>
              <a:t>【此处放置用户与权限管理截图】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建议包含用户列表、角色分配、状态管理等区域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管理员负责账号生命周期管理与角色授权，保证系统权限边界清晰。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权限调整可即时生效，能够有效防止越权访问并提升系统治理能力。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07 总结与研究展望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72784" y="1051560"/>
            <a:ext cx="5559552" cy="544068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2784" y="1051560"/>
            <a:ext cx="5559552" cy="676656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工作总结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170432"/>
            <a:ext cx="51663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900" b="1">
                <a:solidFill>
                  <a:srgbClr val="FFFFFF"/>
                </a:solidFill>
              </a:defRPr>
            </a:pPr>
            <a:r>
              <a:t>研究展望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本课题完成了青少年活动中心管理平台的设计与实现，形成了多角色协同的教学管理系统。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通过信息化手段打通报名、课程、成绩、考勤全流程，提升了管理效率与数据规范性。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项目结构清晰、部署链路完整，具备进一步迭代的工程基础。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1"/>
            <a:ext cx="5230368" cy="4526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400" b="0">
                <a:solidFill>
                  <a:srgbClr val="2D2D2D"/>
                </a:solidFill>
              </a:defRPr>
            </a:pPr>
            <a:r>
              <a:t>数据可视化：引入 ECharts 分析报名趋势、成绩分布和出勤率。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移动端适配：优化响应式界面或扩展小程序端，提升使用便捷性。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400" b="0">
                <a:solidFill>
                  <a:srgbClr val="2D2D2D"/>
                </a:solidFill>
              </a:defRPr>
            </a:pPr>
            <a:r>
              <a:t>智能推荐与消息通知：结合历史行为实现课程推荐，并在关键节点自动提醒。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155680" cy="594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400" b="1">
                <a:solidFill>
                  <a:srgbClr val="224981"/>
                </a:solidFill>
              </a:defRPr>
            </a:pPr>
            <a:r>
              <a:t>08 致谢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859536"/>
            <a:ext cx="11594592" cy="36576"/>
          </a:xfrm>
          <a:prstGeom prst="rect">
            <a:avLst/>
          </a:prstGeom>
          <a:solidFill>
            <a:srgbClr val="4887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270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B2C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731520"/>
          </a:xfrm>
          <a:prstGeom prst="rect">
            <a:avLst/>
          </a:prstGeom>
          <a:solidFill>
            <a:srgbClr val="34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104241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致  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378440" cy="41605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  <a:defRPr sz="1700" b="0">
                <a:solidFill>
                  <a:srgbClr val="2D2D2D"/>
                </a:solidFill>
              </a:defRPr>
            </a:pPr>
            <a:r>
              <a:t>在本次毕业设计完成过程中，衷心感谢指导老师在课题选取、方案设计、系统实现及论文写作中的悉心指导。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700" b="0">
                <a:solidFill>
                  <a:srgbClr val="2D2D2D"/>
                </a:solidFill>
              </a:defRPr>
            </a:pPr>
            <a:r>
              <a:t>感谢学院各位老师在专业课程学习阶段给予的帮助，使我具备完成本课题所需的理论与实践基础。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  <a:defRPr sz="1700" b="0">
                <a:solidFill>
                  <a:srgbClr val="2D2D2D"/>
                </a:solidFill>
              </a:defRPr>
            </a:pPr>
            <a:r>
              <a:t>感谢同学与朋友在系统测试和资料整理过程中提供的支持与建议。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defRPr sz="2000" b="1">
                <a:solidFill>
                  <a:srgbClr val="224981"/>
                </a:solidFill>
              </a:defRPr>
            </a:pPr>
            <a:r>
              <a:t>最后，诚挚感谢各位答辩老师的审阅与指正！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