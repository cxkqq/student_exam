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11274552" cy="54864"/>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10360152" cy="731520"/>
          </a:xfrm>
          <a:prstGeom prst="rect">
            <a:avLst/>
          </a:prstGeom>
          <a:noFill/>
        </p:spPr>
        <p:txBody>
          <a:bodyPr wrap="square">
            <a:spAutoFit/>
          </a:bodyPr>
          <a:lstStyle/>
          <a:p>
            <a:pPr algn="ctr"/>
            <a:r>
              <a:rPr sz="2600" b="0">
                <a:solidFill>
                  <a:srgbClr val="FFFFFF"/>
                </a:solidFill>
              </a:rPr>
              <a:t>基于 Spring Boot 与 Vue 的</a:t>
            </a:r>
          </a:p>
        </p:txBody>
      </p:sp>
      <p:sp>
        <p:nvSpPr>
          <p:cNvPr id="6" name="TextBox 5"/>
          <p:cNvSpPr txBox="1"/>
          <p:nvPr/>
        </p:nvSpPr>
        <p:spPr>
          <a:xfrm>
            <a:off x="457200" y="2286000"/>
            <a:ext cx="11274552" cy="1097280"/>
          </a:xfrm>
          <a:prstGeom prst="rect">
            <a:avLst/>
          </a:prstGeom>
          <a:noFill/>
        </p:spPr>
        <p:txBody>
          <a:bodyPr wrap="square">
            <a:spAutoFit/>
          </a:bodyPr>
          <a:lstStyle/>
          <a:p>
            <a:pPr algn="ctr"/>
            <a:r>
              <a:rPr sz="3400" b="1">
                <a:solidFill>
                  <a:srgbClr val="FFFFFF"/>
                </a:solidFill>
              </a:rPr>
              <a:t>青少年活动中心管理平台设计与实现</a:t>
            </a:r>
          </a:p>
        </p:txBody>
      </p:sp>
      <p:sp>
        <p:nvSpPr>
          <p:cNvPr id="7" name="Rectangle 6"/>
          <p:cNvSpPr/>
          <p:nvPr/>
        </p:nvSpPr>
        <p:spPr>
          <a:xfrm>
            <a:off x="4114800" y="3657600"/>
            <a:ext cx="3959352" cy="457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840480"/>
            <a:ext cx="11274552" cy="548640"/>
          </a:xfrm>
          <a:prstGeom prst="rect">
            <a:avLst/>
          </a:prstGeom>
          <a:noFill/>
        </p:spPr>
        <p:txBody>
          <a:bodyPr wrap="square">
            <a:spAutoFit/>
          </a:bodyPr>
          <a:lstStyle/>
          <a:p>
            <a:pPr algn="ctr"/>
            <a:r>
              <a:rPr sz="2000" b="0">
                <a:solidFill>
                  <a:srgbClr val="B4D2FF"/>
                </a:solidFill>
              </a:rPr>
              <a:t>毕业设计答辩</a:t>
            </a:r>
          </a:p>
        </p:txBody>
      </p:sp>
      <p:sp>
        <p:nvSpPr>
          <p:cNvPr id="9" name="TextBox 8"/>
          <p:cNvSpPr txBox="1"/>
          <p:nvPr/>
        </p:nvSpPr>
        <p:spPr>
          <a:xfrm>
            <a:off x="457200" y="4572000"/>
            <a:ext cx="11274552" cy="457200"/>
          </a:xfrm>
          <a:prstGeom prst="rect">
            <a:avLst/>
          </a:prstGeom>
          <a:noFill/>
        </p:spPr>
        <p:txBody>
          <a:bodyPr wrap="square">
            <a:spAutoFit/>
          </a:bodyPr>
          <a:lstStyle/>
          <a:p>
            <a:pPr algn="ctr"/>
            <a:r>
              <a:rPr sz="1600" b="0">
                <a:solidFill>
                  <a:srgbClr val="C8DCFF"/>
                </a:solidFill>
              </a:rPr>
              <a:t>汇报人：XXX        指导教师：许文庆 副教授</a:t>
            </a:r>
          </a:p>
        </p:txBody>
      </p:sp>
      <p:sp>
        <p:nvSpPr>
          <p:cNvPr id="10" name="TextBox 9"/>
          <p:cNvSpPr txBox="1"/>
          <p:nvPr/>
        </p:nvSpPr>
        <p:spPr>
          <a:xfrm>
            <a:off x="457200" y="5120640"/>
            <a:ext cx="11274552" cy="457200"/>
          </a:xfrm>
          <a:prstGeom prst="rect">
            <a:avLst/>
          </a:prstGeom>
          <a:noFill/>
        </p:spPr>
        <p:txBody>
          <a:bodyPr wrap="square">
            <a:spAutoFit/>
          </a:bodyPr>
          <a:lstStyle/>
          <a:p>
            <a:pPr algn="ctr"/>
            <a:r>
              <a:rPr sz="1400" b="0">
                <a:solidFill>
                  <a:srgbClr val="A0C8F0"/>
                </a:solidFill>
              </a:rPr>
              <a:t>福州工商学院  工学院  2026 年 5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74552" cy="640080"/>
          </a:xfrm>
          <a:prstGeom prst="rect">
            <a:avLst/>
          </a:prstGeom>
          <a:noFill/>
        </p:spPr>
        <p:txBody>
          <a:bodyPr wrap="square">
            <a:spAutoFit/>
          </a:bodyPr>
          <a:lstStyle/>
          <a:p>
            <a:pPr algn="ctr"/>
            <a:r>
              <a:rPr sz="3000" b="1">
                <a:solidFill>
                  <a:srgbClr val="FFFFFF"/>
                </a:solidFill>
              </a:rPr>
              <a:t>目  录</a:t>
            </a:r>
          </a:p>
        </p:txBody>
      </p:sp>
      <p:sp>
        <p:nvSpPr>
          <p:cNvPr id="4" name="Rectangle 3"/>
          <p:cNvSpPr/>
          <p:nvPr/>
        </p:nvSpPr>
        <p:spPr>
          <a:xfrm>
            <a:off x="457200" y="118872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280160"/>
            <a:ext cx="731520" cy="502920"/>
          </a:xfrm>
          <a:prstGeom prst="rect">
            <a:avLst/>
          </a:prstGeom>
          <a:noFill/>
        </p:spPr>
        <p:txBody>
          <a:bodyPr wrap="square">
            <a:spAutoFit/>
          </a:bodyPr>
          <a:lstStyle/>
          <a:p>
            <a:pPr algn="l"/>
            <a:r>
              <a:rPr sz="2800" b="1">
                <a:solidFill>
                  <a:srgbClr val="E65100"/>
                </a:solidFill>
              </a:rPr>
              <a:t>01</a:t>
            </a:r>
          </a:p>
        </p:txBody>
      </p:sp>
      <p:sp>
        <p:nvSpPr>
          <p:cNvPr id="6" name="TextBox 5"/>
          <p:cNvSpPr txBox="1"/>
          <p:nvPr/>
        </p:nvSpPr>
        <p:spPr>
          <a:xfrm>
            <a:off x="594360" y="1783080"/>
            <a:ext cx="3291840" cy="594360"/>
          </a:xfrm>
          <a:prstGeom prst="rect">
            <a:avLst/>
          </a:prstGeom>
          <a:noFill/>
        </p:spPr>
        <p:txBody>
          <a:bodyPr wrap="square">
            <a:spAutoFit/>
          </a:bodyPr>
          <a:lstStyle/>
          <a:p>
            <a:pPr algn="l"/>
            <a:r>
              <a:rPr sz="1500" b="0">
                <a:solidFill>
                  <a:srgbClr val="FFFFFF"/>
                </a:solidFill>
              </a:rPr>
              <a:t>研究背景与意义</a:t>
            </a:r>
          </a:p>
        </p:txBody>
      </p:sp>
      <p:sp>
        <p:nvSpPr>
          <p:cNvPr id="7" name="Rectangle 6"/>
          <p:cNvSpPr/>
          <p:nvPr/>
        </p:nvSpPr>
        <p:spPr>
          <a:xfrm>
            <a:off x="4361688" y="118872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98848" y="1280160"/>
            <a:ext cx="731520" cy="502920"/>
          </a:xfrm>
          <a:prstGeom prst="rect">
            <a:avLst/>
          </a:prstGeom>
          <a:noFill/>
        </p:spPr>
        <p:txBody>
          <a:bodyPr wrap="square">
            <a:spAutoFit/>
          </a:bodyPr>
          <a:lstStyle/>
          <a:p>
            <a:pPr algn="l"/>
            <a:r>
              <a:rPr sz="2800" b="1">
                <a:solidFill>
                  <a:srgbClr val="E65100"/>
                </a:solidFill>
              </a:rPr>
              <a:t>02</a:t>
            </a:r>
          </a:p>
        </p:txBody>
      </p:sp>
      <p:sp>
        <p:nvSpPr>
          <p:cNvPr id="9" name="TextBox 8"/>
          <p:cNvSpPr txBox="1"/>
          <p:nvPr/>
        </p:nvSpPr>
        <p:spPr>
          <a:xfrm>
            <a:off x="4498848" y="1783080"/>
            <a:ext cx="3291840" cy="594360"/>
          </a:xfrm>
          <a:prstGeom prst="rect">
            <a:avLst/>
          </a:prstGeom>
          <a:noFill/>
        </p:spPr>
        <p:txBody>
          <a:bodyPr wrap="square">
            <a:spAutoFit/>
          </a:bodyPr>
          <a:lstStyle/>
          <a:p>
            <a:pPr algn="l"/>
            <a:r>
              <a:rPr sz="1500" b="0">
                <a:solidFill>
                  <a:srgbClr val="FFFFFF"/>
                </a:solidFill>
              </a:rPr>
              <a:t>国内外研究现状</a:t>
            </a:r>
          </a:p>
        </p:txBody>
      </p:sp>
      <p:sp>
        <p:nvSpPr>
          <p:cNvPr id="10" name="Rectangle 9"/>
          <p:cNvSpPr/>
          <p:nvPr/>
        </p:nvSpPr>
        <p:spPr>
          <a:xfrm>
            <a:off x="8266175" y="118872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03336" y="1280160"/>
            <a:ext cx="731520" cy="502920"/>
          </a:xfrm>
          <a:prstGeom prst="rect">
            <a:avLst/>
          </a:prstGeom>
          <a:noFill/>
        </p:spPr>
        <p:txBody>
          <a:bodyPr wrap="square">
            <a:spAutoFit/>
          </a:bodyPr>
          <a:lstStyle/>
          <a:p>
            <a:pPr algn="l"/>
            <a:r>
              <a:rPr sz="2800" b="1">
                <a:solidFill>
                  <a:srgbClr val="E65100"/>
                </a:solidFill>
              </a:rPr>
              <a:t>03</a:t>
            </a:r>
          </a:p>
        </p:txBody>
      </p:sp>
      <p:sp>
        <p:nvSpPr>
          <p:cNvPr id="12" name="TextBox 11"/>
          <p:cNvSpPr txBox="1"/>
          <p:nvPr/>
        </p:nvSpPr>
        <p:spPr>
          <a:xfrm>
            <a:off x="8403336" y="1783080"/>
            <a:ext cx="3291840" cy="594360"/>
          </a:xfrm>
          <a:prstGeom prst="rect">
            <a:avLst/>
          </a:prstGeom>
          <a:noFill/>
        </p:spPr>
        <p:txBody>
          <a:bodyPr wrap="square">
            <a:spAutoFit/>
          </a:bodyPr>
          <a:lstStyle/>
          <a:p>
            <a:pPr algn="l"/>
            <a:r>
              <a:rPr sz="1500" b="0">
                <a:solidFill>
                  <a:srgbClr val="FFFFFF"/>
                </a:solidFill>
              </a:rPr>
              <a:t>相关技术介绍</a:t>
            </a:r>
          </a:p>
        </p:txBody>
      </p:sp>
      <p:sp>
        <p:nvSpPr>
          <p:cNvPr id="13" name="Rectangle 12"/>
          <p:cNvSpPr/>
          <p:nvPr/>
        </p:nvSpPr>
        <p:spPr>
          <a:xfrm>
            <a:off x="457200" y="292608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17520"/>
            <a:ext cx="731520" cy="502920"/>
          </a:xfrm>
          <a:prstGeom prst="rect">
            <a:avLst/>
          </a:prstGeom>
          <a:noFill/>
        </p:spPr>
        <p:txBody>
          <a:bodyPr wrap="square">
            <a:spAutoFit/>
          </a:bodyPr>
          <a:lstStyle/>
          <a:p>
            <a:pPr algn="l"/>
            <a:r>
              <a:rPr sz="2800" b="1">
                <a:solidFill>
                  <a:srgbClr val="E65100"/>
                </a:solidFill>
              </a:rPr>
              <a:t>04</a:t>
            </a:r>
          </a:p>
        </p:txBody>
      </p:sp>
      <p:sp>
        <p:nvSpPr>
          <p:cNvPr id="15" name="TextBox 14"/>
          <p:cNvSpPr txBox="1"/>
          <p:nvPr/>
        </p:nvSpPr>
        <p:spPr>
          <a:xfrm>
            <a:off x="594360" y="3520440"/>
            <a:ext cx="3291840" cy="594360"/>
          </a:xfrm>
          <a:prstGeom prst="rect">
            <a:avLst/>
          </a:prstGeom>
          <a:noFill/>
        </p:spPr>
        <p:txBody>
          <a:bodyPr wrap="square">
            <a:spAutoFit/>
          </a:bodyPr>
          <a:lstStyle/>
          <a:p>
            <a:pPr algn="l"/>
            <a:r>
              <a:rPr sz="1500" b="0">
                <a:solidFill>
                  <a:srgbClr val="FFFFFF"/>
                </a:solidFill>
              </a:rPr>
              <a:t>系统需求分析</a:t>
            </a:r>
          </a:p>
        </p:txBody>
      </p:sp>
      <p:sp>
        <p:nvSpPr>
          <p:cNvPr id="16" name="Rectangle 15"/>
          <p:cNvSpPr/>
          <p:nvPr/>
        </p:nvSpPr>
        <p:spPr>
          <a:xfrm>
            <a:off x="4361688" y="292608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98848" y="3017520"/>
            <a:ext cx="731520" cy="502920"/>
          </a:xfrm>
          <a:prstGeom prst="rect">
            <a:avLst/>
          </a:prstGeom>
          <a:noFill/>
        </p:spPr>
        <p:txBody>
          <a:bodyPr wrap="square">
            <a:spAutoFit/>
          </a:bodyPr>
          <a:lstStyle/>
          <a:p>
            <a:pPr algn="l"/>
            <a:r>
              <a:rPr sz="2800" b="1">
                <a:solidFill>
                  <a:srgbClr val="E65100"/>
                </a:solidFill>
              </a:rPr>
              <a:t>05</a:t>
            </a:r>
          </a:p>
        </p:txBody>
      </p:sp>
      <p:sp>
        <p:nvSpPr>
          <p:cNvPr id="18" name="TextBox 17"/>
          <p:cNvSpPr txBox="1"/>
          <p:nvPr/>
        </p:nvSpPr>
        <p:spPr>
          <a:xfrm>
            <a:off x="4498848" y="3520440"/>
            <a:ext cx="3291840" cy="594360"/>
          </a:xfrm>
          <a:prstGeom prst="rect">
            <a:avLst/>
          </a:prstGeom>
          <a:noFill/>
        </p:spPr>
        <p:txBody>
          <a:bodyPr wrap="square">
            <a:spAutoFit/>
          </a:bodyPr>
          <a:lstStyle/>
          <a:p>
            <a:pPr algn="l"/>
            <a:r>
              <a:rPr sz="1500" b="0">
                <a:solidFill>
                  <a:srgbClr val="FFFFFF"/>
                </a:solidFill>
              </a:rPr>
              <a:t>系统设计</a:t>
            </a:r>
          </a:p>
        </p:txBody>
      </p:sp>
      <p:sp>
        <p:nvSpPr>
          <p:cNvPr id="19" name="Rectangle 18"/>
          <p:cNvSpPr/>
          <p:nvPr/>
        </p:nvSpPr>
        <p:spPr>
          <a:xfrm>
            <a:off x="8266175" y="292608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3017520"/>
            <a:ext cx="731520" cy="502920"/>
          </a:xfrm>
          <a:prstGeom prst="rect">
            <a:avLst/>
          </a:prstGeom>
          <a:noFill/>
        </p:spPr>
        <p:txBody>
          <a:bodyPr wrap="square">
            <a:spAutoFit/>
          </a:bodyPr>
          <a:lstStyle/>
          <a:p>
            <a:pPr algn="l"/>
            <a:r>
              <a:rPr sz="2800" b="1">
                <a:solidFill>
                  <a:srgbClr val="E65100"/>
                </a:solidFill>
              </a:rPr>
              <a:t>06</a:t>
            </a:r>
          </a:p>
        </p:txBody>
      </p:sp>
      <p:sp>
        <p:nvSpPr>
          <p:cNvPr id="21" name="TextBox 20"/>
          <p:cNvSpPr txBox="1"/>
          <p:nvPr/>
        </p:nvSpPr>
        <p:spPr>
          <a:xfrm>
            <a:off x="8403336" y="3520440"/>
            <a:ext cx="3291840" cy="594360"/>
          </a:xfrm>
          <a:prstGeom prst="rect">
            <a:avLst/>
          </a:prstGeom>
          <a:noFill/>
        </p:spPr>
        <p:txBody>
          <a:bodyPr wrap="square">
            <a:spAutoFit/>
          </a:bodyPr>
          <a:lstStyle/>
          <a:p>
            <a:pPr algn="l"/>
            <a:r>
              <a:rPr sz="1500" b="0">
                <a:solidFill>
                  <a:srgbClr val="FFFFFF"/>
                </a:solidFill>
              </a:rPr>
              <a:t>数据库设计</a:t>
            </a:r>
          </a:p>
        </p:txBody>
      </p:sp>
      <p:sp>
        <p:nvSpPr>
          <p:cNvPr id="22" name="Rectangle 21"/>
          <p:cNvSpPr/>
          <p:nvPr/>
        </p:nvSpPr>
        <p:spPr>
          <a:xfrm>
            <a:off x="457200" y="466344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754879"/>
            <a:ext cx="731520" cy="502920"/>
          </a:xfrm>
          <a:prstGeom prst="rect">
            <a:avLst/>
          </a:prstGeom>
          <a:noFill/>
        </p:spPr>
        <p:txBody>
          <a:bodyPr wrap="square">
            <a:spAutoFit/>
          </a:bodyPr>
          <a:lstStyle/>
          <a:p>
            <a:pPr algn="l"/>
            <a:r>
              <a:rPr sz="2800" b="1">
                <a:solidFill>
                  <a:srgbClr val="E65100"/>
                </a:solidFill>
              </a:rPr>
              <a:t>07</a:t>
            </a:r>
          </a:p>
        </p:txBody>
      </p:sp>
      <p:sp>
        <p:nvSpPr>
          <p:cNvPr id="24" name="TextBox 23"/>
          <p:cNvSpPr txBox="1"/>
          <p:nvPr/>
        </p:nvSpPr>
        <p:spPr>
          <a:xfrm>
            <a:off x="594360" y="5257800"/>
            <a:ext cx="3291840" cy="594360"/>
          </a:xfrm>
          <a:prstGeom prst="rect">
            <a:avLst/>
          </a:prstGeom>
          <a:noFill/>
        </p:spPr>
        <p:txBody>
          <a:bodyPr wrap="square">
            <a:spAutoFit/>
          </a:bodyPr>
          <a:lstStyle/>
          <a:p>
            <a:pPr algn="l"/>
            <a:r>
              <a:rPr sz="1500" b="0">
                <a:solidFill>
                  <a:srgbClr val="FFFFFF"/>
                </a:solidFill>
              </a:rPr>
              <a:t>系统实现</a:t>
            </a:r>
          </a:p>
        </p:txBody>
      </p:sp>
      <p:sp>
        <p:nvSpPr>
          <p:cNvPr id="25" name="Rectangle 24"/>
          <p:cNvSpPr/>
          <p:nvPr/>
        </p:nvSpPr>
        <p:spPr>
          <a:xfrm>
            <a:off x="4361688" y="466344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98848" y="4754879"/>
            <a:ext cx="731520" cy="502920"/>
          </a:xfrm>
          <a:prstGeom prst="rect">
            <a:avLst/>
          </a:prstGeom>
          <a:noFill/>
        </p:spPr>
        <p:txBody>
          <a:bodyPr wrap="square">
            <a:spAutoFit/>
          </a:bodyPr>
          <a:lstStyle/>
          <a:p>
            <a:pPr algn="l"/>
            <a:r>
              <a:rPr sz="2800" b="1">
                <a:solidFill>
                  <a:srgbClr val="E65100"/>
                </a:solidFill>
              </a:rPr>
              <a:t>08</a:t>
            </a:r>
          </a:p>
        </p:txBody>
      </p:sp>
      <p:sp>
        <p:nvSpPr>
          <p:cNvPr id="27" name="TextBox 26"/>
          <p:cNvSpPr txBox="1"/>
          <p:nvPr/>
        </p:nvSpPr>
        <p:spPr>
          <a:xfrm>
            <a:off x="4498848" y="5257800"/>
            <a:ext cx="3291840" cy="594360"/>
          </a:xfrm>
          <a:prstGeom prst="rect">
            <a:avLst/>
          </a:prstGeom>
          <a:noFill/>
        </p:spPr>
        <p:txBody>
          <a:bodyPr wrap="square">
            <a:spAutoFit/>
          </a:bodyPr>
          <a:lstStyle/>
          <a:p>
            <a:pPr algn="l"/>
            <a:r>
              <a:rPr sz="1500" b="0">
                <a:solidFill>
                  <a:srgbClr val="FFFFFF"/>
                </a:solidFill>
              </a:rPr>
              <a:t>系统测试</a:t>
            </a:r>
          </a:p>
        </p:txBody>
      </p:sp>
      <p:sp>
        <p:nvSpPr>
          <p:cNvPr id="28" name="Rectangle 27"/>
          <p:cNvSpPr/>
          <p:nvPr/>
        </p:nvSpPr>
        <p:spPr>
          <a:xfrm>
            <a:off x="8266175" y="4663440"/>
            <a:ext cx="3566160" cy="137160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4754879"/>
            <a:ext cx="731520" cy="502920"/>
          </a:xfrm>
          <a:prstGeom prst="rect">
            <a:avLst/>
          </a:prstGeom>
          <a:noFill/>
        </p:spPr>
        <p:txBody>
          <a:bodyPr wrap="square">
            <a:spAutoFit/>
          </a:bodyPr>
          <a:lstStyle/>
          <a:p>
            <a:pPr algn="l"/>
            <a:r>
              <a:rPr sz="2800" b="1">
                <a:solidFill>
                  <a:srgbClr val="E65100"/>
                </a:solidFill>
              </a:rPr>
              <a:t>09</a:t>
            </a:r>
          </a:p>
        </p:txBody>
      </p:sp>
      <p:sp>
        <p:nvSpPr>
          <p:cNvPr id="30" name="TextBox 29"/>
          <p:cNvSpPr txBox="1"/>
          <p:nvPr/>
        </p:nvSpPr>
        <p:spPr>
          <a:xfrm>
            <a:off x="8403336" y="5257800"/>
            <a:ext cx="3291840" cy="594360"/>
          </a:xfrm>
          <a:prstGeom prst="rect">
            <a:avLst/>
          </a:prstGeom>
          <a:noFill/>
        </p:spPr>
        <p:txBody>
          <a:bodyPr wrap="square">
            <a:spAutoFit/>
          </a:bodyPr>
          <a:lstStyle/>
          <a:p>
            <a:pPr algn="l"/>
            <a:r>
              <a:rPr sz="1500" b="0">
                <a:solidFill>
                  <a:srgbClr val="FFFFFF"/>
                </a:solidFill>
              </a:rPr>
              <a:t>结论与致谢</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01  研究背景与意义</a:t>
            </a:r>
          </a:p>
        </p:txBody>
      </p:sp>
      <p:sp>
        <p:nvSpPr>
          <p:cNvPr id="4" name="Rectangle 3"/>
          <p:cNvSpPr/>
          <p:nvPr/>
        </p:nvSpPr>
        <p:spPr>
          <a:xfrm>
            <a:off x="457200" y="1097280"/>
            <a:ext cx="54864" cy="8229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914400"/>
          </a:xfrm>
          <a:prstGeom prst="rect">
            <a:avLst/>
          </a:prstGeom>
          <a:noFill/>
        </p:spPr>
        <p:txBody>
          <a:bodyPr wrap="square">
            <a:spAutoFit/>
          </a:bodyPr>
          <a:lstStyle/>
          <a:p>
            <a:pPr algn="l"/>
            <a:r>
              <a:rPr sz="1500" b="0">
                <a:solidFill>
                  <a:srgbClr val="212121"/>
                </a:solidFill>
              </a:rPr>
              <a:t>传统纸质登记和分散管理方式难以满足青少年活动中心高效运营需求，信息孤岛问题突出。</a:t>
            </a:r>
          </a:p>
        </p:txBody>
      </p:sp>
      <p:sp>
        <p:nvSpPr>
          <p:cNvPr id="6" name="Rectangle 5"/>
          <p:cNvSpPr/>
          <p:nvPr/>
        </p:nvSpPr>
        <p:spPr>
          <a:xfrm>
            <a:off x="457200" y="2377439"/>
            <a:ext cx="54864" cy="8229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720"/>
            <a:ext cx="10972800" cy="914400"/>
          </a:xfrm>
          <a:prstGeom prst="rect">
            <a:avLst/>
          </a:prstGeom>
          <a:noFill/>
        </p:spPr>
        <p:txBody>
          <a:bodyPr wrap="square">
            <a:spAutoFit/>
          </a:bodyPr>
          <a:lstStyle/>
          <a:p>
            <a:pPr algn="l"/>
            <a:r>
              <a:rPr sz="1500" b="0">
                <a:solidFill>
                  <a:srgbClr val="212121"/>
                </a:solidFill>
              </a:rPr>
              <a:t>活动中心涉及课程报名、考勤记录、成绩管理、评价反馈等多环节，亟需信息化手段整合。</a:t>
            </a:r>
          </a:p>
        </p:txBody>
      </p:sp>
      <p:sp>
        <p:nvSpPr>
          <p:cNvPr id="8" name="Rectangle 7"/>
          <p:cNvSpPr/>
          <p:nvPr/>
        </p:nvSpPr>
        <p:spPr>
          <a:xfrm>
            <a:off x="457200" y="3657600"/>
            <a:ext cx="54864" cy="8229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611879"/>
            <a:ext cx="10972800" cy="914400"/>
          </a:xfrm>
          <a:prstGeom prst="rect">
            <a:avLst/>
          </a:prstGeom>
          <a:noFill/>
        </p:spPr>
        <p:txBody>
          <a:bodyPr wrap="square">
            <a:spAutoFit/>
          </a:bodyPr>
          <a:lstStyle/>
          <a:p>
            <a:pPr algn="l"/>
            <a:r>
              <a:rPr sz="1500" b="0">
                <a:solidFill>
                  <a:srgbClr val="212121"/>
                </a:solidFill>
              </a:rPr>
              <a:t>基于 Spring Boot + Vue 前后端分离架构，构建三类角色（学员/教师/管理员）综合管理平台，具有重要现实意义。</a:t>
            </a:r>
          </a:p>
        </p:txBody>
      </p:sp>
      <p:sp>
        <p:nvSpPr>
          <p:cNvPr id="10" name="Rectangle 9"/>
          <p:cNvSpPr/>
          <p:nvPr/>
        </p:nvSpPr>
        <p:spPr>
          <a:xfrm>
            <a:off x="457200" y="4937759"/>
            <a:ext cx="54864" cy="8229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892040"/>
            <a:ext cx="10972800" cy="914400"/>
          </a:xfrm>
          <a:prstGeom prst="rect">
            <a:avLst/>
          </a:prstGeom>
          <a:noFill/>
        </p:spPr>
        <p:txBody>
          <a:bodyPr wrap="square">
            <a:spAutoFit/>
          </a:bodyPr>
          <a:lstStyle/>
          <a:p>
            <a:pPr algn="l"/>
            <a:r>
              <a:rPr sz="1500" b="0">
                <a:solidFill>
                  <a:srgbClr val="212121"/>
                </a:solidFill>
              </a:rPr>
              <a:t>系统成功落地后，将有效提升活动中心运营效率、数据透明度与家长/学员满意度。</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02  国内外研究现状</a:t>
            </a:r>
          </a:p>
        </p:txBody>
      </p:sp>
      <p:sp>
        <p:nvSpPr>
          <p:cNvPr id="4" name="Rectangle 3"/>
          <p:cNvSpPr/>
          <p:nvPr/>
        </p:nvSpPr>
        <p:spPr>
          <a:xfrm>
            <a:off x="457200" y="1005840"/>
            <a:ext cx="5303520" cy="52120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5303520" cy="50292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51560"/>
            <a:ext cx="5029200" cy="411480"/>
          </a:xfrm>
          <a:prstGeom prst="rect">
            <a:avLst/>
          </a:prstGeom>
          <a:noFill/>
        </p:spPr>
        <p:txBody>
          <a:bodyPr wrap="square">
            <a:spAutoFit/>
          </a:bodyPr>
          <a:lstStyle/>
          <a:p>
            <a:pPr algn="l"/>
            <a:r>
              <a:rPr sz="1600" b="1">
                <a:solidFill>
                  <a:srgbClr val="FFFFFF"/>
                </a:solidFill>
              </a:rPr>
              <a:t>国内研究现状</a:t>
            </a:r>
          </a:p>
        </p:txBody>
      </p:sp>
      <p:sp>
        <p:nvSpPr>
          <p:cNvPr id="7" name="TextBox 6"/>
          <p:cNvSpPr txBox="1"/>
          <p:nvPr/>
        </p:nvSpPr>
        <p:spPr>
          <a:xfrm>
            <a:off x="594360" y="1600200"/>
            <a:ext cx="5029200" cy="960120"/>
          </a:xfrm>
          <a:prstGeom prst="rect">
            <a:avLst/>
          </a:prstGeom>
          <a:noFill/>
        </p:spPr>
        <p:txBody>
          <a:bodyPr wrap="square">
            <a:spAutoFit/>
          </a:bodyPr>
          <a:lstStyle/>
          <a:p>
            <a:pPr algn="l"/>
            <a:r>
              <a:rPr sz="1300" b="0">
                <a:solidFill>
                  <a:srgbClr val="212121"/>
                </a:solidFill>
              </a:rPr>
              <a:t>  高校/培训机构已广泛引入选课排课系统，但针对青少年活动中心的专项平台较少。</a:t>
            </a:r>
          </a:p>
        </p:txBody>
      </p:sp>
      <p:sp>
        <p:nvSpPr>
          <p:cNvPr id="8" name="TextBox 7"/>
          <p:cNvSpPr txBox="1"/>
          <p:nvPr/>
        </p:nvSpPr>
        <p:spPr>
          <a:xfrm>
            <a:off x="594360" y="2651760"/>
            <a:ext cx="5029200" cy="960120"/>
          </a:xfrm>
          <a:prstGeom prst="rect">
            <a:avLst/>
          </a:prstGeom>
          <a:noFill/>
        </p:spPr>
        <p:txBody>
          <a:bodyPr wrap="square">
            <a:spAutoFit/>
          </a:bodyPr>
          <a:lstStyle/>
          <a:p>
            <a:pPr algn="l"/>
            <a:r>
              <a:rPr sz="1300" b="0">
                <a:solidFill>
                  <a:srgbClr val="212121"/>
                </a:solidFill>
              </a:rPr>
              <a:t>  现有系统功能单一，缺乏报名状态追踪、考勤与成绩一体化管理等完整业务闭环。</a:t>
            </a:r>
          </a:p>
        </p:txBody>
      </p:sp>
      <p:sp>
        <p:nvSpPr>
          <p:cNvPr id="9" name="TextBox 8"/>
          <p:cNvSpPr txBox="1"/>
          <p:nvPr/>
        </p:nvSpPr>
        <p:spPr>
          <a:xfrm>
            <a:off x="594360" y="3703320"/>
            <a:ext cx="5029200" cy="960120"/>
          </a:xfrm>
          <a:prstGeom prst="rect">
            <a:avLst/>
          </a:prstGeom>
          <a:noFill/>
        </p:spPr>
        <p:txBody>
          <a:bodyPr wrap="square">
            <a:spAutoFit/>
          </a:bodyPr>
          <a:lstStyle/>
          <a:p>
            <a:pPr algn="l"/>
            <a:r>
              <a:rPr sz="1300" b="0">
                <a:solidFill>
                  <a:srgbClr val="212121"/>
                </a:solidFill>
              </a:rPr>
              <a:t>  微信小程序与 H5 端兴起为线上报名提供新渠道，但后台管理能力较薄弱。</a:t>
            </a:r>
          </a:p>
        </p:txBody>
      </p:sp>
      <p:sp>
        <p:nvSpPr>
          <p:cNvPr id="10" name="TextBox 9"/>
          <p:cNvSpPr txBox="1"/>
          <p:nvPr/>
        </p:nvSpPr>
        <p:spPr>
          <a:xfrm>
            <a:off x="594360" y="4754879"/>
            <a:ext cx="5029200" cy="960120"/>
          </a:xfrm>
          <a:prstGeom prst="rect">
            <a:avLst/>
          </a:prstGeom>
          <a:noFill/>
        </p:spPr>
        <p:txBody>
          <a:bodyPr wrap="square">
            <a:spAutoFit/>
          </a:bodyPr>
          <a:lstStyle/>
          <a:p>
            <a:pPr algn="l"/>
            <a:r>
              <a:rPr sz="1300" b="0">
                <a:solidFill>
                  <a:srgbClr val="212121"/>
                </a:solidFill>
              </a:rPr>
              <a:t>  商业 SaaS（培训宝/课程格子）功能较全，但定制成本高、数据掌控权弱。</a:t>
            </a:r>
          </a:p>
        </p:txBody>
      </p:sp>
      <p:sp>
        <p:nvSpPr>
          <p:cNvPr id="11" name="Rectangle 10"/>
          <p:cNvSpPr/>
          <p:nvPr/>
        </p:nvSpPr>
        <p:spPr>
          <a:xfrm>
            <a:off x="6400800" y="1005840"/>
            <a:ext cx="5303520" cy="52120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005840"/>
            <a:ext cx="5303520" cy="50292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051560"/>
            <a:ext cx="5029200" cy="411480"/>
          </a:xfrm>
          <a:prstGeom prst="rect">
            <a:avLst/>
          </a:prstGeom>
          <a:noFill/>
        </p:spPr>
        <p:txBody>
          <a:bodyPr wrap="square">
            <a:spAutoFit/>
          </a:bodyPr>
          <a:lstStyle/>
          <a:p>
            <a:pPr algn="l"/>
            <a:r>
              <a:rPr sz="1600" b="1">
                <a:solidFill>
                  <a:srgbClr val="FFFFFF"/>
                </a:solidFill>
              </a:rPr>
              <a:t>国外研究现状</a:t>
            </a:r>
          </a:p>
        </p:txBody>
      </p:sp>
      <p:sp>
        <p:nvSpPr>
          <p:cNvPr id="14" name="TextBox 13"/>
          <p:cNvSpPr txBox="1"/>
          <p:nvPr/>
        </p:nvSpPr>
        <p:spPr>
          <a:xfrm>
            <a:off x="6537960" y="1600200"/>
            <a:ext cx="5029200" cy="960120"/>
          </a:xfrm>
          <a:prstGeom prst="rect">
            <a:avLst/>
          </a:prstGeom>
          <a:noFill/>
        </p:spPr>
        <p:txBody>
          <a:bodyPr wrap="square">
            <a:spAutoFit/>
          </a:bodyPr>
          <a:lstStyle/>
          <a:p>
            <a:pPr algn="l"/>
            <a:r>
              <a:rPr sz="1300" b="0">
                <a:solidFill>
                  <a:srgbClr val="212121"/>
                </a:solidFill>
              </a:rPr>
              <a:t>  欧美社区活动中心普遍采用 ActiveNet、Mindbody 等专业平台进行综合管理。</a:t>
            </a:r>
          </a:p>
        </p:txBody>
      </p:sp>
      <p:sp>
        <p:nvSpPr>
          <p:cNvPr id="15" name="TextBox 14"/>
          <p:cNvSpPr txBox="1"/>
          <p:nvPr/>
        </p:nvSpPr>
        <p:spPr>
          <a:xfrm>
            <a:off x="6537960" y="2651760"/>
            <a:ext cx="5029200" cy="960120"/>
          </a:xfrm>
          <a:prstGeom prst="rect">
            <a:avLst/>
          </a:prstGeom>
          <a:noFill/>
        </p:spPr>
        <p:txBody>
          <a:bodyPr wrap="square">
            <a:spAutoFit/>
          </a:bodyPr>
          <a:lstStyle/>
          <a:p>
            <a:pPr algn="l"/>
            <a:r>
              <a:rPr sz="1300" b="0">
                <a:solidFill>
                  <a:srgbClr val="212121"/>
                </a:solidFill>
              </a:rPr>
              <a:t>  这类系统注重模块化设计，支持在线报名、支付、考勤打卡、家长通知等全链路功能。</a:t>
            </a:r>
          </a:p>
        </p:txBody>
      </p:sp>
      <p:sp>
        <p:nvSpPr>
          <p:cNvPr id="16" name="TextBox 15"/>
          <p:cNvSpPr txBox="1"/>
          <p:nvPr/>
        </p:nvSpPr>
        <p:spPr>
          <a:xfrm>
            <a:off x="6537960" y="3703320"/>
            <a:ext cx="5029200" cy="960120"/>
          </a:xfrm>
          <a:prstGeom prst="rect">
            <a:avLst/>
          </a:prstGeom>
          <a:noFill/>
        </p:spPr>
        <p:txBody>
          <a:bodyPr wrap="square">
            <a:spAutoFit/>
          </a:bodyPr>
          <a:lstStyle/>
          <a:p>
            <a:pPr algn="l"/>
            <a:r>
              <a:rPr sz="1300" b="0">
                <a:solidFill>
                  <a:srgbClr val="212121"/>
                </a:solidFill>
              </a:rPr>
              <a:t>  API 开放生态成熟，可与第三方日历、CRM、财务系统无缝集成。</a:t>
            </a:r>
          </a:p>
        </p:txBody>
      </p:sp>
      <p:sp>
        <p:nvSpPr>
          <p:cNvPr id="17" name="TextBox 16"/>
          <p:cNvSpPr txBox="1"/>
          <p:nvPr/>
        </p:nvSpPr>
        <p:spPr>
          <a:xfrm>
            <a:off x="6537960" y="4754879"/>
            <a:ext cx="5029200" cy="960120"/>
          </a:xfrm>
          <a:prstGeom prst="rect">
            <a:avLst/>
          </a:prstGeom>
          <a:noFill/>
        </p:spPr>
        <p:txBody>
          <a:bodyPr wrap="square">
            <a:spAutoFit/>
          </a:bodyPr>
          <a:lstStyle/>
          <a:p>
            <a:pPr algn="l"/>
            <a:r>
              <a:rPr sz="1300" b="0">
                <a:solidFill>
                  <a:srgbClr val="212121"/>
                </a:solidFill>
              </a:rPr>
              <a:t>  数据驱动运营理念成熟，可视化 Dashboard 辅助管理决策已成标配。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03  相关技术介绍</a:t>
            </a:r>
          </a:p>
        </p:txBody>
      </p:sp>
      <p:sp>
        <p:nvSpPr>
          <p:cNvPr id="4" name="Rectangle 3"/>
          <p:cNvSpPr/>
          <p:nvPr/>
        </p:nvSpPr>
        <p:spPr>
          <a:xfrm>
            <a:off x="457200" y="1051560"/>
            <a:ext cx="5486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486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097280"/>
            <a:ext cx="5212080" cy="347472"/>
          </a:xfrm>
          <a:prstGeom prst="rect">
            <a:avLst/>
          </a:prstGeom>
          <a:noFill/>
        </p:spPr>
        <p:txBody>
          <a:bodyPr wrap="square">
            <a:spAutoFit/>
          </a:bodyPr>
          <a:lstStyle/>
          <a:p>
            <a:pPr algn="l"/>
            <a:r>
              <a:rPr sz="1500" b="1">
                <a:solidFill>
                  <a:srgbClr val="FFFFFF"/>
                </a:solidFill>
              </a:rPr>
              <a:t>Spring Boot 2.x</a:t>
            </a:r>
          </a:p>
        </p:txBody>
      </p:sp>
      <p:sp>
        <p:nvSpPr>
          <p:cNvPr id="7" name="TextBox 6"/>
          <p:cNvSpPr txBox="1"/>
          <p:nvPr/>
        </p:nvSpPr>
        <p:spPr>
          <a:xfrm>
            <a:off x="594360" y="1554480"/>
            <a:ext cx="5212080" cy="868680"/>
          </a:xfrm>
          <a:prstGeom prst="rect">
            <a:avLst/>
          </a:prstGeom>
          <a:noFill/>
        </p:spPr>
        <p:txBody>
          <a:bodyPr wrap="square">
            <a:spAutoFit/>
          </a:bodyPr>
          <a:lstStyle/>
          <a:p>
            <a:pPr algn="l"/>
            <a:r>
              <a:rPr sz="1200" b="0">
                <a:solidFill>
                  <a:srgbClr val="212121"/>
                </a:solidFill>
              </a:rPr>
              <a:t>自动化配置、内嵌 Tomcat，简化后端开发；借助 Spring Security 实现角色权限控制，保障接口安全。</a:t>
            </a:r>
          </a:p>
        </p:txBody>
      </p:sp>
      <p:sp>
        <p:nvSpPr>
          <p:cNvPr id="8" name="Rectangle 7"/>
          <p:cNvSpPr/>
          <p:nvPr/>
        </p:nvSpPr>
        <p:spPr>
          <a:xfrm>
            <a:off x="6309360" y="1051560"/>
            <a:ext cx="5486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1051560"/>
            <a:ext cx="5486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097280"/>
            <a:ext cx="5212080" cy="347472"/>
          </a:xfrm>
          <a:prstGeom prst="rect">
            <a:avLst/>
          </a:prstGeom>
          <a:noFill/>
        </p:spPr>
        <p:txBody>
          <a:bodyPr wrap="square">
            <a:spAutoFit/>
          </a:bodyPr>
          <a:lstStyle/>
          <a:p>
            <a:pPr algn="l"/>
            <a:r>
              <a:rPr sz="1500" b="1">
                <a:solidFill>
                  <a:srgbClr val="FFFFFF"/>
                </a:solidFill>
              </a:rPr>
              <a:t>Vue 3 + Element Plus</a:t>
            </a:r>
          </a:p>
        </p:txBody>
      </p:sp>
      <p:sp>
        <p:nvSpPr>
          <p:cNvPr id="11" name="TextBox 10"/>
          <p:cNvSpPr txBox="1"/>
          <p:nvPr/>
        </p:nvSpPr>
        <p:spPr>
          <a:xfrm>
            <a:off x="6446520" y="1554480"/>
            <a:ext cx="5212080" cy="868680"/>
          </a:xfrm>
          <a:prstGeom prst="rect">
            <a:avLst/>
          </a:prstGeom>
          <a:noFill/>
        </p:spPr>
        <p:txBody>
          <a:bodyPr wrap="square">
            <a:spAutoFit/>
          </a:bodyPr>
          <a:lstStyle/>
          <a:p>
            <a:pPr algn="l"/>
            <a:r>
              <a:rPr sz="1200" b="0">
                <a:solidFill>
                  <a:srgbClr val="212121"/>
                </a:solidFill>
              </a:rPr>
              <a:t>前后端分离架构，组件化开发；Vuex 状态管理 + Vue Router 路由控制，提升前端可维护性。</a:t>
            </a:r>
          </a:p>
        </p:txBody>
      </p:sp>
      <p:sp>
        <p:nvSpPr>
          <p:cNvPr id="12" name="Rectangle 11"/>
          <p:cNvSpPr/>
          <p:nvPr/>
        </p:nvSpPr>
        <p:spPr>
          <a:xfrm>
            <a:off x="457200" y="2788920"/>
            <a:ext cx="5486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788920"/>
            <a:ext cx="5486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834639"/>
            <a:ext cx="5212080" cy="347472"/>
          </a:xfrm>
          <a:prstGeom prst="rect">
            <a:avLst/>
          </a:prstGeom>
          <a:noFill/>
        </p:spPr>
        <p:txBody>
          <a:bodyPr wrap="square">
            <a:spAutoFit/>
          </a:bodyPr>
          <a:lstStyle/>
          <a:p>
            <a:pPr algn="l"/>
            <a:r>
              <a:rPr sz="1500" b="1">
                <a:solidFill>
                  <a:srgbClr val="FFFFFF"/>
                </a:solidFill>
              </a:rPr>
              <a:t>MyBatis-Plus</a:t>
            </a:r>
          </a:p>
        </p:txBody>
      </p:sp>
      <p:sp>
        <p:nvSpPr>
          <p:cNvPr id="15" name="TextBox 14"/>
          <p:cNvSpPr txBox="1"/>
          <p:nvPr/>
        </p:nvSpPr>
        <p:spPr>
          <a:xfrm>
            <a:off x="594360" y="3291839"/>
            <a:ext cx="5212080" cy="868680"/>
          </a:xfrm>
          <a:prstGeom prst="rect">
            <a:avLst/>
          </a:prstGeom>
          <a:noFill/>
        </p:spPr>
        <p:txBody>
          <a:bodyPr wrap="square">
            <a:spAutoFit/>
          </a:bodyPr>
          <a:lstStyle/>
          <a:p>
            <a:pPr algn="l"/>
            <a:r>
              <a:rPr sz="1200" b="0">
                <a:solidFill>
                  <a:srgbClr val="212121"/>
                </a:solidFill>
              </a:rPr>
              <a:t>基于 MyBatis 的增强 ORM 框架，提供通用 CRUD、分页、条件构造等能力，减少 SQL 编写量。</a:t>
            </a:r>
          </a:p>
        </p:txBody>
      </p:sp>
      <p:sp>
        <p:nvSpPr>
          <p:cNvPr id="16" name="Rectangle 15"/>
          <p:cNvSpPr/>
          <p:nvPr/>
        </p:nvSpPr>
        <p:spPr>
          <a:xfrm>
            <a:off x="6309360" y="2788920"/>
            <a:ext cx="5486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2788920"/>
            <a:ext cx="5486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834639"/>
            <a:ext cx="5212080" cy="347472"/>
          </a:xfrm>
          <a:prstGeom prst="rect">
            <a:avLst/>
          </a:prstGeom>
          <a:noFill/>
        </p:spPr>
        <p:txBody>
          <a:bodyPr wrap="square">
            <a:spAutoFit/>
          </a:bodyPr>
          <a:lstStyle/>
          <a:p>
            <a:pPr algn="l"/>
            <a:r>
              <a:rPr sz="1500" b="1">
                <a:solidFill>
                  <a:srgbClr val="FFFFFF"/>
                </a:solidFill>
              </a:rPr>
              <a:t>MySQL 8.0</a:t>
            </a:r>
          </a:p>
        </p:txBody>
      </p:sp>
      <p:sp>
        <p:nvSpPr>
          <p:cNvPr id="19" name="TextBox 18"/>
          <p:cNvSpPr txBox="1"/>
          <p:nvPr/>
        </p:nvSpPr>
        <p:spPr>
          <a:xfrm>
            <a:off x="6446520" y="3291839"/>
            <a:ext cx="5212080" cy="868680"/>
          </a:xfrm>
          <a:prstGeom prst="rect">
            <a:avLst/>
          </a:prstGeom>
          <a:noFill/>
        </p:spPr>
        <p:txBody>
          <a:bodyPr wrap="square">
            <a:spAutoFit/>
          </a:bodyPr>
          <a:lstStyle/>
          <a:p>
            <a:pPr algn="l"/>
            <a:r>
              <a:rPr sz="1200" b="0">
                <a:solidFill>
                  <a:srgbClr val="212121"/>
                </a:solidFill>
              </a:rPr>
              <a:t>关系型数据库存储核心业务数据；合理设计索引，保障高并发场景下的查询性能。</a:t>
            </a:r>
          </a:p>
        </p:txBody>
      </p:sp>
      <p:sp>
        <p:nvSpPr>
          <p:cNvPr id="20" name="Rectangle 19"/>
          <p:cNvSpPr/>
          <p:nvPr/>
        </p:nvSpPr>
        <p:spPr>
          <a:xfrm>
            <a:off x="457200" y="4526279"/>
            <a:ext cx="5486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526279"/>
            <a:ext cx="5486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571999"/>
            <a:ext cx="5212080" cy="347472"/>
          </a:xfrm>
          <a:prstGeom prst="rect">
            <a:avLst/>
          </a:prstGeom>
          <a:noFill/>
        </p:spPr>
        <p:txBody>
          <a:bodyPr wrap="square">
            <a:spAutoFit/>
          </a:bodyPr>
          <a:lstStyle/>
          <a:p>
            <a:pPr algn="l"/>
            <a:r>
              <a:rPr sz="1500" b="1">
                <a:solidFill>
                  <a:srgbClr val="FFFFFF"/>
                </a:solidFill>
              </a:rPr>
              <a:t>JWT 认证</a:t>
            </a:r>
          </a:p>
        </p:txBody>
      </p:sp>
      <p:sp>
        <p:nvSpPr>
          <p:cNvPr id="23" name="TextBox 22"/>
          <p:cNvSpPr txBox="1"/>
          <p:nvPr/>
        </p:nvSpPr>
        <p:spPr>
          <a:xfrm>
            <a:off x="594360" y="5029199"/>
            <a:ext cx="5212080" cy="868680"/>
          </a:xfrm>
          <a:prstGeom prst="rect">
            <a:avLst/>
          </a:prstGeom>
          <a:noFill/>
        </p:spPr>
        <p:txBody>
          <a:bodyPr wrap="square">
            <a:spAutoFit/>
          </a:bodyPr>
          <a:lstStyle/>
          <a:p>
            <a:pPr algn="l"/>
            <a:r>
              <a:rPr sz="1200" b="0">
                <a:solidFill>
                  <a:srgbClr val="212121"/>
                </a:solidFill>
              </a:rPr>
              <a:t>无状态 Token 鉴权，前后端分离场景主流认证方案，支持角色细粒度控制。</a:t>
            </a:r>
          </a:p>
        </p:txBody>
      </p:sp>
      <p:sp>
        <p:nvSpPr>
          <p:cNvPr id="24" name="Rectangle 23"/>
          <p:cNvSpPr/>
          <p:nvPr/>
        </p:nvSpPr>
        <p:spPr>
          <a:xfrm>
            <a:off x="6309360" y="4526279"/>
            <a:ext cx="5486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09360" y="4526279"/>
            <a:ext cx="5486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571999"/>
            <a:ext cx="5212080" cy="347472"/>
          </a:xfrm>
          <a:prstGeom prst="rect">
            <a:avLst/>
          </a:prstGeom>
          <a:noFill/>
        </p:spPr>
        <p:txBody>
          <a:bodyPr wrap="square">
            <a:spAutoFit/>
          </a:bodyPr>
          <a:lstStyle/>
          <a:p>
            <a:pPr algn="l"/>
            <a:r>
              <a:rPr sz="1500" b="1">
                <a:solidFill>
                  <a:srgbClr val="FFFFFF"/>
                </a:solidFill>
              </a:rPr>
              <a:t>RESTful API</a:t>
            </a:r>
          </a:p>
        </p:txBody>
      </p:sp>
      <p:sp>
        <p:nvSpPr>
          <p:cNvPr id="27" name="TextBox 26"/>
          <p:cNvSpPr txBox="1"/>
          <p:nvPr/>
        </p:nvSpPr>
        <p:spPr>
          <a:xfrm>
            <a:off x="6446520" y="5029199"/>
            <a:ext cx="5212080" cy="868680"/>
          </a:xfrm>
          <a:prstGeom prst="rect">
            <a:avLst/>
          </a:prstGeom>
          <a:noFill/>
        </p:spPr>
        <p:txBody>
          <a:bodyPr wrap="square">
            <a:spAutoFit/>
          </a:bodyPr>
          <a:lstStyle/>
          <a:p>
            <a:pPr algn="l"/>
            <a:r>
              <a:rPr sz="1200" b="0">
                <a:solidFill>
                  <a:srgbClr val="212121"/>
                </a:solidFill>
              </a:rPr>
              <a:t>统一接口规范，JSON 数据交换；Swagger 文档自动生成，方便前后端联调与测试。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04  系统需求分析</a:t>
            </a:r>
          </a:p>
        </p:txBody>
      </p:sp>
      <p:sp>
        <p:nvSpPr>
          <p:cNvPr id="4" name="Rectangle 3"/>
          <p:cNvSpPr/>
          <p:nvPr/>
        </p:nvSpPr>
        <p:spPr>
          <a:xfrm>
            <a:off x="365760" y="960120"/>
            <a:ext cx="3657600" cy="50292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005840"/>
            <a:ext cx="3657600" cy="411480"/>
          </a:xfrm>
          <a:prstGeom prst="rect">
            <a:avLst/>
          </a:prstGeom>
          <a:noFill/>
        </p:spPr>
        <p:txBody>
          <a:bodyPr wrap="square">
            <a:spAutoFit/>
          </a:bodyPr>
          <a:lstStyle/>
          <a:p>
            <a:pPr algn="ctr"/>
            <a:r>
              <a:rPr sz="1700" b="1">
                <a:solidFill>
                  <a:srgbClr val="FFFFFF"/>
                </a:solidFill>
              </a:rPr>
              <a:t>学员端</a:t>
            </a:r>
          </a:p>
        </p:txBody>
      </p:sp>
      <p:sp>
        <p:nvSpPr>
          <p:cNvPr id="6" name="Rectangle 5"/>
          <p:cNvSpPr/>
          <p:nvPr/>
        </p:nvSpPr>
        <p:spPr>
          <a:xfrm>
            <a:off x="365760" y="1463040"/>
            <a:ext cx="3657600" cy="5074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554480"/>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81912"/>
            <a:ext cx="3200400" cy="457200"/>
          </a:xfrm>
          <a:prstGeom prst="rect">
            <a:avLst/>
          </a:prstGeom>
          <a:noFill/>
        </p:spPr>
        <p:txBody>
          <a:bodyPr wrap="square">
            <a:spAutoFit/>
          </a:bodyPr>
          <a:lstStyle/>
          <a:p>
            <a:pPr algn="l"/>
            <a:r>
              <a:rPr sz="1200" b="0">
                <a:solidFill>
                  <a:srgbClr val="1976D2"/>
                </a:solidFill>
              </a:rPr>
              <a:t>  登录注册 / 账号管理</a:t>
            </a:r>
          </a:p>
        </p:txBody>
      </p:sp>
      <p:sp>
        <p:nvSpPr>
          <p:cNvPr id="9" name="Rectangle 8"/>
          <p:cNvSpPr/>
          <p:nvPr/>
        </p:nvSpPr>
        <p:spPr>
          <a:xfrm>
            <a:off x="502920" y="2221991"/>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249424"/>
            <a:ext cx="3200400" cy="457200"/>
          </a:xfrm>
          <a:prstGeom prst="rect">
            <a:avLst/>
          </a:prstGeom>
          <a:noFill/>
        </p:spPr>
        <p:txBody>
          <a:bodyPr wrap="square">
            <a:spAutoFit/>
          </a:bodyPr>
          <a:lstStyle/>
          <a:p>
            <a:pPr algn="l"/>
            <a:r>
              <a:rPr sz="1200" b="0">
                <a:solidFill>
                  <a:srgbClr val="1976D2"/>
                </a:solidFill>
              </a:rPr>
              <a:t>  活动课程查询与浏览</a:t>
            </a:r>
          </a:p>
        </p:txBody>
      </p:sp>
      <p:sp>
        <p:nvSpPr>
          <p:cNvPr id="11" name="Rectangle 10"/>
          <p:cNvSpPr/>
          <p:nvPr/>
        </p:nvSpPr>
        <p:spPr>
          <a:xfrm>
            <a:off x="502920" y="2889504"/>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16936"/>
            <a:ext cx="3200400" cy="457200"/>
          </a:xfrm>
          <a:prstGeom prst="rect">
            <a:avLst/>
          </a:prstGeom>
          <a:noFill/>
        </p:spPr>
        <p:txBody>
          <a:bodyPr wrap="square">
            <a:spAutoFit/>
          </a:bodyPr>
          <a:lstStyle/>
          <a:p>
            <a:pPr algn="l"/>
            <a:r>
              <a:rPr sz="1200" b="0">
                <a:solidFill>
                  <a:srgbClr val="1976D2"/>
                </a:solidFill>
              </a:rPr>
              <a:t>  在线报名 / 取消报名</a:t>
            </a:r>
          </a:p>
        </p:txBody>
      </p:sp>
      <p:sp>
        <p:nvSpPr>
          <p:cNvPr id="13" name="Rectangle 12"/>
          <p:cNvSpPr/>
          <p:nvPr/>
        </p:nvSpPr>
        <p:spPr>
          <a:xfrm>
            <a:off x="502920" y="3557015"/>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584448"/>
            <a:ext cx="3200400" cy="457200"/>
          </a:xfrm>
          <a:prstGeom prst="rect">
            <a:avLst/>
          </a:prstGeom>
          <a:noFill/>
        </p:spPr>
        <p:txBody>
          <a:bodyPr wrap="square">
            <a:spAutoFit/>
          </a:bodyPr>
          <a:lstStyle/>
          <a:p>
            <a:pPr algn="l"/>
            <a:r>
              <a:rPr sz="1200" b="0">
                <a:solidFill>
                  <a:srgbClr val="1976D2"/>
                </a:solidFill>
              </a:rPr>
              <a:t>  大型活动报名与评价</a:t>
            </a:r>
          </a:p>
        </p:txBody>
      </p:sp>
      <p:sp>
        <p:nvSpPr>
          <p:cNvPr id="15" name="Rectangle 14"/>
          <p:cNvSpPr/>
          <p:nvPr/>
        </p:nvSpPr>
        <p:spPr>
          <a:xfrm>
            <a:off x="502920" y="4224528"/>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3200400" cy="457200"/>
          </a:xfrm>
          <a:prstGeom prst="rect">
            <a:avLst/>
          </a:prstGeom>
          <a:noFill/>
        </p:spPr>
        <p:txBody>
          <a:bodyPr wrap="square">
            <a:spAutoFit/>
          </a:bodyPr>
          <a:lstStyle/>
          <a:p>
            <a:pPr algn="l"/>
            <a:r>
              <a:rPr sz="1200" b="0">
                <a:solidFill>
                  <a:srgbClr val="1976D2"/>
                </a:solidFill>
              </a:rPr>
              <a:t>  课程活动评价</a:t>
            </a:r>
          </a:p>
        </p:txBody>
      </p:sp>
      <p:sp>
        <p:nvSpPr>
          <p:cNvPr id="17" name="Rectangle 16"/>
          <p:cNvSpPr/>
          <p:nvPr/>
        </p:nvSpPr>
        <p:spPr>
          <a:xfrm>
            <a:off x="502920" y="4892040"/>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919472"/>
            <a:ext cx="3200400" cy="457200"/>
          </a:xfrm>
          <a:prstGeom prst="rect">
            <a:avLst/>
          </a:prstGeom>
          <a:noFill/>
        </p:spPr>
        <p:txBody>
          <a:bodyPr wrap="square">
            <a:spAutoFit/>
          </a:bodyPr>
          <a:lstStyle/>
          <a:p>
            <a:pPr algn="l"/>
            <a:r>
              <a:rPr sz="1200" b="0">
                <a:solidFill>
                  <a:srgbClr val="1976D2"/>
                </a:solidFill>
              </a:rPr>
              <a:t>  成绩查询</a:t>
            </a:r>
          </a:p>
        </p:txBody>
      </p:sp>
      <p:sp>
        <p:nvSpPr>
          <p:cNvPr id="19" name="Rectangle 18"/>
          <p:cNvSpPr/>
          <p:nvPr/>
        </p:nvSpPr>
        <p:spPr>
          <a:xfrm>
            <a:off x="502920" y="5559552"/>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586983"/>
            <a:ext cx="3200400" cy="457200"/>
          </a:xfrm>
          <a:prstGeom prst="rect">
            <a:avLst/>
          </a:prstGeom>
          <a:noFill/>
        </p:spPr>
        <p:txBody>
          <a:bodyPr wrap="square">
            <a:spAutoFit/>
          </a:bodyPr>
          <a:lstStyle/>
          <a:p>
            <a:pPr algn="l"/>
            <a:r>
              <a:rPr sz="1200" b="0">
                <a:solidFill>
                  <a:srgbClr val="1976D2"/>
                </a:solidFill>
              </a:rPr>
              <a:t>  个人信息中心</a:t>
            </a:r>
          </a:p>
        </p:txBody>
      </p:sp>
      <p:sp>
        <p:nvSpPr>
          <p:cNvPr id="21" name="Rectangle 20"/>
          <p:cNvSpPr/>
          <p:nvPr/>
        </p:nvSpPr>
        <p:spPr>
          <a:xfrm>
            <a:off x="4297680" y="960120"/>
            <a:ext cx="3657600" cy="5029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7680" y="1005840"/>
            <a:ext cx="3657600" cy="411480"/>
          </a:xfrm>
          <a:prstGeom prst="rect">
            <a:avLst/>
          </a:prstGeom>
          <a:noFill/>
        </p:spPr>
        <p:txBody>
          <a:bodyPr wrap="square">
            <a:spAutoFit/>
          </a:bodyPr>
          <a:lstStyle/>
          <a:p>
            <a:pPr algn="ctr"/>
            <a:r>
              <a:rPr sz="1700" b="1">
                <a:solidFill>
                  <a:srgbClr val="FFFFFF"/>
                </a:solidFill>
              </a:rPr>
              <a:t>教师端</a:t>
            </a:r>
          </a:p>
        </p:txBody>
      </p:sp>
      <p:sp>
        <p:nvSpPr>
          <p:cNvPr id="23" name="Rectangle 22"/>
          <p:cNvSpPr/>
          <p:nvPr/>
        </p:nvSpPr>
        <p:spPr>
          <a:xfrm>
            <a:off x="4297680" y="1463040"/>
            <a:ext cx="3657600" cy="5074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34840" y="1554480"/>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1581912"/>
            <a:ext cx="3200400" cy="457200"/>
          </a:xfrm>
          <a:prstGeom prst="rect">
            <a:avLst/>
          </a:prstGeom>
          <a:noFill/>
        </p:spPr>
        <p:txBody>
          <a:bodyPr wrap="square">
            <a:spAutoFit/>
          </a:bodyPr>
          <a:lstStyle/>
          <a:p>
            <a:pPr algn="l"/>
            <a:r>
              <a:rPr sz="1200" b="0">
                <a:solidFill>
                  <a:srgbClr val="1565C0"/>
                </a:solidFill>
              </a:rPr>
              <a:t>  账号登录</a:t>
            </a:r>
          </a:p>
        </p:txBody>
      </p:sp>
      <p:sp>
        <p:nvSpPr>
          <p:cNvPr id="26" name="Rectangle 25"/>
          <p:cNvSpPr/>
          <p:nvPr/>
        </p:nvSpPr>
        <p:spPr>
          <a:xfrm>
            <a:off x="4434840" y="2221991"/>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26280" y="2249424"/>
            <a:ext cx="3200400" cy="457200"/>
          </a:xfrm>
          <a:prstGeom prst="rect">
            <a:avLst/>
          </a:prstGeom>
          <a:noFill/>
        </p:spPr>
        <p:txBody>
          <a:bodyPr wrap="square">
            <a:spAutoFit/>
          </a:bodyPr>
          <a:lstStyle/>
          <a:p>
            <a:pPr algn="l"/>
            <a:r>
              <a:rPr sz="1200" b="0">
                <a:solidFill>
                  <a:srgbClr val="1565C0"/>
                </a:solidFill>
              </a:rPr>
              <a:t>  课程活动管理</a:t>
            </a:r>
          </a:p>
        </p:txBody>
      </p:sp>
      <p:sp>
        <p:nvSpPr>
          <p:cNvPr id="28" name="Rectangle 27"/>
          <p:cNvSpPr/>
          <p:nvPr/>
        </p:nvSpPr>
        <p:spPr>
          <a:xfrm>
            <a:off x="4434840" y="2889504"/>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80" y="2916936"/>
            <a:ext cx="3200400" cy="457200"/>
          </a:xfrm>
          <a:prstGeom prst="rect">
            <a:avLst/>
          </a:prstGeom>
          <a:noFill/>
        </p:spPr>
        <p:txBody>
          <a:bodyPr wrap="square">
            <a:spAutoFit/>
          </a:bodyPr>
          <a:lstStyle/>
          <a:p>
            <a:pPr algn="l"/>
            <a:r>
              <a:rPr sz="1200" b="0">
                <a:solidFill>
                  <a:srgbClr val="1565C0"/>
                </a:solidFill>
              </a:rPr>
              <a:t>  学员考勤管理</a:t>
            </a:r>
          </a:p>
        </p:txBody>
      </p:sp>
      <p:sp>
        <p:nvSpPr>
          <p:cNvPr id="30" name="Rectangle 29"/>
          <p:cNvSpPr/>
          <p:nvPr/>
        </p:nvSpPr>
        <p:spPr>
          <a:xfrm>
            <a:off x="4434840" y="3557015"/>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3584448"/>
            <a:ext cx="3200400" cy="457200"/>
          </a:xfrm>
          <a:prstGeom prst="rect">
            <a:avLst/>
          </a:prstGeom>
          <a:noFill/>
        </p:spPr>
        <p:txBody>
          <a:bodyPr wrap="square">
            <a:spAutoFit/>
          </a:bodyPr>
          <a:lstStyle/>
          <a:p>
            <a:pPr algn="l"/>
            <a:r>
              <a:rPr sz="1200" b="0">
                <a:solidFill>
                  <a:srgbClr val="1565C0"/>
                </a:solidFill>
              </a:rPr>
              <a:t>  成绩录入与评语</a:t>
            </a:r>
          </a:p>
        </p:txBody>
      </p:sp>
      <p:sp>
        <p:nvSpPr>
          <p:cNvPr id="32" name="Rectangle 31"/>
          <p:cNvSpPr/>
          <p:nvPr/>
        </p:nvSpPr>
        <p:spPr>
          <a:xfrm>
            <a:off x="4434840" y="4224528"/>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26280" y="4251960"/>
            <a:ext cx="3200400" cy="457200"/>
          </a:xfrm>
          <a:prstGeom prst="rect">
            <a:avLst/>
          </a:prstGeom>
          <a:noFill/>
        </p:spPr>
        <p:txBody>
          <a:bodyPr wrap="square">
            <a:spAutoFit/>
          </a:bodyPr>
          <a:lstStyle/>
          <a:p>
            <a:pPr algn="l"/>
            <a:r>
              <a:rPr sz="1200" b="0">
                <a:solidFill>
                  <a:srgbClr val="1565C0"/>
                </a:solidFill>
              </a:rPr>
              <a:t>  教学材料上传</a:t>
            </a:r>
          </a:p>
        </p:txBody>
      </p:sp>
      <p:sp>
        <p:nvSpPr>
          <p:cNvPr id="34" name="Rectangle 33"/>
          <p:cNvSpPr/>
          <p:nvPr/>
        </p:nvSpPr>
        <p:spPr>
          <a:xfrm>
            <a:off x="4434840" y="4892040"/>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26280" y="4919472"/>
            <a:ext cx="3200400" cy="457200"/>
          </a:xfrm>
          <a:prstGeom prst="rect">
            <a:avLst/>
          </a:prstGeom>
          <a:noFill/>
        </p:spPr>
        <p:txBody>
          <a:bodyPr wrap="square">
            <a:spAutoFit/>
          </a:bodyPr>
          <a:lstStyle/>
          <a:p>
            <a:pPr algn="l"/>
            <a:r>
              <a:rPr sz="1200" b="0">
                <a:solidFill>
                  <a:srgbClr val="1565C0"/>
                </a:solidFill>
              </a:rPr>
              <a:t>  学员评价与回复</a:t>
            </a:r>
          </a:p>
        </p:txBody>
      </p:sp>
      <p:sp>
        <p:nvSpPr>
          <p:cNvPr id="36" name="Rectangle 35"/>
          <p:cNvSpPr/>
          <p:nvPr/>
        </p:nvSpPr>
        <p:spPr>
          <a:xfrm>
            <a:off x="4434840" y="5559552"/>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26280" y="5586983"/>
            <a:ext cx="3200400" cy="457200"/>
          </a:xfrm>
          <a:prstGeom prst="rect">
            <a:avLst/>
          </a:prstGeom>
          <a:noFill/>
        </p:spPr>
        <p:txBody>
          <a:bodyPr wrap="square">
            <a:spAutoFit/>
          </a:bodyPr>
          <a:lstStyle/>
          <a:p>
            <a:pPr algn="l"/>
            <a:r>
              <a:rPr sz="1200" b="0">
                <a:solidFill>
                  <a:srgbClr val="1565C0"/>
                </a:solidFill>
              </a:rPr>
              <a:t>  个人信息中心</a:t>
            </a:r>
          </a:p>
        </p:txBody>
      </p:sp>
      <p:sp>
        <p:nvSpPr>
          <p:cNvPr id="38" name="Rectangle 37"/>
          <p:cNvSpPr/>
          <p:nvPr/>
        </p:nvSpPr>
        <p:spPr>
          <a:xfrm>
            <a:off x="8229600" y="960120"/>
            <a:ext cx="3657600" cy="50292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0" y="1005840"/>
            <a:ext cx="3657600" cy="411480"/>
          </a:xfrm>
          <a:prstGeom prst="rect">
            <a:avLst/>
          </a:prstGeom>
          <a:noFill/>
        </p:spPr>
        <p:txBody>
          <a:bodyPr wrap="square">
            <a:spAutoFit/>
          </a:bodyPr>
          <a:lstStyle/>
          <a:p>
            <a:pPr algn="ctr"/>
            <a:r>
              <a:rPr sz="1700" b="1">
                <a:solidFill>
                  <a:srgbClr val="FFFFFF"/>
                </a:solidFill>
              </a:rPr>
              <a:t>管理员端</a:t>
            </a:r>
          </a:p>
        </p:txBody>
      </p:sp>
      <p:sp>
        <p:nvSpPr>
          <p:cNvPr id="40" name="Rectangle 39"/>
          <p:cNvSpPr/>
          <p:nvPr/>
        </p:nvSpPr>
        <p:spPr>
          <a:xfrm>
            <a:off x="8229600" y="1463040"/>
            <a:ext cx="3657600" cy="5074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366760" y="1554480"/>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58200" y="1581912"/>
            <a:ext cx="3200400" cy="457200"/>
          </a:xfrm>
          <a:prstGeom prst="rect">
            <a:avLst/>
          </a:prstGeom>
          <a:noFill/>
        </p:spPr>
        <p:txBody>
          <a:bodyPr wrap="square">
            <a:spAutoFit/>
          </a:bodyPr>
          <a:lstStyle/>
          <a:p>
            <a:pPr algn="l"/>
            <a:r>
              <a:rPr sz="1200" b="0">
                <a:solidFill>
                  <a:srgbClr val="0D47A1"/>
                </a:solidFill>
              </a:rPr>
              <a:t>  账号注册登录</a:t>
            </a:r>
          </a:p>
        </p:txBody>
      </p:sp>
      <p:sp>
        <p:nvSpPr>
          <p:cNvPr id="43" name="Rectangle 42"/>
          <p:cNvSpPr/>
          <p:nvPr/>
        </p:nvSpPr>
        <p:spPr>
          <a:xfrm>
            <a:off x="8366760" y="2221991"/>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58200" y="2249424"/>
            <a:ext cx="3200400" cy="457200"/>
          </a:xfrm>
          <a:prstGeom prst="rect">
            <a:avLst/>
          </a:prstGeom>
          <a:noFill/>
        </p:spPr>
        <p:txBody>
          <a:bodyPr wrap="square">
            <a:spAutoFit/>
          </a:bodyPr>
          <a:lstStyle/>
          <a:p>
            <a:pPr algn="l"/>
            <a:r>
              <a:rPr sz="1200" b="0">
                <a:solidFill>
                  <a:srgbClr val="0D47A1"/>
                </a:solidFill>
              </a:rPr>
              <a:t>  人员管理</a:t>
            </a:r>
          </a:p>
        </p:txBody>
      </p:sp>
      <p:sp>
        <p:nvSpPr>
          <p:cNvPr id="45" name="Rectangle 44"/>
          <p:cNvSpPr/>
          <p:nvPr/>
        </p:nvSpPr>
        <p:spPr>
          <a:xfrm>
            <a:off x="8366760" y="2889504"/>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58200" y="2916936"/>
            <a:ext cx="3200400" cy="457200"/>
          </a:xfrm>
          <a:prstGeom prst="rect">
            <a:avLst/>
          </a:prstGeom>
          <a:noFill/>
        </p:spPr>
        <p:txBody>
          <a:bodyPr wrap="square">
            <a:spAutoFit/>
          </a:bodyPr>
          <a:lstStyle/>
          <a:p>
            <a:pPr algn="l"/>
            <a:r>
              <a:rPr sz="1200" b="0">
                <a:solidFill>
                  <a:srgbClr val="0D47A1"/>
                </a:solidFill>
              </a:rPr>
              <a:t>  活动管理</a:t>
            </a:r>
          </a:p>
        </p:txBody>
      </p:sp>
      <p:sp>
        <p:nvSpPr>
          <p:cNvPr id="47" name="Rectangle 46"/>
          <p:cNvSpPr/>
          <p:nvPr/>
        </p:nvSpPr>
        <p:spPr>
          <a:xfrm>
            <a:off x="8366760" y="3557015"/>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58200" y="3584448"/>
            <a:ext cx="3200400" cy="457200"/>
          </a:xfrm>
          <a:prstGeom prst="rect">
            <a:avLst/>
          </a:prstGeom>
          <a:noFill/>
        </p:spPr>
        <p:txBody>
          <a:bodyPr wrap="square">
            <a:spAutoFit/>
          </a:bodyPr>
          <a:lstStyle/>
          <a:p>
            <a:pPr algn="l"/>
            <a:r>
              <a:rPr sz="1200" b="0">
                <a:solidFill>
                  <a:srgbClr val="0D47A1"/>
                </a:solidFill>
              </a:rPr>
              <a:t>  课程审核与管理</a:t>
            </a:r>
          </a:p>
        </p:txBody>
      </p:sp>
      <p:sp>
        <p:nvSpPr>
          <p:cNvPr id="49" name="Rectangle 48"/>
          <p:cNvSpPr/>
          <p:nvPr/>
        </p:nvSpPr>
        <p:spPr>
          <a:xfrm>
            <a:off x="8366760" y="4224528"/>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58200" y="4251960"/>
            <a:ext cx="3200400" cy="457200"/>
          </a:xfrm>
          <a:prstGeom prst="rect">
            <a:avLst/>
          </a:prstGeom>
          <a:noFill/>
        </p:spPr>
        <p:txBody>
          <a:bodyPr wrap="square">
            <a:spAutoFit/>
          </a:bodyPr>
          <a:lstStyle/>
          <a:p>
            <a:pPr algn="l"/>
            <a:r>
              <a:rPr sz="1200" b="0">
                <a:solidFill>
                  <a:srgbClr val="0D47A1"/>
                </a:solidFill>
              </a:rPr>
              <a:t>  数据统计</a:t>
            </a:r>
          </a:p>
        </p:txBody>
      </p:sp>
      <p:sp>
        <p:nvSpPr>
          <p:cNvPr id="51" name="Rectangle 50"/>
          <p:cNvSpPr/>
          <p:nvPr/>
        </p:nvSpPr>
        <p:spPr>
          <a:xfrm>
            <a:off x="8366760" y="4892040"/>
            <a:ext cx="3383280" cy="5303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58200" y="4919472"/>
            <a:ext cx="3200400" cy="457200"/>
          </a:xfrm>
          <a:prstGeom prst="rect">
            <a:avLst/>
          </a:prstGeom>
          <a:noFill/>
        </p:spPr>
        <p:txBody>
          <a:bodyPr wrap="square">
            <a:spAutoFit/>
          </a:bodyPr>
          <a:lstStyle/>
          <a:p>
            <a:pPr algn="l"/>
            <a:r>
              <a:rPr sz="1200" b="0">
                <a:solidFill>
                  <a:srgbClr val="0D47A1"/>
                </a:solidFill>
              </a:rPr>
              <a:t>  个人信息中心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05  系统设计</a:t>
            </a:r>
          </a:p>
        </p:txBody>
      </p:sp>
      <p:sp>
        <p:nvSpPr>
          <p:cNvPr id="4" name="Rectangle 3"/>
          <p:cNvSpPr/>
          <p:nvPr/>
        </p:nvSpPr>
        <p:spPr>
          <a:xfrm>
            <a:off x="457200" y="960120"/>
            <a:ext cx="11274552"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05840"/>
            <a:ext cx="10972800" cy="347472"/>
          </a:xfrm>
          <a:prstGeom prst="rect">
            <a:avLst/>
          </a:prstGeom>
          <a:noFill/>
        </p:spPr>
        <p:txBody>
          <a:bodyPr wrap="square">
            <a:spAutoFit/>
          </a:bodyPr>
          <a:lstStyle/>
          <a:p>
            <a:pPr algn="l"/>
            <a:r>
              <a:rPr sz="1600" b="1">
                <a:solidFill>
                  <a:srgbClr val="FFFFFF"/>
                </a:solidFill>
              </a:rPr>
              <a:t>5.1 顶层数据流图</a:t>
            </a:r>
          </a:p>
        </p:txBody>
      </p:sp>
      <p:sp>
        <p:nvSpPr>
          <p:cNvPr id="6" name="Rectangle 5"/>
          <p:cNvSpPr/>
          <p:nvPr/>
        </p:nvSpPr>
        <p:spPr>
          <a:xfrm>
            <a:off x="4937760" y="2560320"/>
            <a:ext cx="2286000" cy="10972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37760" y="2651760"/>
            <a:ext cx="2286000" cy="914400"/>
          </a:xfrm>
          <a:prstGeom prst="rect">
            <a:avLst/>
          </a:prstGeom>
          <a:noFill/>
        </p:spPr>
        <p:txBody>
          <a:bodyPr wrap="square">
            <a:spAutoFit/>
          </a:bodyPr>
          <a:lstStyle/>
          <a:p>
            <a:pPr algn="ctr"/>
            <a:r>
              <a:rPr sz="1300" b="1">
                <a:solidFill>
                  <a:srgbClr val="FFFFFF"/>
                </a:solidFill>
              </a:rPr>
              <a:t>青少年活动中心
管理平台</a:t>
            </a:r>
          </a:p>
        </p:txBody>
      </p:sp>
      <p:sp>
        <p:nvSpPr>
          <p:cNvPr id="8" name="Rectangle 7"/>
          <p:cNvSpPr/>
          <p:nvPr/>
        </p:nvSpPr>
        <p:spPr>
          <a:xfrm>
            <a:off x="457200" y="1828800"/>
            <a:ext cx="3200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28800"/>
            <a:ext cx="3200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74519"/>
            <a:ext cx="3200400" cy="347472"/>
          </a:xfrm>
          <a:prstGeom prst="rect">
            <a:avLst/>
          </a:prstGeom>
          <a:noFill/>
        </p:spPr>
        <p:txBody>
          <a:bodyPr wrap="square">
            <a:spAutoFit/>
          </a:bodyPr>
          <a:lstStyle/>
          <a:p>
            <a:pPr algn="ctr"/>
            <a:r>
              <a:rPr sz="1400" b="1">
                <a:solidFill>
                  <a:srgbClr val="FFFFFF"/>
                </a:solidFill>
              </a:rPr>
              <a:t>学员</a:t>
            </a:r>
          </a:p>
        </p:txBody>
      </p:sp>
      <p:sp>
        <p:nvSpPr>
          <p:cNvPr id="11" name="TextBox 10"/>
          <p:cNvSpPr txBox="1"/>
          <p:nvPr/>
        </p:nvSpPr>
        <p:spPr>
          <a:xfrm>
            <a:off x="594360" y="2331720"/>
            <a:ext cx="2926080" cy="868680"/>
          </a:xfrm>
          <a:prstGeom prst="rect">
            <a:avLst/>
          </a:prstGeom>
          <a:noFill/>
        </p:spPr>
        <p:txBody>
          <a:bodyPr wrap="square">
            <a:spAutoFit/>
          </a:bodyPr>
          <a:lstStyle/>
          <a:p>
            <a:pPr algn="l"/>
            <a:r>
              <a:rPr sz="1100" b="0">
                <a:solidFill>
                  <a:srgbClr val="212121"/>
                </a:solidFill>
              </a:rPr>
              <a:t>查询课程/活动
提交报名/评价
查询成绩</a:t>
            </a:r>
          </a:p>
        </p:txBody>
      </p:sp>
      <p:sp>
        <p:nvSpPr>
          <p:cNvPr id="12" name="Rectangle 11"/>
          <p:cNvSpPr/>
          <p:nvPr/>
        </p:nvSpPr>
        <p:spPr>
          <a:xfrm>
            <a:off x="4206240" y="1828800"/>
            <a:ext cx="3200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06240" y="1828800"/>
            <a:ext cx="3200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1874519"/>
            <a:ext cx="3200400" cy="347472"/>
          </a:xfrm>
          <a:prstGeom prst="rect">
            <a:avLst/>
          </a:prstGeom>
          <a:noFill/>
        </p:spPr>
        <p:txBody>
          <a:bodyPr wrap="square">
            <a:spAutoFit/>
          </a:bodyPr>
          <a:lstStyle/>
          <a:p>
            <a:pPr algn="ctr"/>
            <a:r>
              <a:rPr sz="1400" b="1">
                <a:solidFill>
                  <a:srgbClr val="FFFFFF"/>
                </a:solidFill>
              </a:rPr>
              <a:t>教师</a:t>
            </a:r>
          </a:p>
        </p:txBody>
      </p:sp>
      <p:sp>
        <p:nvSpPr>
          <p:cNvPr id="15" name="TextBox 14"/>
          <p:cNvSpPr txBox="1"/>
          <p:nvPr/>
        </p:nvSpPr>
        <p:spPr>
          <a:xfrm>
            <a:off x="4343400" y="2331720"/>
            <a:ext cx="2926080" cy="868680"/>
          </a:xfrm>
          <a:prstGeom prst="rect">
            <a:avLst/>
          </a:prstGeom>
          <a:noFill/>
        </p:spPr>
        <p:txBody>
          <a:bodyPr wrap="square">
            <a:spAutoFit/>
          </a:bodyPr>
          <a:lstStyle/>
          <a:p>
            <a:pPr algn="l"/>
            <a:r>
              <a:rPr sz="1100" b="0">
                <a:solidFill>
                  <a:srgbClr val="212121"/>
                </a:solidFill>
              </a:rPr>
              <a:t>登录系统
管理考勤与成绩
上传材料</a:t>
            </a:r>
          </a:p>
        </p:txBody>
      </p:sp>
      <p:sp>
        <p:nvSpPr>
          <p:cNvPr id="16" name="Rectangle 15"/>
          <p:cNvSpPr/>
          <p:nvPr/>
        </p:nvSpPr>
        <p:spPr>
          <a:xfrm>
            <a:off x="7955279" y="1828800"/>
            <a:ext cx="3200400" cy="14630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1828800"/>
            <a:ext cx="32004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1874519"/>
            <a:ext cx="3200400" cy="347472"/>
          </a:xfrm>
          <a:prstGeom prst="rect">
            <a:avLst/>
          </a:prstGeom>
          <a:noFill/>
        </p:spPr>
        <p:txBody>
          <a:bodyPr wrap="square">
            <a:spAutoFit/>
          </a:bodyPr>
          <a:lstStyle/>
          <a:p>
            <a:pPr algn="ctr"/>
            <a:r>
              <a:rPr sz="1400" b="1">
                <a:solidFill>
                  <a:srgbClr val="FFFFFF"/>
                </a:solidFill>
              </a:rPr>
              <a:t>管理员</a:t>
            </a:r>
          </a:p>
        </p:txBody>
      </p:sp>
      <p:sp>
        <p:nvSpPr>
          <p:cNvPr id="19" name="TextBox 18"/>
          <p:cNvSpPr txBox="1"/>
          <p:nvPr/>
        </p:nvSpPr>
        <p:spPr>
          <a:xfrm>
            <a:off x="8092440" y="2331720"/>
            <a:ext cx="2926080" cy="868680"/>
          </a:xfrm>
          <a:prstGeom prst="rect">
            <a:avLst/>
          </a:prstGeom>
          <a:noFill/>
        </p:spPr>
        <p:txBody>
          <a:bodyPr wrap="square">
            <a:spAutoFit/>
          </a:bodyPr>
          <a:lstStyle/>
          <a:p>
            <a:pPr algn="l"/>
            <a:r>
              <a:rPr sz="1100" b="0">
                <a:solidFill>
                  <a:srgbClr val="212121"/>
                </a:solidFill>
              </a:rPr>
              <a:t>管理人员/课程
发布活动
数据统计</a:t>
            </a:r>
          </a:p>
        </p:txBody>
      </p:sp>
      <p:sp>
        <p:nvSpPr>
          <p:cNvPr id="20" name="Rectangle 19"/>
          <p:cNvSpPr/>
          <p:nvPr/>
        </p:nvSpPr>
        <p:spPr>
          <a:xfrm>
            <a:off x="457200" y="4114800"/>
            <a:ext cx="11274552"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160520"/>
            <a:ext cx="10972800" cy="347472"/>
          </a:xfrm>
          <a:prstGeom prst="rect">
            <a:avLst/>
          </a:prstGeom>
          <a:noFill/>
        </p:spPr>
        <p:txBody>
          <a:bodyPr wrap="square">
            <a:spAutoFit/>
          </a:bodyPr>
          <a:lstStyle/>
          <a:p>
            <a:pPr algn="l"/>
            <a:r>
              <a:rPr sz="1300" b="0">
                <a:solidFill>
                  <a:srgbClr val="FFFFFF"/>
                </a:solidFill>
              </a:rPr>
              <a:t>5.2 功能模块图（共三大子模块：学员 / 教师 / 管理员，详见论文图 5-x）</a:t>
            </a:r>
          </a:p>
        </p:txBody>
      </p:sp>
      <p:sp>
        <p:nvSpPr>
          <p:cNvPr id="22" name="Rectangle 21"/>
          <p:cNvSpPr/>
          <p:nvPr/>
        </p:nvSpPr>
        <p:spPr>
          <a:xfrm>
            <a:off x="457200" y="4617720"/>
            <a:ext cx="11274552" cy="19202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709160"/>
            <a:ext cx="10972800" cy="1737360"/>
          </a:xfrm>
          <a:prstGeom prst="rect">
            <a:avLst/>
          </a:prstGeom>
          <a:noFill/>
        </p:spPr>
        <p:txBody>
          <a:bodyPr wrap="square">
            <a:spAutoFit/>
          </a:bodyPr>
          <a:lstStyle/>
          <a:p>
            <a:pPr algn="l"/>
            <a:r>
              <a:rPr sz="1200" b="0">
                <a:solidFill>
                  <a:srgbClr val="212121"/>
                </a:solidFill>
              </a:rPr>
              <a:t>  学员端：登录注册 → 课程/活动查询 → 在线报名 → 大型活动报名 → 评价 → 成绩查询 → 个人中心
  教师端：登录 → 课程/活动管理 → 考勤管理 → 成绩录入 → 材料上传 → 评价回复 → 个人中心
  管理员端：登录注册 → 人员管理 → 活动管理 → 课程审核 → 数据统计 → 个人中心</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06  数据库设计</a:t>
            </a:r>
          </a:p>
        </p:txBody>
      </p:sp>
      <p:sp>
        <p:nvSpPr>
          <p:cNvPr id="4" name="Rectangle 3"/>
          <p:cNvSpPr/>
          <p:nvPr/>
        </p:nvSpPr>
        <p:spPr>
          <a:xfrm>
            <a:off x="274320" y="1051560"/>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1088136"/>
            <a:ext cx="2651760" cy="347472"/>
          </a:xfrm>
          <a:prstGeom prst="rect">
            <a:avLst/>
          </a:prstGeom>
          <a:noFill/>
        </p:spPr>
        <p:txBody>
          <a:bodyPr wrap="square">
            <a:spAutoFit/>
          </a:bodyPr>
          <a:lstStyle/>
          <a:p>
            <a:pPr algn="l"/>
            <a:r>
              <a:rPr sz="1200" b="1">
                <a:solidFill>
                  <a:srgbClr val="FFFFFF"/>
                </a:solidFill>
              </a:rPr>
              <a:t>用户表 user</a:t>
            </a:r>
          </a:p>
        </p:txBody>
      </p:sp>
      <p:sp>
        <p:nvSpPr>
          <p:cNvPr id="6" name="Rectangle 5"/>
          <p:cNvSpPr/>
          <p:nvPr/>
        </p:nvSpPr>
        <p:spPr>
          <a:xfrm>
            <a:off x="274320" y="146303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508760"/>
            <a:ext cx="2651760" cy="292608"/>
          </a:xfrm>
          <a:prstGeom prst="rect">
            <a:avLst/>
          </a:prstGeom>
          <a:noFill/>
        </p:spPr>
        <p:txBody>
          <a:bodyPr wrap="square">
            <a:spAutoFit/>
          </a:bodyPr>
          <a:lstStyle/>
          <a:p>
            <a:pPr algn="l"/>
            <a:r>
              <a:rPr sz="1000" b="0">
                <a:solidFill>
                  <a:srgbClr val="212121"/>
                </a:solidFill>
              </a:rPr>
              <a:t>  user_id</a:t>
            </a:r>
          </a:p>
        </p:txBody>
      </p:sp>
      <p:sp>
        <p:nvSpPr>
          <p:cNvPr id="8" name="TextBox 7"/>
          <p:cNvSpPr txBox="1"/>
          <p:nvPr/>
        </p:nvSpPr>
        <p:spPr>
          <a:xfrm>
            <a:off x="320040" y="1819656"/>
            <a:ext cx="2651760" cy="292608"/>
          </a:xfrm>
          <a:prstGeom prst="rect">
            <a:avLst/>
          </a:prstGeom>
          <a:noFill/>
        </p:spPr>
        <p:txBody>
          <a:bodyPr wrap="square">
            <a:spAutoFit/>
          </a:bodyPr>
          <a:lstStyle/>
          <a:p>
            <a:pPr algn="l"/>
            <a:r>
              <a:rPr sz="1000" b="0">
                <a:solidFill>
                  <a:srgbClr val="212121"/>
                </a:solidFill>
              </a:rPr>
              <a:t>  username</a:t>
            </a:r>
          </a:p>
        </p:txBody>
      </p:sp>
      <p:sp>
        <p:nvSpPr>
          <p:cNvPr id="9" name="TextBox 8"/>
          <p:cNvSpPr txBox="1"/>
          <p:nvPr/>
        </p:nvSpPr>
        <p:spPr>
          <a:xfrm>
            <a:off x="320040" y="2130552"/>
            <a:ext cx="2651760" cy="292608"/>
          </a:xfrm>
          <a:prstGeom prst="rect">
            <a:avLst/>
          </a:prstGeom>
          <a:noFill/>
        </p:spPr>
        <p:txBody>
          <a:bodyPr wrap="square">
            <a:spAutoFit/>
          </a:bodyPr>
          <a:lstStyle/>
          <a:p>
            <a:pPr algn="l"/>
            <a:r>
              <a:rPr sz="1000" b="0">
                <a:solidFill>
                  <a:srgbClr val="212121"/>
                </a:solidFill>
              </a:rPr>
              <a:t>  password</a:t>
            </a:r>
          </a:p>
        </p:txBody>
      </p:sp>
      <p:sp>
        <p:nvSpPr>
          <p:cNvPr id="10" name="TextBox 9"/>
          <p:cNvSpPr txBox="1"/>
          <p:nvPr/>
        </p:nvSpPr>
        <p:spPr>
          <a:xfrm>
            <a:off x="320040" y="2441448"/>
            <a:ext cx="2651760" cy="292608"/>
          </a:xfrm>
          <a:prstGeom prst="rect">
            <a:avLst/>
          </a:prstGeom>
          <a:noFill/>
        </p:spPr>
        <p:txBody>
          <a:bodyPr wrap="square">
            <a:spAutoFit/>
          </a:bodyPr>
          <a:lstStyle/>
          <a:p>
            <a:pPr algn="l"/>
            <a:r>
              <a:rPr sz="1000" b="0">
                <a:solidFill>
                  <a:srgbClr val="212121"/>
                </a:solidFill>
              </a:rPr>
              <a:t>  role</a:t>
            </a:r>
          </a:p>
        </p:txBody>
      </p:sp>
      <p:sp>
        <p:nvSpPr>
          <p:cNvPr id="11" name="TextBox 10"/>
          <p:cNvSpPr txBox="1"/>
          <p:nvPr/>
        </p:nvSpPr>
        <p:spPr>
          <a:xfrm>
            <a:off x="320040" y="2752344"/>
            <a:ext cx="2651760" cy="292608"/>
          </a:xfrm>
          <a:prstGeom prst="rect">
            <a:avLst/>
          </a:prstGeom>
          <a:noFill/>
        </p:spPr>
        <p:txBody>
          <a:bodyPr wrap="square">
            <a:spAutoFit/>
          </a:bodyPr>
          <a:lstStyle/>
          <a:p>
            <a:pPr algn="l"/>
            <a:r>
              <a:rPr sz="1000" b="0">
                <a:solidFill>
                  <a:srgbClr val="212121"/>
                </a:solidFill>
              </a:rPr>
              <a:t>  email</a:t>
            </a:r>
          </a:p>
        </p:txBody>
      </p:sp>
      <p:sp>
        <p:nvSpPr>
          <p:cNvPr id="12" name="TextBox 11"/>
          <p:cNvSpPr txBox="1"/>
          <p:nvPr/>
        </p:nvSpPr>
        <p:spPr>
          <a:xfrm>
            <a:off x="320040" y="3063240"/>
            <a:ext cx="2651760" cy="292608"/>
          </a:xfrm>
          <a:prstGeom prst="rect">
            <a:avLst/>
          </a:prstGeom>
          <a:noFill/>
        </p:spPr>
        <p:txBody>
          <a:bodyPr wrap="square">
            <a:spAutoFit/>
          </a:bodyPr>
          <a:lstStyle/>
          <a:p>
            <a:pPr algn="l"/>
            <a:r>
              <a:rPr sz="1000" b="0">
                <a:solidFill>
                  <a:srgbClr val="212121"/>
                </a:solidFill>
              </a:rPr>
              <a:t>  avatar</a:t>
            </a:r>
          </a:p>
        </p:txBody>
      </p:sp>
      <p:sp>
        <p:nvSpPr>
          <p:cNvPr id="13" name="Rectangle 12"/>
          <p:cNvSpPr/>
          <p:nvPr/>
        </p:nvSpPr>
        <p:spPr>
          <a:xfrm>
            <a:off x="3200400" y="1051560"/>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88136"/>
            <a:ext cx="2651760" cy="347472"/>
          </a:xfrm>
          <a:prstGeom prst="rect">
            <a:avLst/>
          </a:prstGeom>
          <a:noFill/>
        </p:spPr>
        <p:txBody>
          <a:bodyPr wrap="square">
            <a:spAutoFit/>
          </a:bodyPr>
          <a:lstStyle/>
          <a:p>
            <a:pPr algn="l"/>
            <a:r>
              <a:rPr sz="1200" b="1">
                <a:solidFill>
                  <a:srgbClr val="FFFFFF"/>
                </a:solidFill>
              </a:rPr>
              <a:t>课程表 course</a:t>
            </a:r>
          </a:p>
        </p:txBody>
      </p:sp>
      <p:sp>
        <p:nvSpPr>
          <p:cNvPr id="15" name="Rectangle 14"/>
          <p:cNvSpPr/>
          <p:nvPr/>
        </p:nvSpPr>
        <p:spPr>
          <a:xfrm>
            <a:off x="3200400" y="146303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1508760"/>
            <a:ext cx="2651760" cy="292608"/>
          </a:xfrm>
          <a:prstGeom prst="rect">
            <a:avLst/>
          </a:prstGeom>
          <a:noFill/>
        </p:spPr>
        <p:txBody>
          <a:bodyPr wrap="square">
            <a:spAutoFit/>
          </a:bodyPr>
          <a:lstStyle/>
          <a:p>
            <a:pPr algn="l"/>
            <a:r>
              <a:rPr sz="1000" b="0">
                <a:solidFill>
                  <a:srgbClr val="212121"/>
                </a:solidFill>
              </a:rPr>
              <a:t>  course_id</a:t>
            </a:r>
          </a:p>
        </p:txBody>
      </p:sp>
      <p:sp>
        <p:nvSpPr>
          <p:cNvPr id="17" name="TextBox 16"/>
          <p:cNvSpPr txBox="1"/>
          <p:nvPr/>
        </p:nvSpPr>
        <p:spPr>
          <a:xfrm>
            <a:off x="3246120" y="1819656"/>
            <a:ext cx="2651760" cy="292608"/>
          </a:xfrm>
          <a:prstGeom prst="rect">
            <a:avLst/>
          </a:prstGeom>
          <a:noFill/>
        </p:spPr>
        <p:txBody>
          <a:bodyPr wrap="square">
            <a:spAutoFit/>
          </a:bodyPr>
          <a:lstStyle/>
          <a:p>
            <a:pPr algn="l"/>
            <a:r>
              <a:rPr sz="1000" b="0">
                <a:solidFill>
                  <a:srgbClr val="212121"/>
                </a:solidFill>
              </a:rPr>
              <a:t>  name</a:t>
            </a:r>
          </a:p>
        </p:txBody>
      </p:sp>
      <p:sp>
        <p:nvSpPr>
          <p:cNvPr id="18" name="TextBox 17"/>
          <p:cNvSpPr txBox="1"/>
          <p:nvPr/>
        </p:nvSpPr>
        <p:spPr>
          <a:xfrm>
            <a:off x="3246120" y="2130552"/>
            <a:ext cx="2651760" cy="292608"/>
          </a:xfrm>
          <a:prstGeom prst="rect">
            <a:avLst/>
          </a:prstGeom>
          <a:noFill/>
        </p:spPr>
        <p:txBody>
          <a:bodyPr wrap="square">
            <a:spAutoFit/>
          </a:bodyPr>
          <a:lstStyle/>
          <a:p>
            <a:pPr algn="l"/>
            <a:r>
              <a:rPr sz="1000" b="0">
                <a:solidFill>
                  <a:srgbClr val="212121"/>
                </a:solidFill>
              </a:rPr>
              <a:t>  teacher_id</a:t>
            </a:r>
          </a:p>
        </p:txBody>
      </p:sp>
      <p:sp>
        <p:nvSpPr>
          <p:cNvPr id="19" name="TextBox 18"/>
          <p:cNvSpPr txBox="1"/>
          <p:nvPr/>
        </p:nvSpPr>
        <p:spPr>
          <a:xfrm>
            <a:off x="3246120" y="2441448"/>
            <a:ext cx="2651760" cy="292608"/>
          </a:xfrm>
          <a:prstGeom prst="rect">
            <a:avLst/>
          </a:prstGeom>
          <a:noFill/>
        </p:spPr>
        <p:txBody>
          <a:bodyPr wrap="square">
            <a:spAutoFit/>
          </a:bodyPr>
          <a:lstStyle/>
          <a:p>
            <a:pPr algn="l"/>
            <a:r>
              <a:rPr sz="1000" b="0">
                <a:solidFill>
                  <a:srgbClr val="212121"/>
                </a:solidFill>
              </a:rPr>
              <a:t>  capacity</a:t>
            </a:r>
          </a:p>
        </p:txBody>
      </p:sp>
      <p:sp>
        <p:nvSpPr>
          <p:cNvPr id="20" name="TextBox 19"/>
          <p:cNvSpPr txBox="1"/>
          <p:nvPr/>
        </p:nvSpPr>
        <p:spPr>
          <a:xfrm>
            <a:off x="3246120" y="2752344"/>
            <a:ext cx="2651760" cy="292608"/>
          </a:xfrm>
          <a:prstGeom prst="rect">
            <a:avLst/>
          </a:prstGeom>
          <a:noFill/>
        </p:spPr>
        <p:txBody>
          <a:bodyPr wrap="square">
            <a:spAutoFit/>
          </a:bodyPr>
          <a:lstStyle/>
          <a:p>
            <a:pPr algn="l"/>
            <a:r>
              <a:rPr sz="1000" b="0">
                <a:solidFill>
                  <a:srgbClr val="212121"/>
                </a:solidFill>
              </a:rPr>
              <a:t>  room</a:t>
            </a:r>
          </a:p>
        </p:txBody>
      </p:sp>
      <p:sp>
        <p:nvSpPr>
          <p:cNvPr id="21" name="TextBox 20"/>
          <p:cNvSpPr txBox="1"/>
          <p:nvPr/>
        </p:nvSpPr>
        <p:spPr>
          <a:xfrm>
            <a:off x="3246120" y="3063240"/>
            <a:ext cx="2651760" cy="292608"/>
          </a:xfrm>
          <a:prstGeom prst="rect">
            <a:avLst/>
          </a:prstGeom>
          <a:noFill/>
        </p:spPr>
        <p:txBody>
          <a:bodyPr wrap="square">
            <a:spAutoFit/>
          </a:bodyPr>
          <a:lstStyle/>
          <a:p>
            <a:pPr algn="l"/>
            <a:r>
              <a:rPr sz="1000" b="0">
                <a:solidFill>
                  <a:srgbClr val="212121"/>
                </a:solidFill>
              </a:rPr>
              <a:t>  status</a:t>
            </a:r>
          </a:p>
        </p:txBody>
      </p:sp>
      <p:sp>
        <p:nvSpPr>
          <p:cNvPr id="22" name="Rectangle 21"/>
          <p:cNvSpPr/>
          <p:nvPr/>
        </p:nvSpPr>
        <p:spPr>
          <a:xfrm>
            <a:off x="6126480" y="1051560"/>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1088136"/>
            <a:ext cx="2651760" cy="347472"/>
          </a:xfrm>
          <a:prstGeom prst="rect">
            <a:avLst/>
          </a:prstGeom>
          <a:noFill/>
        </p:spPr>
        <p:txBody>
          <a:bodyPr wrap="square">
            <a:spAutoFit/>
          </a:bodyPr>
          <a:lstStyle/>
          <a:p>
            <a:pPr algn="l"/>
            <a:r>
              <a:rPr sz="1200" b="1">
                <a:solidFill>
                  <a:srgbClr val="FFFFFF"/>
                </a:solidFill>
              </a:rPr>
              <a:t>活动表 activity</a:t>
            </a:r>
          </a:p>
        </p:txBody>
      </p:sp>
      <p:sp>
        <p:nvSpPr>
          <p:cNvPr id="24" name="Rectangle 23"/>
          <p:cNvSpPr/>
          <p:nvPr/>
        </p:nvSpPr>
        <p:spPr>
          <a:xfrm>
            <a:off x="6126480" y="146303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1508760"/>
            <a:ext cx="2651760" cy="292608"/>
          </a:xfrm>
          <a:prstGeom prst="rect">
            <a:avLst/>
          </a:prstGeom>
          <a:noFill/>
        </p:spPr>
        <p:txBody>
          <a:bodyPr wrap="square">
            <a:spAutoFit/>
          </a:bodyPr>
          <a:lstStyle/>
          <a:p>
            <a:pPr algn="l"/>
            <a:r>
              <a:rPr sz="1000" b="0">
                <a:solidFill>
                  <a:srgbClr val="212121"/>
                </a:solidFill>
              </a:rPr>
              <a:t>  act_id</a:t>
            </a:r>
          </a:p>
        </p:txBody>
      </p:sp>
      <p:sp>
        <p:nvSpPr>
          <p:cNvPr id="26" name="TextBox 25"/>
          <p:cNvSpPr txBox="1"/>
          <p:nvPr/>
        </p:nvSpPr>
        <p:spPr>
          <a:xfrm>
            <a:off x="6172200" y="1819656"/>
            <a:ext cx="2651760" cy="292608"/>
          </a:xfrm>
          <a:prstGeom prst="rect">
            <a:avLst/>
          </a:prstGeom>
          <a:noFill/>
        </p:spPr>
        <p:txBody>
          <a:bodyPr wrap="square">
            <a:spAutoFit/>
          </a:bodyPr>
          <a:lstStyle/>
          <a:p>
            <a:pPr algn="l"/>
            <a:r>
              <a:rPr sz="1000" b="0">
                <a:solidFill>
                  <a:srgbClr val="212121"/>
                </a:solidFill>
              </a:rPr>
              <a:t>  title</a:t>
            </a:r>
          </a:p>
        </p:txBody>
      </p:sp>
      <p:sp>
        <p:nvSpPr>
          <p:cNvPr id="27" name="TextBox 26"/>
          <p:cNvSpPr txBox="1"/>
          <p:nvPr/>
        </p:nvSpPr>
        <p:spPr>
          <a:xfrm>
            <a:off x="6172200" y="2130552"/>
            <a:ext cx="2651760" cy="292608"/>
          </a:xfrm>
          <a:prstGeom prst="rect">
            <a:avLst/>
          </a:prstGeom>
          <a:noFill/>
        </p:spPr>
        <p:txBody>
          <a:bodyPr wrap="square">
            <a:spAutoFit/>
          </a:bodyPr>
          <a:lstStyle/>
          <a:p>
            <a:pPr algn="l"/>
            <a:r>
              <a:rPr sz="1000" b="0">
                <a:solidFill>
                  <a:srgbClr val="212121"/>
                </a:solidFill>
              </a:rPr>
              <a:t>  start_time</a:t>
            </a:r>
          </a:p>
        </p:txBody>
      </p:sp>
      <p:sp>
        <p:nvSpPr>
          <p:cNvPr id="28" name="TextBox 27"/>
          <p:cNvSpPr txBox="1"/>
          <p:nvPr/>
        </p:nvSpPr>
        <p:spPr>
          <a:xfrm>
            <a:off x="6172200" y="2441448"/>
            <a:ext cx="2651760" cy="292608"/>
          </a:xfrm>
          <a:prstGeom prst="rect">
            <a:avLst/>
          </a:prstGeom>
          <a:noFill/>
        </p:spPr>
        <p:txBody>
          <a:bodyPr wrap="square">
            <a:spAutoFit/>
          </a:bodyPr>
          <a:lstStyle/>
          <a:p>
            <a:pPr algn="l"/>
            <a:r>
              <a:rPr sz="1000" b="0">
                <a:solidFill>
                  <a:srgbClr val="212121"/>
                </a:solidFill>
              </a:rPr>
              <a:t>  end_time</a:t>
            </a:r>
          </a:p>
        </p:txBody>
      </p:sp>
      <p:sp>
        <p:nvSpPr>
          <p:cNvPr id="29" name="TextBox 28"/>
          <p:cNvSpPr txBox="1"/>
          <p:nvPr/>
        </p:nvSpPr>
        <p:spPr>
          <a:xfrm>
            <a:off x="6172200" y="2752344"/>
            <a:ext cx="2651760" cy="292608"/>
          </a:xfrm>
          <a:prstGeom prst="rect">
            <a:avLst/>
          </a:prstGeom>
          <a:noFill/>
        </p:spPr>
        <p:txBody>
          <a:bodyPr wrap="square">
            <a:spAutoFit/>
          </a:bodyPr>
          <a:lstStyle/>
          <a:p>
            <a:pPr algn="l"/>
            <a:r>
              <a:rPr sz="1000" b="0">
                <a:solidFill>
                  <a:srgbClr val="212121"/>
                </a:solidFill>
              </a:rPr>
              <a:t>  max_num</a:t>
            </a:r>
          </a:p>
        </p:txBody>
      </p:sp>
      <p:sp>
        <p:nvSpPr>
          <p:cNvPr id="30" name="TextBox 29"/>
          <p:cNvSpPr txBox="1"/>
          <p:nvPr/>
        </p:nvSpPr>
        <p:spPr>
          <a:xfrm>
            <a:off x="6172200" y="3063240"/>
            <a:ext cx="2651760" cy="292608"/>
          </a:xfrm>
          <a:prstGeom prst="rect">
            <a:avLst/>
          </a:prstGeom>
          <a:noFill/>
        </p:spPr>
        <p:txBody>
          <a:bodyPr wrap="square">
            <a:spAutoFit/>
          </a:bodyPr>
          <a:lstStyle/>
          <a:p>
            <a:pPr algn="l"/>
            <a:r>
              <a:rPr sz="1000" b="0">
                <a:solidFill>
                  <a:srgbClr val="212121"/>
                </a:solidFill>
              </a:rPr>
              <a:t>  status</a:t>
            </a:r>
          </a:p>
        </p:txBody>
      </p:sp>
      <p:sp>
        <p:nvSpPr>
          <p:cNvPr id="31" name="Rectangle 30"/>
          <p:cNvSpPr/>
          <p:nvPr/>
        </p:nvSpPr>
        <p:spPr>
          <a:xfrm>
            <a:off x="9052560" y="1051560"/>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98280" y="1088136"/>
            <a:ext cx="2651760" cy="347472"/>
          </a:xfrm>
          <a:prstGeom prst="rect">
            <a:avLst/>
          </a:prstGeom>
          <a:noFill/>
        </p:spPr>
        <p:txBody>
          <a:bodyPr wrap="square">
            <a:spAutoFit/>
          </a:bodyPr>
          <a:lstStyle/>
          <a:p>
            <a:pPr algn="l"/>
            <a:r>
              <a:rPr sz="1200" b="1">
                <a:solidFill>
                  <a:srgbClr val="FFFFFF"/>
                </a:solidFill>
              </a:rPr>
              <a:t>报名表 enrollment</a:t>
            </a:r>
          </a:p>
        </p:txBody>
      </p:sp>
      <p:sp>
        <p:nvSpPr>
          <p:cNvPr id="33" name="Rectangle 32"/>
          <p:cNvSpPr/>
          <p:nvPr/>
        </p:nvSpPr>
        <p:spPr>
          <a:xfrm>
            <a:off x="9052560" y="146303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98280" y="1508760"/>
            <a:ext cx="2651760" cy="292608"/>
          </a:xfrm>
          <a:prstGeom prst="rect">
            <a:avLst/>
          </a:prstGeom>
          <a:noFill/>
        </p:spPr>
        <p:txBody>
          <a:bodyPr wrap="square">
            <a:spAutoFit/>
          </a:bodyPr>
          <a:lstStyle/>
          <a:p>
            <a:pPr algn="l"/>
            <a:r>
              <a:rPr sz="1000" b="0">
                <a:solidFill>
                  <a:srgbClr val="212121"/>
                </a:solidFill>
              </a:rPr>
              <a:t>  enroll_id</a:t>
            </a:r>
          </a:p>
        </p:txBody>
      </p:sp>
      <p:sp>
        <p:nvSpPr>
          <p:cNvPr id="35" name="TextBox 34"/>
          <p:cNvSpPr txBox="1"/>
          <p:nvPr/>
        </p:nvSpPr>
        <p:spPr>
          <a:xfrm>
            <a:off x="9098280" y="1819656"/>
            <a:ext cx="2651760" cy="292608"/>
          </a:xfrm>
          <a:prstGeom prst="rect">
            <a:avLst/>
          </a:prstGeom>
          <a:noFill/>
        </p:spPr>
        <p:txBody>
          <a:bodyPr wrap="square">
            <a:spAutoFit/>
          </a:bodyPr>
          <a:lstStyle/>
          <a:p>
            <a:pPr algn="l"/>
            <a:r>
              <a:rPr sz="1000" b="0">
                <a:solidFill>
                  <a:srgbClr val="212121"/>
                </a:solidFill>
              </a:rPr>
              <a:t>  user_id</a:t>
            </a:r>
          </a:p>
        </p:txBody>
      </p:sp>
      <p:sp>
        <p:nvSpPr>
          <p:cNvPr id="36" name="TextBox 35"/>
          <p:cNvSpPr txBox="1"/>
          <p:nvPr/>
        </p:nvSpPr>
        <p:spPr>
          <a:xfrm>
            <a:off x="9098280" y="2130552"/>
            <a:ext cx="2651760" cy="292608"/>
          </a:xfrm>
          <a:prstGeom prst="rect">
            <a:avLst/>
          </a:prstGeom>
          <a:noFill/>
        </p:spPr>
        <p:txBody>
          <a:bodyPr wrap="square">
            <a:spAutoFit/>
          </a:bodyPr>
          <a:lstStyle/>
          <a:p>
            <a:pPr algn="l"/>
            <a:r>
              <a:rPr sz="1000" b="0">
                <a:solidFill>
                  <a:srgbClr val="212121"/>
                </a:solidFill>
              </a:rPr>
              <a:t>  target_id</a:t>
            </a:r>
          </a:p>
        </p:txBody>
      </p:sp>
      <p:sp>
        <p:nvSpPr>
          <p:cNvPr id="37" name="TextBox 36"/>
          <p:cNvSpPr txBox="1"/>
          <p:nvPr/>
        </p:nvSpPr>
        <p:spPr>
          <a:xfrm>
            <a:off x="9098280" y="2441448"/>
            <a:ext cx="2651760" cy="292608"/>
          </a:xfrm>
          <a:prstGeom prst="rect">
            <a:avLst/>
          </a:prstGeom>
          <a:noFill/>
        </p:spPr>
        <p:txBody>
          <a:bodyPr wrap="square">
            <a:spAutoFit/>
          </a:bodyPr>
          <a:lstStyle/>
          <a:p>
            <a:pPr algn="l"/>
            <a:r>
              <a:rPr sz="1000" b="0">
                <a:solidFill>
                  <a:srgbClr val="212121"/>
                </a:solidFill>
              </a:rPr>
              <a:t>  enroll_time</a:t>
            </a:r>
          </a:p>
        </p:txBody>
      </p:sp>
      <p:sp>
        <p:nvSpPr>
          <p:cNvPr id="38" name="TextBox 37"/>
          <p:cNvSpPr txBox="1"/>
          <p:nvPr/>
        </p:nvSpPr>
        <p:spPr>
          <a:xfrm>
            <a:off x="9098280" y="2752344"/>
            <a:ext cx="2651760" cy="292608"/>
          </a:xfrm>
          <a:prstGeom prst="rect">
            <a:avLst/>
          </a:prstGeom>
          <a:noFill/>
        </p:spPr>
        <p:txBody>
          <a:bodyPr wrap="square">
            <a:spAutoFit/>
          </a:bodyPr>
          <a:lstStyle/>
          <a:p>
            <a:pPr algn="l"/>
            <a:r>
              <a:rPr sz="1000" b="0">
                <a:solidFill>
                  <a:srgbClr val="212121"/>
                </a:solidFill>
              </a:rPr>
              <a:t>  state</a:t>
            </a:r>
          </a:p>
        </p:txBody>
      </p:sp>
      <p:sp>
        <p:nvSpPr>
          <p:cNvPr id="39" name="Rectangle 38"/>
          <p:cNvSpPr/>
          <p:nvPr/>
        </p:nvSpPr>
        <p:spPr>
          <a:xfrm>
            <a:off x="274320" y="3611879"/>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3648456"/>
            <a:ext cx="2651760" cy="347472"/>
          </a:xfrm>
          <a:prstGeom prst="rect">
            <a:avLst/>
          </a:prstGeom>
          <a:noFill/>
        </p:spPr>
        <p:txBody>
          <a:bodyPr wrap="square">
            <a:spAutoFit/>
          </a:bodyPr>
          <a:lstStyle/>
          <a:p>
            <a:pPr algn="l"/>
            <a:r>
              <a:rPr sz="1200" b="1">
                <a:solidFill>
                  <a:srgbClr val="FFFFFF"/>
                </a:solidFill>
              </a:rPr>
              <a:t>考勤表 attendance</a:t>
            </a:r>
          </a:p>
        </p:txBody>
      </p:sp>
      <p:sp>
        <p:nvSpPr>
          <p:cNvPr id="41" name="Rectangle 40"/>
          <p:cNvSpPr/>
          <p:nvPr/>
        </p:nvSpPr>
        <p:spPr>
          <a:xfrm>
            <a:off x="274320" y="402335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0040" y="4069079"/>
            <a:ext cx="2651760" cy="292608"/>
          </a:xfrm>
          <a:prstGeom prst="rect">
            <a:avLst/>
          </a:prstGeom>
          <a:noFill/>
        </p:spPr>
        <p:txBody>
          <a:bodyPr wrap="square">
            <a:spAutoFit/>
          </a:bodyPr>
          <a:lstStyle/>
          <a:p>
            <a:pPr algn="l"/>
            <a:r>
              <a:rPr sz="1000" b="0">
                <a:solidFill>
                  <a:srgbClr val="212121"/>
                </a:solidFill>
              </a:rPr>
              <a:t>  att_id</a:t>
            </a:r>
          </a:p>
        </p:txBody>
      </p:sp>
      <p:sp>
        <p:nvSpPr>
          <p:cNvPr id="43" name="TextBox 42"/>
          <p:cNvSpPr txBox="1"/>
          <p:nvPr/>
        </p:nvSpPr>
        <p:spPr>
          <a:xfrm>
            <a:off x="320040" y="4379975"/>
            <a:ext cx="2651760" cy="292608"/>
          </a:xfrm>
          <a:prstGeom prst="rect">
            <a:avLst/>
          </a:prstGeom>
          <a:noFill/>
        </p:spPr>
        <p:txBody>
          <a:bodyPr wrap="square">
            <a:spAutoFit/>
          </a:bodyPr>
          <a:lstStyle/>
          <a:p>
            <a:pPr algn="l"/>
            <a:r>
              <a:rPr sz="1000" b="0">
                <a:solidFill>
                  <a:srgbClr val="212121"/>
                </a:solidFill>
              </a:rPr>
              <a:t>  course_id</a:t>
            </a:r>
          </a:p>
        </p:txBody>
      </p:sp>
      <p:sp>
        <p:nvSpPr>
          <p:cNvPr id="44" name="TextBox 43"/>
          <p:cNvSpPr txBox="1"/>
          <p:nvPr/>
        </p:nvSpPr>
        <p:spPr>
          <a:xfrm>
            <a:off x="320040" y="4690871"/>
            <a:ext cx="2651760" cy="292608"/>
          </a:xfrm>
          <a:prstGeom prst="rect">
            <a:avLst/>
          </a:prstGeom>
          <a:noFill/>
        </p:spPr>
        <p:txBody>
          <a:bodyPr wrap="square">
            <a:spAutoFit/>
          </a:bodyPr>
          <a:lstStyle/>
          <a:p>
            <a:pPr algn="l"/>
            <a:r>
              <a:rPr sz="1000" b="0">
                <a:solidFill>
                  <a:srgbClr val="212121"/>
                </a:solidFill>
              </a:rPr>
              <a:t>  student_id</a:t>
            </a:r>
          </a:p>
        </p:txBody>
      </p:sp>
      <p:sp>
        <p:nvSpPr>
          <p:cNvPr id="45" name="TextBox 44"/>
          <p:cNvSpPr txBox="1"/>
          <p:nvPr/>
        </p:nvSpPr>
        <p:spPr>
          <a:xfrm>
            <a:off x="320040" y="5001767"/>
            <a:ext cx="2651760" cy="292608"/>
          </a:xfrm>
          <a:prstGeom prst="rect">
            <a:avLst/>
          </a:prstGeom>
          <a:noFill/>
        </p:spPr>
        <p:txBody>
          <a:bodyPr wrap="square">
            <a:spAutoFit/>
          </a:bodyPr>
          <a:lstStyle/>
          <a:p>
            <a:pPr algn="l"/>
            <a:r>
              <a:rPr sz="1000" b="0">
                <a:solidFill>
                  <a:srgbClr val="212121"/>
                </a:solidFill>
              </a:rPr>
              <a:t>  date</a:t>
            </a:r>
          </a:p>
        </p:txBody>
      </p:sp>
      <p:sp>
        <p:nvSpPr>
          <p:cNvPr id="46" name="TextBox 45"/>
          <p:cNvSpPr txBox="1"/>
          <p:nvPr/>
        </p:nvSpPr>
        <p:spPr>
          <a:xfrm>
            <a:off x="320040" y="5312664"/>
            <a:ext cx="2651760" cy="292608"/>
          </a:xfrm>
          <a:prstGeom prst="rect">
            <a:avLst/>
          </a:prstGeom>
          <a:noFill/>
        </p:spPr>
        <p:txBody>
          <a:bodyPr wrap="square">
            <a:spAutoFit/>
          </a:bodyPr>
          <a:lstStyle/>
          <a:p>
            <a:pPr algn="l"/>
            <a:r>
              <a:rPr sz="1000" b="0">
                <a:solidFill>
                  <a:srgbClr val="212121"/>
                </a:solidFill>
              </a:rPr>
              <a:t>  status</a:t>
            </a:r>
          </a:p>
        </p:txBody>
      </p:sp>
      <p:sp>
        <p:nvSpPr>
          <p:cNvPr id="47" name="Rectangle 46"/>
          <p:cNvSpPr/>
          <p:nvPr/>
        </p:nvSpPr>
        <p:spPr>
          <a:xfrm>
            <a:off x="3200400" y="3611879"/>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46120" y="3648456"/>
            <a:ext cx="2651760" cy="347472"/>
          </a:xfrm>
          <a:prstGeom prst="rect">
            <a:avLst/>
          </a:prstGeom>
          <a:noFill/>
        </p:spPr>
        <p:txBody>
          <a:bodyPr wrap="square">
            <a:spAutoFit/>
          </a:bodyPr>
          <a:lstStyle/>
          <a:p>
            <a:pPr algn="l"/>
            <a:r>
              <a:rPr sz="1200" b="1">
                <a:solidFill>
                  <a:srgbClr val="FFFFFF"/>
                </a:solidFill>
              </a:rPr>
              <a:t>成绩表 score</a:t>
            </a:r>
          </a:p>
        </p:txBody>
      </p:sp>
      <p:sp>
        <p:nvSpPr>
          <p:cNvPr id="49" name="Rectangle 48"/>
          <p:cNvSpPr/>
          <p:nvPr/>
        </p:nvSpPr>
        <p:spPr>
          <a:xfrm>
            <a:off x="3200400" y="402335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46120" y="4069079"/>
            <a:ext cx="2651760" cy="292608"/>
          </a:xfrm>
          <a:prstGeom prst="rect">
            <a:avLst/>
          </a:prstGeom>
          <a:noFill/>
        </p:spPr>
        <p:txBody>
          <a:bodyPr wrap="square">
            <a:spAutoFit/>
          </a:bodyPr>
          <a:lstStyle/>
          <a:p>
            <a:pPr algn="l"/>
            <a:r>
              <a:rPr sz="1000" b="0">
                <a:solidFill>
                  <a:srgbClr val="212121"/>
                </a:solidFill>
              </a:rPr>
              <a:t>  score_id</a:t>
            </a:r>
          </a:p>
        </p:txBody>
      </p:sp>
      <p:sp>
        <p:nvSpPr>
          <p:cNvPr id="51" name="TextBox 50"/>
          <p:cNvSpPr txBox="1"/>
          <p:nvPr/>
        </p:nvSpPr>
        <p:spPr>
          <a:xfrm>
            <a:off x="3246120" y="4379975"/>
            <a:ext cx="2651760" cy="292608"/>
          </a:xfrm>
          <a:prstGeom prst="rect">
            <a:avLst/>
          </a:prstGeom>
          <a:noFill/>
        </p:spPr>
        <p:txBody>
          <a:bodyPr wrap="square">
            <a:spAutoFit/>
          </a:bodyPr>
          <a:lstStyle/>
          <a:p>
            <a:pPr algn="l"/>
            <a:r>
              <a:rPr sz="1000" b="0">
                <a:solidFill>
                  <a:srgbClr val="212121"/>
                </a:solidFill>
              </a:rPr>
              <a:t>  course_id</a:t>
            </a:r>
          </a:p>
        </p:txBody>
      </p:sp>
      <p:sp>
        <p:nvSpPr>
          <p:cNvPr id="52" name="TextBox 51"/>
          <p:cNvSpPr txBox="1"/>
          <p:nvPr/>
        </p:nvSpPr>
        <p:spPr>
          <a:xfrm>
            <a:off x="3246120" y="4690871"/>
            <a:ext cx="2651760" cy="292608"/>
          </a:xfrm>
          <a:prstGeom prst="rect">
            <a:avLst/>
          </a:prstGeom>
          <a:noFill/>
        </p:spPr>
        <p:txBody>
          <a:bodyPr wrap="square">
            <a:spAutoFit/>
          </a:bodyPr>
          <a:lstStyle/>
          <a:p>
            <a:pPr algn="l"/>
            <a:r>
              <a:rPr sz="1000" b="0">
                <a:solidFill>
                  <a:srgbClr val="212121"/>
                </a:solidFill>
              </a:rPr>
              <a:t>  student_id</a:t>
            </a:r>
          </a:p>
        </p:txBody>
      </p:sp>
      <p:sp>
        <p:nvSpPr>
          <p:cNvPr id="53" name="TextBox 52"/>
          <p:cNvSpPr txBox="1"/>
          <p:nvPr/>
        </p:nvSpPr>
        <p:spPr>
          <a:xfrm>
            <a:off x="3246120" y="5001767"/>
            <a:ext cx="2651760" cy="292608"/>
          </a:xfrm>
          <a:prstGeom prst="rect">
            <a:avLst/>
          </a:prstGeom>
          <a:noFill/>
        </p:spPr>
        <p:txBody>
          <a:bodyPr wrap="square">
            <a:spAutoFit/>
          </a:bodyPr>
          <a:lstStyle/>
          <a:p>
            <a:pPr algn="l"/>
            <a:r>
              <a:rPr sz="1000" b="0">
                <a:solidFill>
                  <a:srgbClr val="212121"/>
                </a:solidFill>
              </a:rPr>
              <a:t>  mark</a:t>
            </a:r>
          </a:p>
        </p:txBody>
      </p:sp>
      <p:sp>
        <p:nvSpPr>
          <p:cNvPr id="54" name="TextBox 53"/>
          <p:cNvSpPr txBox="1"/>
          <p:nvPr/>
        </p:nvSpPr>
        <p:spPr>
          <a:xfrm>
            <a:off x="3246120" y="5312664"/>
            <a:ext cx="2651760" cy="292608"/>
          </a:xfrm>
          <a:prstGeom prst="rect">
            <a:avLst/>
          </a:prstGeom>
          <a:noFill/>
        </p:spPr>
        <p:txBody>
          <a:bodyPr wrap="square">
            <a:spAutoFit/>
          </a:bodyPr>
          <a:lstStyle/>
          <a:p>
            <a:pPr algn="l"/>
            <a:r>
              <a:rPr sz="1000" b="0">
                <a:solidFill>
                  <a:srgbClr val="212121"/>
                </a:solidFill>
              </a:rPr>
              <a:t>  comment</a:t>
            </a:r>
          </a:p>
        </p:txBody>
      </p:sp>
      <p:sp>
        <p:nvSpPr>
          <p:cNvPr id="55" name="Rectangle 54"/>
          <p:cNvSpPr/>
          <p:nvPr/>
        </p:nvSpPr>
        <p:spPr>
          <a:xfrm>
            <a:off x="6126480" y="3611879"/>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72200" y="3648456"/>
            <a:ext cx="2651760" cy="347472"/>
          </a:xfrm>
          <a:prstGeom prst="rect">
            <a:avLst/>
          </a:prstGeom>
          <a:noFill/>
        </p:spPr>
        <p:txBody>
          <a:bodyPr wrap="square">
            <a:spAutoFit/>
          </a:bodyPr>
          <a:lstStyle/>
          <a:p>
            <a:pPr algn="l"/>
            <a:r>
              <a:rPr sz="1200" b="1">
                <a:solidFill>
                  <a:srgbClr val="FFFFFF"/>
                </a:solidFill>
              </a:rPr>
              <a:t>评价表 review</a:t>
            </a:r>
          </a:p>
        </p:txBody>
      </p:sp>
      <p:sp>
        <p:nvSpPr>
          <p:cNvPr id="57" name="Rectangle 56"/>
          <p:cNvSpPr/>
          <p:nvPr/>
        </p:nvSpPr>
        <p:spPr>
          <a:xfrm>
            <a:off x="6126480" y="402335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72200" y="4069079"/>
            <a:ext cx="2651760" cy="292608"/>
          </a:xfrm>
          <a:prstGeom prst="rect">
            <a:avLst/>
          </a:prstGeom>
          <a:noFill/>
        </p:spPr>
        <p:txBody>
          <a:bodyPr wrap="square">
            <a:spAutoFit/>
          </a:bodyPr>
          <a:lstStyle/>
          <a:p>
            <a:pPr algn="l"/>
            <a:r>
              <a:rPr sz="1000" b="0">
                <a:solidFill>
                  <a:srgbClr val="212121"/>
                </a:solidFill>
              </a:rPr>
              <a:t>  rev_id</a:t>
            </a:r>
          </a:p>
        </p:txBody>
      </p:sp>
      <p:sp>
        <p:nvSpPr>
          <p:cNvPr id="59" name="TextBox 58"/>
          <p:cNvSpPr txBox="1"/>
          <p:nvPr/>
        </p:nvSpPr>
        <p:spPr>
          <a:xfrm>
            <a:off x="6172200" y="4379975"/>
            <a:ext cx="2651760" cy="292608"/>
          </a:xfrm>
          <a:prstGeom prst="rect">
            <a:avLst/>
          </a:prstGeom>
          <a:noFill/>
        </p:spPr>
        <p:txBody>
          <a:bodyPr wrap="square">
            <a:spAutoFit/>
          </a:bodyPr>
          <a:lstStyle/>
          <a:p>
            <a:pPr algn="l"/>
            <a:r>
              <a:rPr sz="1000" b="0">
                <a:solidFill>
                  <a:srgbClr val="212121"/>
                </a:solidFill>
              </a:rPr>
              <a:t>  user_id</a:t>
            </a:r>
          </a:p>
        </p:txBody>
      </p:sp>
      <p:sp>
        <p:nvSpPr>
          <p:cNvPr id="60" name="TextBox 59"/>
          <p:cNvSpPr txBox="1"/>
          <p:nvPr/>
        </p:nvSpPr>
        <p:spPr>
          <a:xfrm>
            <a:off x="6172200" y="4690871"/>
            <a:ext cx="2651760" cy="292608"/>
          </a:xfrm>
          <a:prstGeom prst="rect">
            <a:avLst/>
          </a:prstGeom>
          <a:noFill/>
        </p:spPr>
        <p:txBody>
          <a:bodyPr wrap="square">
            <a:spAutoFit/>
          </a:bodyPr>
          <a:lstStyle/>
          <a:p>
            <a:pPr algn="l"/>
            <a:r>
              <a:rPr sz="1000" b="0">
                <a:solidFill>
                  <a:srgbClr val="212121"/>
                </a:solidFill>
              </a:rPr>
              <a:t>  target_id</a:t>
            </a:r>
          </a:p>
        </p:txBody>
      </p:sp>
      <p:sp>
        <p:nvSpPr>
          <p:cNvPr id="61" name="TextBox 60"/>
          <p:cNvSpPr txBox="1"/>
          <p:nvPr/>
        </p:nvSpPr>
        <p:spPr>
          <a:xfrm>
            <a:off x="6172200" y="5001767"/>
            <a:ext cx="2651760" cy="292608"/>
          </a:xfrm>
          <a:prstGeom prst="rect">
            <a:avLst/>
          </a:prstGeom>
          <a:noFill/>
        </p:spPr>
        <p:txBody>
          <a:bodyPr wrap="square">
            <a:spAutoFit/>
          </a:bodyPr>
          <a:lstStyle/>
          <a:p>
            <a:pPr algn="l"/>
            <a:r>
              <a:rPr sz="1000" b="0">
                <a:solidFill>
                  <a:srgbClr val="212121"/>
                </a:solidFill>
              </a:rPr>
              <a:t>  content</a:t>
            </a:r>
          </a:p>
        </p:txBody>
      </p:sp>
      <p:sp>
        <p:nvSpPr>
          <p:cNvPr id="62" name="TextBox 61"/>
          <p:cNvSpPr txBox="1"/>
          <p:nvPr/>
        </p:nvSpPr>
        <p:spPr>
          <a:xfrm>
            <a:off x="6172200" y="5312664"/>
            <a:ext cx="2651760" cy="292608"/>
          </a:xfrm>
          <a:prstGeom prst="rect">
            <a:avLst/>
          </a:prstGeom>
          <a:noFill/>
        </p:spPr>
        <p:txBody>
          <a:bodyPr wrap="square">
            <a:spAutoFit/>
          </a:bodyPr>
          <a:lstStyle/>
          <a:p>
            <a:pPr algn="l"/>
            <a:r>
              <a:rPr sz="1000" b="0">
                <a:solidFill>
                  <a:srgbClr val="212121"/>
                </a:solidFill>
              </a:rPr>
              <a:t>  teacher_reply</a:t>
            </a:r>
          </a:p>
        </p:txBody>
      </p:sp>
      <p:sp>
        <p:nvSpPr>
          <p:cNvPr id="63" name="Rectangle 62"/>
          <p:cNvSpPr/>
          <p:nvPr/>
        </p:nvSpPr>
        <p:spPr>
          <a:xfrm>
            <a:off x="9052560" y="3611879"/>
            <a:ext cx="2743200"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098280" y="3648456"/>
            <a:ext cx="2651760" cy="347472"/>
          </a:xfrm>
          <a:prstGeom prst="rect">
            <a:avLst/>
          </a:prstGeom>
          <a:noFill/>
        </p:spPr>
        <p:txBody>
          <a:bodyPr wrap="square">
            <a:spAutoFit/>
          </a:bodyPr>
          <a:lstStyle/>
          <a:p>
            <a:pPr algn="l"/>
            <a:r>
              <a:rPr sz="1200" b="1">
                <a:solidFill>
                  <a:srgbClr val="FFFFFF"/>
                </a:solidFill>
              </a:rPr>
              <a:t>材料表 material</a:t>
            </a:r>
          </a:p>
        </p:txBody>
      </p:sp>
      <p:sp>
        <p:nvSpPr>
          <p:cNvPr id="65" name="Rectangle 64"/>
          <p:cNvSpPr/>
          <p:nvPr/>
        </p:nvSpPr>
        <p:spPr>
          <a:xfrm>
            <a:off x="9052560" y="4023359"/>
            <a:ext cx="2743200" cy="20116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098280" y="4069079"/>
            <a:ext cx="2651760" cy="292608"/>
          </a:xfrm>
          <a:prstGeom prst="rect">
            <a:avLst/>
          </a:prstGeom>
          <a:noFill/>
        </p:spPr>
        <p:txBody>
          <a:bodyPr wrap="square">
            <a:spAutoFit/>
          </a:bodyPr>
          <a:lstStyle/>
          <a:p>
            <a:pPr algn="l"/>
            <a:r>
              <a:rPr sz="1000" b="0">
                <a:solidFill>
                  <a:srgbClr val="212121"/>
                </a:solidFill>
              </a:rPr>
              <a:t>  mat_id</a:t>
            </a:r>
          </a:p>
        </p:txBody>
      </p:sp>
      <p:sp>
        <p:nvSpPr>
          <p:cNvPr id="67" name="TextBox 66"/>
          <p:cNvSpPr txBox="1"/>
          <p:nvPr/>
        </p:nvSpPr>
        <p:spPr>
          <a:xfrm>
            <a:off x="9098280" y="4379975"/>
            <a:ext cx="2651760" cy="292608"/>
          </a:xfrm>
          <a:prstGeom prst="rect">
            <a:avLst/>
          </a:prstGeom>
          <a:noFill/>
        </p:spPr>
        <p:txBody>
          <a:bodyPr wrap="square">
            <a:spAutoFit/>
          </a:bodyPr>
          <a:lstStyle/>
          <a:p>
            <a:pPr algn="l"/>
            <a:r>
              <a:rPr sz="1000" b="0">
                <a:solidFill>
                  <a:srgbClr val="212121"/>
                </a:solidFill>
              </a:rPr>
              <a:t>  course_id</a:t>
            </a:r>
          </a:p>
        </p:txBody>
      </p:sp>
      <p:sp>
        <p:nvSpPr>
          <p:cNvPr id="68" name="TextBox 67"/>
          <p:cNvSpPr txBox="1"/>
          <p:nvPr/>
        </p:nvSpPr>
        <p:spPr>
          <a:xfrm>
            <a:off x="9098280" y="4690871"/>
            <a:ext cx="2651760" cy="292608"/>
          </a:xfrm>
          <a:prstGeom prst="rect">
            <a:avLst/>
          </a:prstGeom>
          <a:noFill/>
        </p:spPr>
        <p:txBody>
          <a:bodyPr wrap="square">
            <a:spAutoFit/>
          </a:bodyPr>
          <a:lstStyle/>
          <a:p>
            <a:pPr algn="l"/>
            <a:r>
              <a:rPr sz="1000" b="0">
                <a:solidFill>
                  <a:srgbClr val="212121"/>
                </a:solidFill>
              </a:rPr>
              <a:t>  teacher_id</a:t>
            </a:r>
          </a:p>
        </p:txBody>
      </p:sp>
      <p:sp>
        <p:nvSpPr>
          <p:cNvPr id="69" name="TextBox 68"/>
          <p:cNvSpPr txBox="1"/>
          <p:nvPr/>
        </p:nvSpPr>
        <p:spPr>
          <a:xfrm>
            <a:off x="9098280" y="5001767"/>
            <a:ext cx="2651760" cy="292608"/>
          </a:xfrm>
          <a:prstGeom prst="rect">
            <a:avLst/>
          </a:prstGeom>
          <a:noFill/>
        </p:spPr>
        <p:txBody>
          <a:bodyPr wrap="square">
            <a:spAutoFit/>
          </a:bodyPr>
          <a:lstStyle/>
          <a:p>
            <a:pPr algn="l"/>
            <a:r>
              <a:rPr sz="1000" b="0">
                <a:solidFill>
                  <a:srgbClr val="212121"/>
                </a:solidFill>
              </a:rPr>
              <a:t>  file_url</a:t>
            </a:r>
          </a:p>
        </p:txBody>
      </p:sp>
      <p:sp>
        <p:nvSpPr>
          <p:cNvPr id="70" name="TextBox 69"/>
          <p:cNvSpPr txBox="1"/>
          <p:nvPr/>
        </p:nvSpPr>
        <p:spPr>
          <a:xfrm>
            <a:off x="9098280" y="5312664"/>
            <a:ext cx="2651760" cy="292608"/>
          </a:xfrm>
          <a:prstGeom prst="rect">
            <a:avLst/>
          </a:prstGeom>
          <a:noFill/>
        </p:spPr>
        <p:txBody>
          <a:bodyPr wrap="square">
            <a:spAutoFit/>
          </a:bodyPr>
          <a:lstStyle/>
          <a:p>
            <a:pPr algn="l"/>
            <a:r>
              <a:rPr sz="1000" b="0">
                <a:solidFill>
                  <a:srgbClr val="212121"/>
                </a:solidFill>
              </a:rPr>
              <a:t>  upload_time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07  系统实现</a:t>
            </a:r>
          </a:p>
        </p:txBody>
      </p:sp>
      <p:sp>
        <p:nvSpPr>
          <p:cNvPr id="4" name="Rectangle 3"/>
          <p:cNvSpPr/>
          <p:nvPr/>
        </p:nvSpPr>
        <p:spPr>
          <a:xfrm>
            <a:off x="457200" y="960120"/>
            <a:ext cx="11274552"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05840"/>
            <a:ext cx="10972800" cy="347472"/>
          </a:xfrm>
          <a:prstGeom prst="rect">
            <a:avLst/>
          </a:prstGeom>
          <a:noFill/>
        </p:spPr>
        <p:txBody>
          <a:bodyPr wrap="square">
            <a:spAutoFit/>
          </a:bodyPr>
          <a:lstStyle/>
          <a:p>
            <a:pPr algn="l"/>
            <a:r>
              <a:rPr sz="1600" b="1">
                <a:solidFill>
                  <a:srgbClr val="FFFFFF"/>
                </a:solidFill>
              </a:rPr>
              <a:t>7.1 登录注册模块</a:t>
            </a:r>
          </a:p>
        </p:txBody>
      </p:sp>
      <p:sp>
        <p:nvSpPr>
          <p:cNvPr id="6" name="Rectangle 5"/>
          <p:cNvSpPr/>
          <p:nvPr/>
        </p:nvSpPr>
        <p:spPr>
          <a:xfrm>
            <a:off x="457200" y="1508760"/>
            <a:ext cx="2011680" cy="100584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764792"/>
            <a:ext cx="1828800" cy="502920"/>
          </a:xfrm>
          <a:prstGeom prst="rect">
            <a:avLst/>
          </a:prstGeom>
          <a:noFill/>
        </p:spPr>
        <p:txBody>
          <a:bodyPr wrap="square">
            <a:spAutoFit/>
          </a:bodyPr>
          <a:lstStyle/>
          <a:p>
            <a:pPr algn="ctr"/>
            <a:r>
              <a:rPr sz="1400" b="1">
                <a:solidFill>
                  <a:srgbClr val="FFFFFF"/>
                </a:solidFill>
              </a:rPr>
              <a:t>用户登录</a:t>
            </a:r>
          </a:p>
        </p:txBody>
      </p:sp>
      <p:sp>
        <p:nvSpPr>
          <p:cNvPr id="8" name="Rectangle 7"/>
          <p:cNvSpPr/>
          <p:nvPr/>
        </p:nvSpPr>
        <p:spPr>
          <a:xfrm>
            <a:off x="2560320" y="1508760"/>
            <a:ext cx="9144000" cy="10058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600200"/>
            <a:ext cx="8869680" cy="822960"/>
          </a:xfrm>
          <a:prstGeom prst="rect">
            <a:avLst/>
          </a:prstGeom>
          <a:noFill/>
        </p:spPr>
        <p:txBody>
          <a:bodyPr wrap="square">
            <a:spAutoFit/>
          </a:bodyPr>
          <a:lstStyle/>
          <a:p>
            <a:pPr algn="l"/>
            <a:r>
              <a:rPr sz="1200" b="0">
                <a:solidFill>
                  <a:srgbClr val="212121"/>
                </a:solidFill>
              </a:rPr>
              <a:t>输入账号/密码，选择角色（学员/教师/管理员）；Spring Security + JWT 完成鉴权，不同角色跳转对应功能首页。</a:t>
            </a:r>
          </a:p>
        </p:txBody>
      </p:sp>
      <p:sp>
        <p:nvSpPr>
          <p:cNvPr id="10" name="Rectangle 9"/>
          <p:cNvSpPr/>
          <p:nvPr/>
        </p:nvSpPr>
        <p:spPr>
          <a:xfrm>
            <a:off x="457200" y="2743200"/>
            <a:ext cx="2011680" cy="100584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999232"/>
            <a:ext cx="1828800" cy="502920"/>
          </a:xfrm>
          <a:prstGeom prst="rect">
            <a:avLst/>
          </a:prstGeom>
          <a:noFill/>
        </p:spPr>
        <p:txBody>
          <a:bodyPr wrap="square">
            <a:spAutoFit/>
          </a:bodyPr>
          <a:lstStyle/>
          <a:p>
            <a:pPr algn="ctr"/>
            <a:r>
              <a:rPr sz="1400" b="1">
                <a:solidFill>
                  <a:srgbClr val="FFFFFF"/>
                </a:solidFill>
              </a:rPr>
              <a:t>用户注册</a:t>
            </a:r>
          </a:p>
        </p:txBody>
      </p:sp>
      <p:sp>
        <p:nvSpPr>
          <p:cNvPr id="12" name="Rectangle 11"/>
          <p:cNvSpPr/>
          <p:nvPr/>
        </p:nvSpPr>
        <p:spPr>
          <a:xfrm>
            <a:off x="2560320" y="2743200"/>
            <a:ext cx="9144000" cy="10058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0" y="2834640"/>
            <a:ext cx="8869680" cy="822960"/>
          </a:xfrm>
          <a:prstGeom prst="rect">
            <a:avLst/>
          </a:prstGeom>
          <a:noFill/>
        </p:spPr>
        <p:txBody>
          <a:bodyPr wrap="square">
            <a:spAutoFit/>
          </a:bodyPr>
          <a:lstStyle/>
          <a:p>
            <a:pPr algn="l"/>
            <a:r>
              <a:rPr sz="1200" b="0">
                <a:solidFill>
                  <a:srgbClr val="212121"/>
                </a:solidFill>
              </a:rPr>
              <a:t>学员可自行注册，填写基本信息及邮箱；系统校验格式与重复性，注册成功后可直接登录。</a:t>
            </a:r>
          </a:p>
        </p:txBody>
      </p:sp>
      <p:sp>
        <p:nvSpPr>
          <p:cNvPr id="14" name="Rectangle 13"/>
          <p:cNvSpPr/>
          <p:nvPr/>
        </p:nvSpPr>
        <p:spPr>
          <a:xfrm>
            <a:off x="457200" y="3977639"/>
            <a:ext cx="2011680" cy="100584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233672"/>
            <a:ext cx="1828800" cy="502920"/>
          </a:xfrm>
          <a:prstGeom prst="rect">
            <a:avLst/>
          </a:prstGeom>
          <a:noFill/>
        </p:spPr>
        <p:txBody>
          <a:bodyPr wrap="square">
            <a:spAutoFit/>
          </a:bodyPr>
          <a:lstStyle/>
          <a:p>
            <a:pPr algn="ctr"/>
            <a:r>
              <a:rPr sz="1400" b="1">
                <a:solidFill>
                  <a:srgbClr val="FFFFFF"/>
                </a:solidFill>
              </a:rPr>
              <a:t>密码安全</a:t>
            </a:r>
          </a:p>
        </p:txBody>
      </p:sp>
      <p:sp>
        <p:nvSpPr>
          <p:cNvPr id="16" name="Rectangle 15"/>
          <p:cNvSpPr/>
          <p:nvPr/>
        </p:nvSpPr>
        <p:spPr>
          <a:xfrm>
            <a:off x="2560320" y="3977639"/>
            <a:ext cx="9144000" cy="10058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0" y="4069079"/>
            <a:ext cx="8869680" cy="822960"/>
          </a:xfrm>
          <a:prstGeom prst="rect">
            <a:avLst/>
          </a:prstGeom>
          <a:noFill/>
        </p:spPr>
        <p:txBody>
          <a:bodyPr wrap="square">
            <a:spAutoFit/>
          </a:bodyPr>
          <a:lstStyle/>
          <a:p>
            <a:pPr algn="l"/>
            <a:r>
              <a:rPr sz="1200" b="0">
                <a:solidFill>
                  <a:srgbClr val="212121"/>
                </a:solidFill>
              </a:rPr>
              <a:t>密码使用 BCrypt 加密存储，支持邮件验证重置密码，防止明文泄露。</a:t>
            </a:r>
          </a:p>
        </p:txBody>
      </p:sp>
      <p:sp>
        <p:nvSpPr>
          <p:cNvPr id="18" name="Rectangle 17"/>
          <p:cNvSpPr/>
          <p:nvPr/>
        </p:nvSpPr>
        <p:spPr>
          <a:xfrm>
            <a:off x="457200" y="5212080"/>
            <a:ext cx="2011680" cy="100584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468112"/>
            <a:ext cx="1828800" cy="502920"/>
          </a:xfrm>
          <a:prstGeom prst="rect">
            <a:avLst/>
          </a:prstGeom>
          <a:noFill/>
        </p:spPr>
        <p:txBody>
          <a:bodyPr wrap="square">
            <a:spAutoFit/>
          </a:bodyPr>
          <a:lstStyle/>
          <a:p>
            <a:pPr algn="ctr"/>
            <a:r>
              <a:rPr sz="1400" b="1">
                <a:solidFill>
                  <a:srgbClr val="FFFFFF"/>
                </a:solidFill>
              </a:rPr>
              <a:t>权限控制</a:t>
            </a:r>
          </a:p>
        </p:txBody>
      </p:sp>
      <p:sp>
        <p:nvSpPr>
          <p:cNvPr id="20" name="Rectangle 19"/>
          <p:cNvSpPr/>
          <p:nvPr/>
        </p:nvSpPr>
        <p:spPr>
          <a:xfrm>
            <a:off x="2560320" y="5212080"/>
            <a:ext cx="9144000" cy="10058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0" y="5303520"/>
            <a:ext cx="8869680" cy="822960"/>
          </a:xfrm>
          <a:prstGeom prst="rect">
            <a:avLst/>
          </a:prstGeom>
          <a:noFill/>
        </p:spPr>
        <p:txBody>
          <a:bodyPr wrap="square">
            <a:spAutoFit/>
          </a:bodyPr>
          <a:lstStyle/>
          <a:p>
            <a:pPr algn="l"/>
            <a:r>
              <a:rPr sz="1200" b="0">
                <a:solidFill>
                  <a:srgbClr val="212121"/>
                </a:solidFill>
              </a:rPr>
              <a:t>基于角色（STUDENT / TEACHER / ADMIN）拦截接口，非法越权请求自动返回 403 响应。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07  系统实现（续）</a:t>
            </a:r>
          </a:p>
        </p:txBody>
      </p:sp>
      <p:sp>
        <p:nvSpPr>
          <p:cNvPr id="4" name="Rectangle 3"/>
          <p:cNvSpPr/>
          <p:nvPr/>
        </p:nvSpPr>
        <p:spPr>
          <a:xfrm>
            <a:off x="457200" y="1005840"/>
            <a:ext cx="11274552"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51560"/>
            <a:ext cx="10972800" cy="347472"/>
          </a:xfrm>
          <a:prstGeom prst="rect">
            <a:avLst/>
          </a:prstGeom>
          <a:noFill/>
        </p:spPr>
        <p:txBody>
          <a:bodyPr wrap="square">
            <a:spAutoFit/>
          </a:bodyPr>
          <a:lstStyle/>
          <a:p>
            <a:pPr algn="l"/>
            <a:r>
              <a:rPr sz="1400" b="1">
                <a:solidFill>
                  <a:srgbClr val="FFFFFF"/>
                </a:solidFill>
              </a:rPr>
              <a:t>7.2 课程报名与状态追踪</a:t>
            </a:r>
          </a:p>
        </p:txBody>
      </p:sp>
      <p:sp>
        <p:nvSpPr>
          <p:cNvPr id="6" name="Rectangle 5"/>
          <p:cNvSpPr/>
          <p:nvPr/>
        </p:nvSpPr>
        <p:spPr>
          <a:xfrm>
            <a:off x="457200" y="1417320"/>
            <a:ext cx="11274552" cy="13258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63040"/>
            <a:ext cx="10972800" cy="365760"/>
          </a:xfrm>
          <a:prstGeom prst="rect">
            <a:avLst/>
          </a:prstGeom>
          <a:noFill/>
        </p:spPr>
        <p:txBody>
          <a:bodyPr wrap="square">
            <a:spAutoFit/>
          </a:bodyPr>
          <a:lstStyle/>
          <a:p>
            <a:pPr algn="l"/>
            <a:r>
              <a:rPr sz="1200" b="0">
                <a:solidFill>
                  <a:srgbClr val="212121"/>
                </a:solidFill>
              </a:rPr>
              <a:t>  学员浏览课程列表，确认剩余名额后提交报名；后端原子性扣减名额，避免超报。</a:t>
            </a:r>
          </a:p>
        </p:txBody>
      </p:sp>
      <p:sp>
        <p:nvSpPr>
          <p:cNvPr id="8" name="TextBox 7"/>
          <p:cNvSpPr txBox="1"/>
          <p:nvPr/>
        </p:nvSpPr>
        <p:spPr>
          <a:xfrm>
            <a:off x="640080" y="1865376"/>
            <a:ext cx="10972800" cy="365760"/>
          </a:xfrm>
          <a:prstGeom prst="rect">
            <a:avLst/>
          </a:prstGeom>
          <a:noFill/>
        </p:spPr>
        <p:txBody>
          <a:bodyPr wrap="square">
            <a:spAutoFit/>
          </a:bodyPr>
          <a:lstStyle/>
          <a:p>
            <a:pPr algn="l"/>
            <a:r>
              <a:rPr sz="1200" b="0">
                <a:solidFill>
                  <a:srgbClr val="212121"/>
                </a:solidFill>
              </a:rPr>
              <a:t>  报名状态（已报名/退课/已结束）实时展示，学员可在截止时间前发起退课操作。</a:t>
            </a:r>
          </a:p>
        </p:txBody>
      </p:sp>
      <p:sp>
        <p:nvSpPr>
          <p:cNvPr id="9" name="TextBox 8"/>
          <p:cNvSpPr txBox="1"/>
          <p:nvPr/>
        </p:nvSpPr>
        <p:spPr>
          <a:xfrm>
            <a:off x="640080" y="2267712"/>
            <a:ext cx="10972800" cy="365760"/>
          </a:xfrm>
          <a:prstGeom prst="rect">
            <a:avLst/>
          </a:prstGeom>
          <a:noFill/>
        </p:spPr>
        <p:txBody>
          <a:bodyPr wrap="square">
            <a:spAutoFit/>
          </a:bodyPr>
          <a:lstStyle/>
          <a:p>
            <a:pPr algn="l"/>
            <a:r>
              <a:rPr sz="1200" b="0">
                <a:solidFill>
                  <a:srgbClr val="212121"/>
                </a:solidFill>
              </a:rPr>
              <a:t>  教师端可查看本课程全部报名学员，并进行考勤录入。</a:t>
            </a:r>
          </a:p>
        </p:txBody>
      </p:sp>
      <p:sp>
        <p:nvSpPr>
          <p:cNvPr id="10" name="Rectangle 9"/>
          <p:cNvSpPr/>
          <p:nvPr/>
        </p:nvSpPr>
        <p:spPr>
          <a:xfrm>
            <a:off x="457200" y="2880360"/>
            <a:ext cx="11274552"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926079"/>
            <a:ext cx="10972800" cy="347472"/>
          </a:xfrm>
          <a:prstGeom prst="rect">
            <a:avLst/>
          </a:prstGeom>
          <a:noFill/>
        </p:spPr>
        <p:txBody>
          <a:bodyPr wrap="square">
            <a:spAutoFit/>
          </a:bodyPr>
          <a:lstStyle/>
          <a:p>
            <a:pPr algn="l"/>
            <a:r>
              <a:rPr sz="1400" b="1">
                <a:solidFill>
                  <a:srgbClr val="FFFFFF"/>
                </a:solidFill>
              </a:rPr>
              <a:t>7.3 成绩录入与查询</a:t>
            </a:r>
          </a:p>
        </p:txBody>
      </p:sp>
      <p:sp>
        <p:nvSpPr>
          <p:cNvPr id="12" name="Rectangle 11"/>
          <p:cNvSpPr/>
          <p:nvPr/>
        </p:nvSpPr>
        <p:spPr>
          <a:xfrm>
            <a:off x="457200" y="3291840"/>
            <a:ext cx="11274552" cy="13258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337560"/>
            <a:ext cx="10972800" cy="365760"/>
          </a:xfrm>
          <a:prstGeom prst="rect">
            <a:avLst/>
          </a:prstGeom>
          <a:noFill/>
        </p:spPr>
        <p:txBody>
          <a:bodyPr wrap="square">
            <a:spAutoFit/>
          </a:bodyPr>
          <a:lstStyle/>
          <a:p>
            <a:pPr algn="l"/>
            <a:r>
              <a:rPr sz="1200" b="0">
                <a:solidFill>
                  <a:srgbClr val="212121"/>
                </a:solidFill>
              </a:rPr>
              <a:t>  教师端针对每位学员填写成绩（数值校验）及评语并提交保存。</a:t>
            </a:r>
          </a:p>
        </p:txBody>
      </p:sp>
      <p:sp>
        <p:nvSpPr>
          <p:cNvPr id="14" name="TextBox 13"/>
          <p:cNvSpPr txBox="1"/>
          <p:nvPr/>
        </p:nvSpPr>
        <p:spPr>
          <a:xfrm>
            <a:off x="640080" y="3739896"/>
            <a:ext cx="10972800" cy="365760"/>
          </a:xfrm>
          <a:prstGeom prst="rect">
            <a:avLst/>
          </a:prstGeom>
          <a:noFill/>
        </p:spPr>
        <p:txBody>
          <a:bodyPr wrap="square">
            <a:spAutoFit/>
          </a:bodyPr>
          <a:lstStyle/>
          <a:p>
            <a:pPr algn="l"/>
            <a:r>
              <a:rPr sz="1200" b="0">
                <a:solidFill>
                  <a:srgbClr val="212121"/>
                </a:solidFill>
              </a:rPr>
              <a:t>  学员端成绩查询页展示所有已完成课程/活动的成绩详情与教师评语。</a:t>
            </a:r>
          </a:p>
        </p:txBody>
      </p:sp>
      <p:sp>
        <p:nvSpPr>
          <p:cNvPr id="15" name="TextBox 14"/>
          <p:cNvSpPr txBox="1"/>
          <p:nvPr/>
        </p:nvSpPr>
        <p:spPr>
          <a:xfrm>
            <a:off x="640080" y="4142232"/>
            <a:ext cx="10972800" cy="365760"/>
          </a:xfrm>
          <a:prstGeom prst="rect">
            <a:avLst/>
          </a:prstGeom>
          <a:noFill/>
        </p:spPr>
        <p:txBody>
          <a:bodyPr wrap="square">
            <a:spAutoFit/>
          </a:bodyPr>
          <a:lstStyle/>
          <a:p>
            <a:pPr algn="l"/>
            <a:r>
              <a:rPr sz="1200" b="0">
                <a:solidFill>
                  <a:srgbClr val="212121"/>
                </a:solidFill>
              </a:rPr>
              <a:t>  管理员可在数据统计模块查看全局成绩分布，辅助运营决策。</a:t>
            </a:r>
          </a:p>
        </p:txBody>
      </p:sp>
      <p:sp>
        <p:nvSpPr>
          <p:cNvPr id="16" name="Rectangle 15"/>
          <p:cNvSpPr/>
          <p:nvPr/>
        </p:nvSpPr>
        <p:spPr>
          <a:xfrm>
            <a:off x="457200" y="4754879"/>
            <a:ext cx="11274552"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800599"/>
            <a:ext cx="10972800" cy="347472"/>
          </a:xfrm>
          <a:prstGeom prst="rect">
            <a:avLst/>
          </a:prstGeom>
          <a:noFill/>
        </p:spPr>
        <p:txBody>
          <a:bodyPr wrap="square">
            <a:spAutoFit/>
          </a:bodyPr>
          <a:lstStyle/>
          <a:p>
            <a:pPr algn="l"/>
            <a:r>
              <a:rPr sz="1400" b="1">
                <a:solidFill>
                  <a:srgbClr val="FFFFFF"/>
                </a:solidFill>
              </a:rPr>
              <a:t>7.4 管理员后台</a:t>
            </a:r>
          </a:p>
        </p:txBody>
      </p:sp>
      <p:sp>
        <p:nvSpPr>
          <p:cNvPr id="18" name="Rectangle 17"/>
          <p:cNvSpPr/>
          <p:nvPr/>
        </p:nvSpPr>
        <p:spPr>
          <a:xfrm>
            <a:off x="457200" y="5166359"/>
            <a:ext cx="11274552" cy="13258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12079"/>
            <a:ext cx="10972800" cy="365760"/>
          </a:xfrm>
          <a:prstGeom prst="rect">
            <a:avLst/>
          </a:prstGeom>
          <a:noFill/>
        </p:spPr>
        <p:txBody>
          <a:bodyPr wrap="square">
            <a:spAutoFit/>
          </a:bodyPr>
          <a:lstStyle/>
          <a:p>
            <a:pPr algn="l"/>
            <a:r>
              <a:rPr sz="1200" b="0">
                <a:solidFill>
                  <a:srgbClr val="212121"/>
                </a:solidFill>
              </a:rPr>
              <a:t>  人员管理：增删改查账号，分配/修改角色权限（角色维护/删除）。</a:t>
            </a:r>
          </a:p>
        </p:txBody>
      </p:sp>
      <p:sp>
        <p:nvSpPr>
          <p:cNvPr id="20" name="TextBox 19"/>
          <p:cNvSpPr txBox="1"/>
          <p:nvPr/>
        </p:nvSpPr>
        <p:spPr>
          <a:xfrm>
            <a:off x="640080" y="5614416"/>
            <a:ext cx="10972800" cy="365760"/>
          </a:xfrm>
          <a:prstGeom prst="rect">
            <a:avLst/>
          </a:prstGeom>
          <a:noFill/>
        </p:spPr>
        <p:txBody>
          <a:bodyPr wrap="square">
            <a:spAutoFit/>
          </a:bodyPr>
          <a:lstStyle/>
          <a:p>
            <a:pPr algn="l"/>
            <a:r>
              <a:rPr sz="1200" b="0">
                <a:solidFill>
                  <a:srgbClr val="212121"/>
                </a:solidFill>
              </a:rPr>
              <a:t>  课程/活动管理：发布、审核、下架课程与大型活动，维护名额与时间信息。</a:t>
            </a:r>
          </a:p>
        </p:txBody>
      </p:sp>
      <p:sp>
        <p:nvSpPr>
          <p:cNvPr id="21" name="TextBox 20"/>
          <p:cNvSpPr txBox="1"/>
          <p:nvPr/>
        </p:nvSpPr>
        <p:spPr>
          <a:xfrm>
            <a:off x="640080" y="6016751"/>
            <a:ext cx="10972800" cy="365760"/>
          </a:xfrm>
          <a:prstGeom prst="rect">
            <a:avLst/>
          </a:prstGeom>
          <a:noFill/>
        </p:spPr>
        <p:txBody>
          <a:bodyPr wrap="square">
            <a:spAutoFit/>
          </a:bodyPr>
          <a:lstStyle/>
          <a:p>
            <a:pPr algn="l"/>
            <a:r>
              <a:rPr sz="1200" b="0">
                <a:solidFill>
                  <a:srgbClr val="212121"/>
                </a:solidFill>
              </a:rPr>
              <a:t>  数据统计：报名量、考勤率、成绩均值等核心指标可视化展示。</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08  系统测试</a:t>
            </a:r>
          </a:p>
        </p:txBody>
      </p:sp>
      <p:sp>
        <p:nvSpPr>
          <p:cNvPr id="4" name="Rectangle 3"/>
          <p:cNvSpPr/>
          <p:nvPr/>
        </p:nvSpPr>
        <p:spPr>
          <a:xfrm>
            <a:off x="457200" y="960120"/>
            <a:ext cx="11274552" cy="4114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05840"/>
            <a:ext cx="10972800" cy="347472"/>
          </a:xfrm>
          <a:prstGeom prst="rect">
            <a:avLst/>
          </a:prstGeom>
          <a:noFill/>
        </p:spPr>
        <p:txBody>
          <a:bodyPr wrap="square">
            <a:spAutoFit/>
          </a:bodyPr>
          <a:lstStyle/>
          <a:p>
            <a:pPr algn="l"/>
            <a:r>
              <a:rPr sz="1300" b="0">
                <a:solidFill>
                  <a:srgbClr val="FFFFFF"/>
                </a:solidFill>
              </a:rPr>
              <a:t>功能测试结果汇总（黑盒测试  方法：等价类划分 + 边界值分析）</a:t>
            </a:r>
          </a:p>
        </p:txBody>
      </p:sp>
      <p:sp>
        <p:nvSpPr>
          <p:cNvPr id="6" name="Rectangle 5"/>
          <p:cNvSpPr/>
          <p:nvPr/>
        </p:nvSpPr>
        <p:spPr>
          <a:xfrm>
            <a:off x="457200" y="1463040"/>
            <a:ext cx="3200400"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90472"/>
            <a:ext cx="3108960" cy="320040"/>
          </a:xfrm>
          <a:prstGeom prst="rect">
            <a:avLst/>
          </a:prstGeom>
          <a:noFill/>
        </p:spPr>
        <p:txBody>
          <a:bodyPr wrap="square">
            <a:spAutoFit/>
          </a:bodyPr>
          <a:lstStyle/>
          <a:p>
            <a:pPr algn="ctr"/>
            <a:r>
              <a:rPr sz="1200" b="1">
                <a:solidFill>
                  <a:srgbClr val="FFFFFF"/>
                </a:solidFill>
              </a:rPr>
              <a:t>测试模块</a:t>
            </a:r>
          </a:p>
        </p:txBody>
      </p:sp>
      <p:sp>
        <p:nvSpPr>
          <p:cNvPr id="8" name="Rectangle 7"/>
          <p:cNvSpPr/>
          <p:nvPr/>
        </p:nvSpPr>
        <p:spPr>
          <a:xfrm>
            <a:off x="3703320" y="1463040"/>
            <a:ext cx="1645920"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49039" y="1490472"/>
            <a:ext cx="1554480" cy="320040"/>
          </a:xfrm>
          <a:prstGeom prst="rect">
            <a:avLst/>
          </a:prstGeom>
          <a:noFill/>
        </p:spPr>
        <p:txBody>
          <a:bodyPr wrap="square">
            <a:spAutoFit/>
          </a:bodyPr>
          <a:lstStyle/>
          <a:p>
            <a:pPr algn="ctr"/>
            <a:r>
              <a:rPr sz="1200" b="1">
                <a:solidFill>
                  <a:srgbClr val="FFFFFF"/>
                </a:solidFill>
              </a:rPr>
              <a:t>测试用例数</a:t>
            </a:r>
          </a:p>
        </p:txBody>
      </p:sp>
      <p:sp>
        <p:nvSpPr>
          <p:cNvPr id="10" name="Rectangle 9"/>
          <p:cNvSpPr/>
          <p:nvPr/>
        </p:nvSpPr>
        <p:spPr>
          <a:xfrm>
            <a:off x="5394959" y="1463040"/>
            <a:ext cx="1371600"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40679" y="1490472"/>
            <a:ext cx="1280160" cy="320040"/>
          </a:xfrm>
          <a:prstGeom prst="rect">
            <a:avLst/>
          </a:prstGeom>
          <a:noFill/>
        </p:spPr>
        <p:txBody>
          <a:bodyPr wrap="square">
            <a:spAutoFit/>
          </a:bodyPr>
          <a:lstStyle/>
          <a:p>
            <a:pPr algn="ctr"/>
            <a:r>
              <a:rPr sz="1200" b="1">
                <a:solidFill>
                  <a:srgbClr val="FFFFFF"/>
                </a:solidFill>
              </a:rPr>
              <a:t>通过数</a:t>
            </a:r>
          </a:p>
        </p:txBody>
      </p:sp>
      <p:sp>
        <p:nvSpPr>
          <p:cNvPr id="12" name="Rectangle 11"/>
          <p:cNvSpPr/>
          <p:nvPr/>
        </p:nvSpPr>
        <p:spPr>
          <a:xfrm>
            <a:off x="6812279" y="1463040"/>
            <a:ext cx="1371600"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7999" y="1490472"/>
            <a:ext cx="1280160" cy="320040"/>
          </a:xfrm>
          <a:prstGeom prst="rect">
            <a:avLst/>
          </a:prstGeom>
          <a:noFill/>
        </p:spPr>
        <p:txBody>
          <a:bodyPr wrap="square">
            <a:spAutoFit/>
          </a:bodyPr>
          <a:lstStyle/>
          <a:p>
            <a:pPr algn="ctr"/>
            <a:r>
              <a:rPr sz="1200" b="1">
                <a:solidFill>
                  <a:srgbClr val="FFFFFF"/>
                </a:solidFill>
              </a:rPr>
              <a:t>失败数</a:t>
            </a:r>
          </a:p>
        </p:txBody>
      </p:sp>
      <p:sp>
        <p:nvSpPr>
          <p:cNvPr id="14" name="Rectangle 13"/>
          <p:cNvSpPr/>
          <p:nvPr/>
        </p:nvSpPr>
        <p:spPr>
          <a:xfrm>
            <a:off x="8229600" y="1463040"/>
            <a:ext cx="1554480" cy="3657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1490472"/>
            <a:ext cx="1463039" cy="320040"/>
          </a:xfrm>
          <a:prstGeom prst="rect">
            <a:avLst/>
          </a:prstGeom>
          <a:noFill/>
        </p:spPr>
        <p:txBody>
          <a:bodyPr wrap="square">
            <a:spAutoFit/>
          </a:bodyPr>
          <a:lstStyle/>
          <a:p>
            <a:pPr algn="ctr"/>
            <a:r>
              <a:rPr sz="1200" b="1">
                <a:solidFill>
                  <a:srgbClr val="FFFFFF"/>
                </a:solidFill>
              </a:rPr>
              <a:t>通过率</a:t>
            </a:r>
          </a:p>
        </p:txBody>
      </p:sp>
      <p:sp>
        <p:nvSpPr>
          <p:cNvPr id="16" name="Rectangle 15"/>
          <p:cNvSpPr/>
          <p:nvPr/>
        </p:nvSpPr>
        <p:spPr>
          <a:xfrm>
            <a:off x="457200" y="1874519"/>
            <a:ext cx="32004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1901952"/>
            <a:ext cx="3108960" cy="411480"/>
          </a:xfrm>
          <a:prstGeom prst="rect">
            <a:avLst/>
          </a:prstGeom>
          <a:noFill/>
        </p:spPr>
        <p:txBody>
          <a:bodyPr wrap="square">
            <a:spAutoFit/>
          </a:bodyPr>
          <a:lstStyle/>
          <a:p>
            <a:pPr algn="l"/>
            <a:r>
              <a:rPr sz="1200" b="0">
                <a:solidFill>
                  <a:srgbClr val="212121"/>
                </a:solidFill>
              </a:rPr>
              <a:t>登录功能测试</a:t>
            </a:r>
          </a:p>
        </p:txBody>
      </p:sp>
      <p:sp>
        <p:nvSpPr>
          <p:cNvPr id="18" name="Rectangle 17"/>
          <p:cNvSpPr/>
          <p:nvPr/>
        </p:nvSpPr>
        <p:spPr>
          <a:xfrm>
            <a:off x="3703320" y="1874519"/>
            <a:ext cx="164592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9039" y="1901952"/>
            <a:ext cx="1554480" cy="411480"/>
          </a:xfrm>
          <a:prstGeom prst="rect">
            <a:avLst/>
          </a:prstGeom>
          <a:noFill/>
        </p:spPr>
        <p:txBody>
          <a:bodyPr wrap="square">
            <a:spAutoFit/>
          </a:bodyPr>
          <a:lstStyle/>
          <a:p>
            <a:pPr algn="ctr"/>
            <a:r>
              <a:rPr sz="1200" b="0">
                <a:solidFill>
                  <a:srgbClr val="212121"/>
                </a:solidFill>
              </a:rPr>
              <a:t>7</a:t>
            </a:r>
          </a:p>
        </p:txBody>
      </p:sp>
      <p:sp>
        <p:nvSpPr>
          <p:cNvPr id="20" name="Rectangle 19"/>
          <p:cNvSpPr/>
          <p:nvPr/>
        </p:nvSpPr>
        <p:spPr>
          <a:xfrm>
            <a:off x="5394959" y="1874519"/>
            <a:ext cx="13716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40679" y="1901952"/>
            <a:ext cx="1280160" cy="411480"/>
          </a:xfrm>
          <a:prstGeom prst="rect">
            <a:avLst/>
          </a:prstGeom>
          <a:noFill/>
        </p:spPr>
        <p:txBody>
          <a:bodyPr wrap="square">
            <a:spAutoFit/>
          </a:bodyPr>
          <a:lstStyle/>
          <a:p>
            <a:pPr algn="ctr"/>
            <a:r>
              <a:rPr sz="1200" b="0">
                <a:solidFill>
                  <a:srgbClr val="212121"/>
                </a:solidFill>
              </a:rPr>
              <a:t>7</a:t>
            </a:r>
          </a:p>
        </p:txBody>
      </p:sp>
      <p:sp>
        <p:nvSpPr>
          <p:cNvPr id="22" name="Rectangle 21"/>
          <p:cNvSpPr/>
          <p:nvPr/>
        </p:nvSpPr>
        <p:spPr>
          <a:xfrm>
            <a:off x="6812279" y="1874519"/>
            <a:ext cx="13716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7999" y="1901952"/>
            <a:ext cx="1280160" cy="411480"/>
          </a:xfrm>
          <a:prstGeom prst="rect">
            <a:avLst/>
          </a:prstGeom>
          <a:noFill/>
        </p:spPr>
        <p:txBody>
          <a:bodyPr wrap="square">
            <a:spAutoFit/>
          </a:bodyPr>
          <a:lstStyle/>
          <a:p>
            <a:pPr algn="ctr"/>
            <a:r>
              <a:rPr sz="1200" b="0">
                <a:solidFill>
                  <a:srgbClr val="212121"/>
                </a:solidFill>
              </a:rPr>
              <a:t>0</a:t>
            </a:r>
          </a:p>
        </p:txBody>
      </p:sp>
      <p:sp>
        <p:nvSpPr>
          <p:cNvPr id="24" name="Rectangle 23"/>
          <p:cNvSpPr/>
          <p:nvPr/>
        </p:nvSpPr>
        <p:spPr>
          <a:xfrm>
            <a:off x="8229600" y="1874519"/>
            <a:ext cx="155448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5320" y="1901952"/>
            <a:ext cx="1463039" cy="411480"/>
          </a:xfrm>
          <a:prstGeom prst="rect">
            <a:avLst/>
          </a:prstGeom>
          <a:noFill/>
        </p:spPr>
        <p:txBody>
          <a:bodyPr wrap="square">
            <a:spAutoFit/>
          </a:bodyPr>
          <a:lstStyle/>
          <a:p>
            <a:pPr algn="ctr"/>
            <a:r>
              <a:rPr sz="1200" b="0">
                <a:solidFill>
                  <a:srgbClr val="212121"/>
                </a:solidFill>
              </a:rPr>
              <a:t>100%</a:t>
            </a:r>
          </a:p>
        </p:txBody>
      </p:sp>
      <p:sp>
        <p:nvSpPr>
          <p:cNvPr id="26" name="Rectangle 25"/>
          <p:cNvSpPr/>
          <p:nvPr/>
        </p:nvSpPr>
        <p:spPr>
          <a:xfrm>
            <a:off x="457200" y="2423160"/>
            <a:ext cx="32004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2450592"/>
            <a:ext cx="3108960" cy="411480"/>
          </a:xfrm>
          <a:prstGeom prst="rect">
            <a:avLst/>
          </a:prstGeom>
          <a:noFill/>
        </p:spPr>
        <p:txBody>
          <a:bodyPr wrap="square">
            <a:spAutoFit/>
          </a:bodyPr>
          <a:lstStyle/>
          <a:p>
            <a:pPr algn="l"/>
            <a:r>
              <a:rPr sz="1200" b="0">
                <a:solidFill>
                  <a:srgbClr val="212121"/>
                </a:solidFill>
              </a:rPr>
              <a:t>注册功能测试</a:t>
            </a:r>
          </a:p>
        </p:txBody>
      </p:sp>
      <p:sp>
        <p:nvSpPr>
          <p:cNvPr id="28" name="Rectangle 27"/>
          <p:cNvSpPr/>
          <p:nvPr/>
        </p:nvSpPr>
        <p:spPr>
          <a:xfrm>
            <a:off x="3703320" y="2423160"/>
            <a:ext cx="164592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49039" y="2450592"/>
            <a:ext cx="1554480" cy="411480"/>
          </a:xfrm>
          <a:prstGeom prst="rect">
            <a:avLst/>
          </a:prstGeom>
          <a:noFill/>
        </p:spPr>
        <p:txBody>
          <a:bodyPr wrap="square">
            <a:spAutoFit/>
          </a:bodyPr>
          <a:lstStyle/>
          <a:p>
            <a:pPr algn="ctr"/>
            <a:r>
              <a:rPr sz="1200" b="0">
                <a:solidFill>
                  <a:srgbClr val="212121"/>
                </a:solidFill>
              </a:rPr>
              <a:t>5</a:t>
            </a:r>
          </a:p>
        </p:txBody>
      </p:sp>
      <p:sp>
        <p:nvSpPr>
          <p:cNvPr id="30" name="Rectangle 29"/>
          <p:cNvSpPr/>
          <p:nvPr/>
        </p:nvSpPr>
        <p:spPr>
          <a:xfrm>
            <a:off x="5394959" y="2423160"/>
            <a:ext cx="13716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40679" y="2450592"/>
            <a:ext cx="1280160" cy="411480"/>
          </a:xfrm>
          <a:prstGeom prst="rect">
            <a:avLst/>
          </a:prstGeom>
          <a:noFill/>
        </p:spPr>
        <p:txBody>
          <a:bodyPr wrap="square">
            <a:spAutoFit/>
          </a:bodyPr>
          <a:lstStyle/>
          <a:p>
            <a:pPr algn="ctr"/>
            <a:r>
              <a:rPr sz="1200" b="0">
                <a:solidFill>
                  <a:srgbClr val="212121"/>
                </a:solidFill>
              </a:rPr>
              <a:t>5</a:t>
            </a:r>
          </a:p>
        </p:txBody>
      </p:sp>
      <p:sp>
        <p:nvSpPr>
          <p:cNvPr id="32" name="Rectangle 31"/>
          <p:cNvSpPr/>
          <p:nvPr/>
        </p:nvSpPr>
        <p:spPr>
          <a:xfrm>
            <a:off x="6812279" y="2423160"/>
            <a:ext cx="13716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7999" y="2450592"/>
            <a:ext cx="1280160" cy="411480"/>
          </a:xfrm>
          <a:prstGeom prst="rect">
            <a:avLst/>
          </a:prstGeom>
          <a:noFill/>
        </p:spPr>
        <p:txBody>
          <a:bodyPr wrap="square">
            <a:spAutoFit/>
          </a:bodyPr>
          <a:lstStyle/>
          <a:p>
            <a:pPr algn="ctr"/>
            <a:r>
              <a:rPr sz="1200" b="0">
                <a:solidFill>
                  <a:srgbClr val="212121"/>
                </a:solidFill>
              </a:rPr>
              <a:t>0</a:t>
            </a:r>
          </a:p>
        </p:txBody>
      </p:sp>
      <p:sp>
        <p:nvSpPr>
          <p:cNvPr id="34" name="Rectangle 33"/>
          <p:cNvSpPr/>
          <p:nvPr/>
        </p:nvSpPr>
        <p:spPr>
          <a:xfrm>
            <a:off x="8229600" y="2423160"/>
            <a:ext cx="155448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75320" y="2450592"/>
            <a:ext cx="1463039" cy="411480"/>
          </a:xfrm>
          <a:prstGeom prst="rect">
            <a:avLst/>
          </a:prstGeom>
          <a:noFill/>
        </p:spPr>
        <p:txBody>
          <a:bodyPr wrap="square">
            <a:spAutoFit/>
          </a:bodyPr>
          <a:lstStyle/>
          <a:p>
            <a:pPr algn="ctr"/>
            <a:r>
              <a:rPr sz="1200" b="0">
                <a:solidFill>
                  <a:srgbClr val="212121"/>
                </a:solidFill>
              </a:rPr>
              <a:t>100%</a:t>
            </a:r>
          </a:p>
        </p:txBody>
      </p:sp>
      <p:sp>
        <p:nvSpPr>
          <p:cNvPr id="36" name="Rectangle 35"/>
          <p:cNvSpPr/>
          <p:nvPr/>
        </p:nvSpPr>
        <p:spPr>
          <a:xfrm>
            <a:off x="457200" y="2971800"/>
            <a:ext cx="32004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2999232"/>
            <a:ext cx="3108960" cy="411480"/>
          </a:xfrm>
          <a:prstGeom prst="rect">
            <a:avLst/>
          </a:prstGeom>
          <a:noFill/>
        </p:spPr>
        <p:txBody>
          <a:bodyPr wrap="square">
            <a:spAutoFit/>
          </a:bodyPr>
          <a:lstStyle/>
          <a:p>
            <a:pPr algn="l"/>
            <a:r>
              <a:rPr sz="1200" b="0">
                <a:solidFill>
                  <a:srgbClr val="212121"/>
                </a:solidFill>
              </a:rPr>
              <a:t>报名状态功能测试</a:t>
            </a:r>
          </a:p>
        </p:txBody>
      </p:sp>
      <p:sp>
        <p:nvSpPr>
          <p:cNvPr id="38" name="Rectangle 37"/>
          <p:cNvSpPr/>
          <p:nvPr/>
        </p:nvSpPr>
        <p:spPr>
          <a:xfrm>
            <a:off x="3703320" y="2971800"/>
            <a:ext cx="164592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49039" y="2999232"/>
            <a:ext cx="1554480" cy="411480"/>
          </a:xfrm>
          <a:prstGeom prst="rect">
            <a:avLst/>
          </a:prstGeom>
          <a:noFill/>
        </p:spPr>
        <p:txBody>
          <a:bodyPr wrap="square">
            <a:spAutoFit/>
          </a:bodyPr>
          <a:lstStyle/>
          <a:p>
            <a:pPr algn="ctr"/>
            <a:r>
              <a:rPr sz="1200" b="0">
                <a:solidFill>
                  <a:srgbClr val="212121"/>
                </a:solidFill>
              </a:rPr>
              <a:t>3</a:t>
            </a:r>
          </a:p>
        </p:txBody>
      </p:sp>
      <p:sp>
        <p:nvSpPr>
          <p:cNvPr id="40" name="Rectangle 39"/>
          <p:cNvSpPr/>
          <p:nvPr/>
        </p:nvSpPr>
        <p:spPr>
          <a:xfrm>
            <a:off x="5394959" y="2971800"/>
            <a:ext cx="13716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40679" y="2999232"/>
            <a:ext cx="1280160" cy="411480"/>
          </a:xfrm>
          <a:prstGeom prst="rect">
            <a:avLst/>
          </a:prstGeom>
          <a:noFill/>
        </p:spPr>
        <p:txBody>
          <a:bodyPr wrap="square">
            <a:spAutoFit/>
          </a:bodyPr>
          <a:lstStyle/>
          <a:p>
            <a:pPr algn="ctr"/>
            <a:r>
              <a:rPr sz="1200" b="0">
                <a:solidFill>
                  <a:srgbClr val="212121"/>
                </a:solidFill>
              </a:rPr>
              <a:t>3</a:t>
            </a:r>
          </a:p>
        </p:txBody>
      </p:sp>
      <p:sp>
        <p:nvSpPr>
          <p:cNvPr id="42" name="Rectangle 41"/>
          <p:cNvSpPr/>
          <p:nvPr/>
        </p:nvSpPr>
        <p:spPr>
          <a:xfrm>
            <a:off x="6812279" y="2971800"/>
            <a:ext cx="13716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7999" y="2999232"/>
            <a:ext cx="1280160" cy="411480"/>
          </a:xfrm>
          <a:prstGeom prst="rect">
            <a:avLst/>
          </a:prstGeom>
          <a:noFill/>
        </p:spPr>
        <p:txBody>
          <a:bodyPr wrap="square">
            <a:spAutoFit/>
          </a:bodyPr>
          <a:lstStyle/>
          <a:p>
            <a:pPr algn="ctr"/>
            <a:r>
              <a:rPr sz="1200" b="0">
                <a:solidFill>
                  <a:srgbClr val="212121"/>
                </a:solidFill>
              </a:rPr>
              <a:t>0</a:t>
            </a:r>
          </a:p>
        </p:txBody>
      </p:sp>
      <p:sp>
        <p:nvSpPr>
          <p:cNvPr id="44" name="Rectangle 43"/>
          <p:cNvSpPr/>
          <p:nvPr/>
        </p:nvSpPr>
        <p:spPr>
          <a:xfrm>
            <a:off x="8229600" y="2971800"/>
            <a:ext cx="155448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320" y="2999232"/>
            <a:ext cx="1463039" cy="411480"/>
          </a:xfrm>
          <a:prstGeom prst="rect">
            <a:avLst/>
          </a:prstGeom>
          <a:noFill/>
        </p:spPr>
        <p:txBody>
          <a:bodyPr wrap="square">
            <a:spAutoFit/>
          </a:bodyPr>
          <a:lstStyle/>
          <a:p>
            <a:pPr algn="ctr"/>
            <a:r>
              <a:rPr sz="1200" b="0">
                <a:solidFill>
                  <a:srgbClr val="212121"/>
                </a:solidFill>
              </a:rPr>
              <a:t>100%</a:t>
            </a:r>
          </a:p>
        </p:txBody>
      </p:sp>
      <p:sp>
        <p:nvSpPr>
          <p:cNvPr id="46" name="Rectangle 45"/>
          <p:cNvSpPr/>
          <p:nvPr/>
        </p:nvSpPr>
        <p:spPr>
          <a:xfrm>
            <a:off x="457200" y="3520439"/>
            <a:ext cx="32004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3547872"/>
            <a:ext cx="3108960" cy="411480"/>
          </a:xfrm>
          <a:prstGeom prst="rect">
            <a:avLst/>
          </a:prstGeom>
          <a:noFill/>
        </p:spPr>
        <p:txBody>
          <a:bodyPr wrap="square">
            <a:spAutoFit/>
          </a:bodyPr>
          <a:lstStyle/>
          <a:p>
            <a:pPr algn="l"/>
            <a:r>
              <a:rPr sz="1200" b="0">
                <a:solidFill>
                  <a:srgbClr val="212121"/>
                </a:solidFill>
              </a:rPr>
              <a:t>成绩录入功能测试</a:t>
            </a:r>
          </a:p>
        </p:txBody>
      </p:sp>
      <p:sp>
        <p:nvSpPr>
          <p:cNvPr id="48" name="Rectangle 47"/>
          <p:cNvSpPr/>
          <p:nvPr/>
        </p:nvSpPr>
        <p:spPr>
          <a:xfrm>
            <a:off x="3703320" y="3520439"/>
            <a:ext cx="164592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749039" y="3547872"/>
            <a:ext cx="1554480" cy="411480"/>
          </a:xfrm>
          <a:prstGeom prst="rect">
            <a:avLst/>
          </a:prstGeom>
          <a:noFill/>
        </p:spPr>
        <p:txBody>
          <a:bodyPr wrap="square">
            <a:spAutoFit/>
          </a:bodyPr>
          <a:lstStyle/>
          <a:p>
            <a:pPr algn="ctr"/>
            <a:r>
              <a:rPr sz="1200" b="0">
                <a:solidFill>
                  <a:srgbClr val="212121"/>
                </a:solidFill>
              </a:rPr>
              <a:t>4</a:t>
            </a:r>
          </a:p>
        </p:txBody>
      </p:sp>
      <p:sp>
        <p:nvSpPr>
          <p:cNvPr id="50" name="Rectangle 49"/>
          <p:cNvSpPr/>
          <p:nvPr/>
        </p:nvSpPr>
        <p:spPr>
          <a:xfrm>
            <a:off x="5394959" y="3520439"/>
            <a:ext cx="13716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40679" y="3547872"/>
            <a:ext cx="1280160" cy="411480"/>
          </a:xfrm>
          <a:prstGeom prst="rect">
            <a:avLst/>
          </a:prstGeom>
          <a:noFill/>
        </p:spPr>
        <p:txBody>
          <a:bodyPr wrap="square">
            <a:spAutoFit/>
          </a:bodyPr>
          <a:lstStyle/>
          <a:p>
            <a:pPr algn="ctr"/>
            <a:r>
              <a:rPr sz="1200" b="0">
                <a:solidFill>
                  <a:srgbClr val="212121"/>
                </a:solidFill>
              </a:rPr>
              <a:t>4</a:t>
            </a:r>
          </a:p>
        </p:txBody>
      </p:sp>
      <p:sp>
        <p:nvSpPr>
          <p:cNvPr id="52" name="Rectangle 51"/>
          <p:cNvSpPr/>
          <p:nvPr/>
        </p:nvSpPr>
        <p:spPr>
          <a:xfrm>
            <a:off x="6812279" y="3520439"/>
            <a:ext cx="13716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7999" y="3547872"/>
            <a:ext cx="1280160" cy="411480"/>
          </a:xfrm>
          <a:prstGeom prst="rect">
            <a:avLst/>
          </a:prstGeom>
          <a:noFill/>
        </p:spPr>
        <p:txBody>
          <a:bodyPr wrap="square">
            <a:spAutoFit/>
          </a:bodyPr>
          <a:lstStyle/>
          <a:p>
            <a:pPr algn="ctr"/>
            <a:r>
              <a:rPr sz="1200" b="0">
                <a:solidFill>
                  <a:srgbClr val="212121"/>
                </a:solidFill>
              </a:rPr>
              <a:t>0</a:t>
            </a:r>
          </a:p>
        </p:txBody>
      </p:sp>
      <p:sp>
        <p:nvSpPr>
          <p:cNvPr id="54" name="Rectangle 53"/>
          <p:cNvSpPr/>
          <p:nvPr/>
        </p:nvSpPr>
        <p:spPr>
          <a:xfrm>
            <a:off x="8229600" y="3520439"/>
            <a:ext cx="155448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75320" y="3547872"/>
            <a:ext cx="1463039" cy="411480"/>
          </a:xfrm>
          <a:prstGeom prst="rect">
            <a:avLst/>
          </a:prstGeom>
          <a:noFill/>
        </p:spPr>
        <p:txBody>
          <a:bodyPr wrap="square">
            <a:spAutoFit/>
          </a:bodyPr>
          <a:lstStyle/>
          <a:p>
            <a:pPr algn="ctr"/>
            <a:r>
              <a:rPr sz="1200" b="0">
                <a:solidFill>
                  <a:srgbClr val="212121"/>
                </a:solidFill>
              </a:rPr>
              <a:t>100%</a:t>
            </a:r>
          </a:p>
        </p:txBody>
      </p:sp>
      <p:sp>
        <p:nvSpPr>
          <p:cNvPr id="56" name="Rectangle 55"/>
          <p:cNvSpPr/>
          <p:nvPr/>
        </p:nvSpPr>
        <p:spPr>
          <a:xfrm>
            <a:off x="457200" y="4069079"/>
            <a:ext cx="32004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02920" y="4096512"/>
            <a:ext cx="3108960" cy="411480"/>
          </a:xfrm>
          <a:prstGeom prst="rect">
            <a:avLst/>
          </a:prstGeom>
          <a:noFill/>
        </p:spPr>
        <p:txBody>
          <a:bodyPr wrap="square">
            <a:spAutoFit/>
          </a:bodyPr>
          <a:lstStyle/>
          <a:p>
            <a:pPr algn="l"/>
            <a:r>
              <a:rPr sz="1200" b="0">
                <a:solidFill>
                  <a:srgbClr val="212121"/>
                </a:solidFill>
              </a:rPr>
              <a:t>学员评价与教师回复</a:t>
            </a:r>
          </a:p>
        </p:txBody>
      </p:sp>
      <p:sp>
        <p:nvSpPr>
          <p:cNvPr id="58" name="Rectangle 57"/>
          <p:cNvSpPr/>
          <p:nvPr/>
        </p:nvSpPr>
        <p:spPr>
          <a:xfrm>
            <a:off x="3703320" y="4069079"/>
            <a:ext cx="164592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749039" y="4096512"/>
            <a:ext cx="1554480" cy="411480"/>
          </a:xfrm>
          <a:prstGeom prst="rect">
            <a:avLst/>
          </a:prstGeom>
          <a:noFill/>
        </p:spPr>
        <p:txBody>
          <a:bodyPr wrap="square">
            <a:spAutoFit/>
          </a:bodyPr>
          <a:lstStyle/>
          <a:p>
            <a:pPr algn="ctr"/>
            <a:r>
              <a:rPr sz="1200" b="0">
                <a:solidFill>
                  <a:srgbClr val="212121"/>
                </a:solidFill>
              </a:rPr>
              <a:t>5</a:t>
            </a:r>
          </a:p>
        </p:txBody>
      </p:sp>
      <p:sp>
        <p:nvSpPr>
          <p:cNvPr id="60" name="Rectangle 59"/>
          <p:cNvSpPr/>
          <p:nvPr/>
        </p:nvSpPr>
        <p:spPr>
          <a:xfrm>
            <a:off x="5394959" y="4069079"/>
            <a:ext cx="13716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40679" y="4096512"/>
            <a:ext cx="1280160" cy="411480"/>
          </a:xfrm>
          <a:prstGeom prst="rect">
            <a:avLst/>
          </a:prstGeom>
          <a:noFill/>
        </p:spPr>
        <p:txBody>
          <a:bodyPr wrap="square">
            <a:spAutoFit/>
          </a:bodyPr>
          <a:lstStyle/>
          <a:p>
            <a:pPr algn="ctr"/>
            <a:r>
              <a:rPr sz="1200" b="0">
                <a:solidFill>
                  <a:srgbClr val="212121"/>
                </a:solidFill>
              </a:rPr>
              <a:t>5</a:t>
            </a:r>
          </a:p>
        </p:txBody>
      </p:sp>
      <p:sp>
        <p:nvSpPr>
          <p:cNvPr id="62" name="Rectangle 61"/>
          <p:cNvSpPr/>
          <p:nvPr/>
        </p:nvSpPr>
        <p:spPr>
          <a:xfrm>
            <a:off x="6812279" y="4069079"/>
            <a:ext cx="137160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57999" y="4096512"/>
            <a:ext cx="1280160" cy="411480"/>
          </a:xfrm>
          <a:prstGeom prst="rect">
            <a:avLst/>
          </a:prstGeom>
          <a:noFill/>
        </p:spPr>
        <p:txBody>
          <a:bodyPr wrap="square">
            <a:spAutoFit/>
          </a:bodyPr>
          <a:lstStyle/>
          <a:p>
            <a:pPr algn="ctr"/>
            <a:r>
              <a:rPr sz="1200" b="0">
                <a:solidFill>
                  <a:srgbClr val="212121"/>
                </a:solidFill>
              </a:rPr>
              <a:t>0</a:t>
            </a:r>
          </a:p>
        </p:txBody>
      </p:sp>
      <p:sp>
        <p:nvSpPr>
          <p:cNvPr id="64" name="Rectangle 63"/>
          <p:cNvSpPr/>
          <p:nvPr/>
        </p:nvSpPr>
        <p:spPr>
          <a:xfrm>
            <a:off x="8229600" y="4069079"/>
            <a:ext cx="1554480" cy="50292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275320" y="4096512"/>
            <a:ext cx="1463039" cy="411480"/>
          </a:xfrm>
          <a:prstGeom prst="rect">
            <a:avLst/>
          </a:prstGeom>
          <a:noFill/>
        </p:spPr>
        <p:txBody>
          <a:bodyPr wrap="square">
            <a:spAutoFit/>
          </a:bodyPr>
          <a:lstStyle/>
          <a:p>
            <a:pPr algn="ctr"/>
            <a:r>
              <a:rPr sz="1200" b="0">
                <a:solidFill>
                  <a:srgbClr val="212121"/>
                </a:solidFill>
              </a:rPr>
              <a:t>100%</a:t>
            </a:r>
          </a:p>
        </p:txBody>
      </p:sp>
      <p:sp>
        <p:nvSpPr>
          <p:cNvPr id="66" name="Rectangle 65"/>
          <p:cNvSpPr/>
          <p:nvPr/>
        </p:nvSpPr>
        <p:spPr>
          <a:xfrm>
            <a:off x="457200" y="4617720"/>
            <a:ext cx="32004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02920" y="4645152"/>
            <a:ext cx="3108960" cy="411480"/>
          </a:xfrm>
          <a:prstGeom prst="rect">
            <a:avLst/>
          </a:prstGeom>
          <a:noFill/>
        </p:spPr>
        <p:txBody>
          <a:bodyPr wrap="square">
            <a:spAutoFit/>
          </a:bodyPr>
          <a:lstStyle/>
          <a:p>
            <a:pPr algn="l"/>
            <a:r>
              <a:rPr sz="1200" b="0">
                <a:solidFill>
                  <a:srgbClr val="212121"/>
                </a:solidFill>
              </a:rPr>
              <a:t>个人信息管理测试</a:t>
            </a:r>
          </a:p>
        </p:txBody>
      </p:sp>
      <p:sp>
        <p:nvSpPr>
          <p:cNvPr id="68" name="Rectangle 67"/>
          <p:cNvSpPr/>
          <p:nvPr/>
        </p:nvSpPr>
        <p:spPr>
          <a:xfrm>
            <a:off x="3703320" y="4617720"/>
            <a:ext cx="164592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749039" y="4645152"/>
            <a:ext cx="1554480" cy="411480"/>
          </a:xfrm>
          <a:prstGeom prst="rect">
            <a:avLst/>
          </a:prstGeom>
          <a:noFill/>
        </p:spPr>
        <p:txBody>
          <a:bodyPr wrap="square">
            <a:spAutoFit/>
          </a:bodyPr>
          <a:lstStyle/>
          <a:p>
            <a:pPr algn="ctr"/>
            <a:r>
              <a:rPr sz="1200" b="0">
                <a:solidFill>
                  <a:srgbClr val="212121"/>
                </a:solidFill>
              </a:rPr>
              <a:t>5</a:t>
            </a:r>
          </a:p>
        </p:txBody>
      </p:sp>
      <p:sp>
        <p:nvSpPr>
          <p:cNvPr id="70" name="Rectangle 69"/>
          <p:cNvSpPr/>
          <p:nvPr/>
        </p:nvSpPr>
        <p:spPr>
          <a:xfrm>
            <a:off x="5394959" y="4617720"/>
            <a:ext cx="13716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440679" y="4645152"/>
            <a:ext cx="1280160" cy="411480"/>
          </a:xfrm>
          <a:prstGeom prst="rect">
            <a:avLst/>
          </a:prstGeom>
          <a:noFill/>
        </p:spPr>
        <p:txBody>
          <a:bodyPr wrap="square">
            <a:spAutoFit/>
          </a:bodyPr>
          <a:lstStyle/>
          <a:p>
            <a:pPr algn="ctr"/>
            <a:r>
              <a:rPr sz="1200" b="0">
                <a:solidFill>
                  <a:srgbClr val="212121"/>
                </a:solidFill>
              </a:rPr>
              <a:t>5</a:t>
            </a:r>
          </a:p>
        </p:txBody>
      </p:sp>
      <p:sp>
        <p:nvSpPr>
          <p:cNvPr id="72" name="Rectangle 71"/>
          <p:cNvSpPr/>
          <p:nvPr/>
        </p:nvSpPr>
        <p:spPr>
          <a:xfrm>
            <a:off x="6812279" y="4617720"/>
            <a:ext cx="137160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57999" y="4645152"/>
            <a:ext cx="1280160" cy="411480"/>
          </a:xfrm>
          <a:prstGeom prst="rect">
            <a:avLst/>
          </a:prstGeom>
          <a:noFill/>
        </p:spPr>
        <p:txBody>
          <a:bodyPr wrap="square">
            <a:spAutoFit/>
          </a:bodyPr>
          <a:lstStyle/>
          <a:p>
            <a:pPr algn="ctr"/>
            <a:r>
              <a:rPr sz="1200" b="0">
                <a:solidFill>
                  <a:srgbClr val="212121"/>
                </a:solidFill>
              </a:rPr>
              <a:t>0</a:t>
            </a:r>
          </a:p>
        </p:txBody>
      </p:sp>
      <p:sp>
        <p:nvSpPr>
          <p:cNvPr id="74" name="Rectangle 73"/>
          <p:cNvSpPr/>
          <p:nvPr/>
        </p:nvSpPr>
        <p:spPr>
          <a:xfrm>
            <a:off x="8229600" y="4617720"/>
            <a:ext cx="1554480" cy="502920"/>
          </a:xfrm>
          <a:prstGeom prst="rect">
            <a:avLst/>
          </a:prstGeom>
          <a:solidFill>
            <a:srgbClr val="F0F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275320" y="4645152"/>
            <a:ext cx="1463039" cy="411480"/>
          </a:xfrm>
          <a:prstGeom prst="rect">
            <a:avLst/>
          </a:prstGeom>
          <a:noFill/>
        </p:spPr>
        <p:txBody>
          <a:bodyPr wrap="square">
            <a:spAutoFit/>
          </a:bodyPr>
          <a:lstStyle/>
          <a:p>
            <a:pPr algn="ctr"/>
            <a:r>
              <a:rPr sz="1200" b="0">
                <a:solidFill>
                  <a:srgbClr val="212121"/>
                </a:solidFill>
              </a:rPr>
              <a:t>100%</a:t>
            </a:r>
          </a:p>
        </p:txBody>
      </p:sp>
      <p:sp>
        <p:nvSpPr>
          <p:cNvPr id="76" name="Rectangle 75"/>
          <p:cNvSpPr/>
          <p:nvPr/>
        </p:nvSpPr>
        <p:spPr>
          <a:xfrm>
            <a:off x="457200" y="5166359"/>
            <a:ext cx="3200400" cy="502920"/>
          </a:xfrm>
          <a:prstGeom prst="rect">
            <a:avLst/>
          </a:prstGeom>
          <a:solidFill>
            <a:srgbClr val="FFE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02920" y="5193792"/>
            <a:ext cx="3108960" cy="411480"/>
          </a:xfrm>
          <a:prstGeom prst="rect">
            <a:avLst/>
          </a:prstGeom>
          <a:noFill/>
        </p:spPr>
        <p:txBody>
          <a:bodyPr wrap="square">
            <a:spAutoFit/>
          </a:bodyPr>
          <a:lstStyle/>
          <a:p>
            <a:pPr algn="l"/>
            <a:r>
              <a:rPr sz="1200" b="1">
                <a:solidFill>
                  <a:srgbClr val="0D47A1"/>
                </a:solidFill>
              </a:rPr>
              <a:t>合  计</a:t>
            </a:r>
          </a:p>
        </p:txBody>
      </p:sp>
      <p:sp>
        <p:nvSpPr>
          <p:cNvPr id="78" name="Rectangle 77"/>
          <p:cNvSpPr/>
          <p:nvPr/>
        </p:nvSpPr>
        <p:spPr>
          <a:xfrm>
            <a:off x="3703320" y="5166359"/>
            <a:ext cx="1645920" cy="502920"/>
          </a:xfrm>
          <a:prstGeom prst="rect">
            <a:avLst/>
          </a:prstGeom>
          <a:solidFill>
            <a:srgbClr val="FFE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49039" y="5193792"/>
            <a:ext cx="1554480" cy="411480"/>
          </a:xfrm>
          <a:prstGeom prst="rect">
            <a:avLst/>
          </a:prstGeom>
          <a:noFill/>
        </p:spPr>
        <p:txBody>
          <a:bodyPr wrap="square">
            <a:spAutoFit/>
          </a:bodyPr>
          <a:lstStyle/>
          <a:p>
            <a:pPr algn="ctr"/>
            <a:r>
              <a:rPr sz="1200" b="0">
                <a:solidFill>
                  <a:srgbClr val="0D47A1"/>
                </a:solidFill>
              </a:rPr>
              <a:t>29</a:t>
            </a:r>
          </a:p>
        </p:txBody>
      </p:sp>
      <p:sp>
        <p:nvSpPr>
          <p:cNvPr id="80" name="Rectangle 79"/>
          <p:cNvSpPr/>
          <p:nvPr/>
        </p:nvSpPr>
        <p:spPr>
          <a:xfrm>
            <a:off x="5394959" y="5166359"/>
            <a:ext cx="1371600" cy="502920"/>
          </a:xfrm>
          <a:prstGeom prst="rect">
            <a:avLst/>
          </a:prstGeom>
          <a:solidFill>
            <a:srgbClr val="FFE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440679" y="5193792"/>
            <a:ext cx="1280160" cy="411480"/>
          </a:xfrm>
          <a:prstGeom prst="rect">
            <a:avLst/>
          </a:prstGeom>
          <a:noFill/>
        </p:spPr>
        <p:txBody>
          <a:bodyPr wrap="square">
            <a:spAutoFit/>
          </a:bodyPr>
          <a:lstStyle/>
          <a:p>
            <a:pPr algn="ctr"/>
            <a:r>
              <a:rPr sz="1200" b="0">
                <a:solidFill>
                  <a:srgbClr val="0D47A1"/>
                </a:solidFill>
              </a:rPr>
              <a:t>29</a:t>
            </a:r>
          </a:p>
        </p:txBody>
      </p:sp>
      <p:sp>
        <p:nvSpPr>
          <p:cNvPr id="82" name="Rectangle 81"/>
          <p:cNvSpPr/>
          <p:nvPr/>
        </p:nvSpPr>
        <p:spPr>
          <a:xfrm>
            <a:off x="6812279" y="5166359"/>
            <a:ext cx="1371600" cy="502920"/>
          </a:xfrm>
          <a:prstGeom prst="rect">
            <a:avLst/>
          </a:prstGeom>
          <a:solidFill>
            <a:srgbClr val="FFE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857999" y="5193792"/>
            <a:ext cx="1280160" cy="411480"/>
          </a:xfrm>
          <a:prstGeom prst="rect">
            <a:avLst/>
          </a:prstGeom>
          <a:noFill/>
        </p:spPr>
        <p:txBody>
          <a:bodyPr wrap="square">
            <a:spAutoFit/>
          </a:bodyPr>
          <a:lstStyle/>
          <a:p>
            <a:pPr algn="ctr"/>
            <a:r>
              <a:rPr sz="1200" b="0">
                <a:solidFill>
                  <a:srgbClr val="0D47A1"/>
                </a:solidFill>
              </a:rPr>
              <a:t>0</a:t>
            </a:r>
          </a:p>
        </p:txBody>
      </p:sp>
      <p:sp>
        <p:nvSpPr>
          <p:cNvPr id="84" name="Rectangle 83"/>
          <p:cNvSpPr/>
          <p:nvPr/>
        </p:nvSpPr>
        <p:spPr>
          <a:xfrm>
            <a:off x="8229600" y="5166359"/>
            <a:ext cx="1554480" cy="502920"/>
          </a:xfrm>
          <a:prstGeom prst="rect">
            <a:avLst/>
          </a:prstGeom>
          <a:solidFill>
            <a:srgbClr val="FFEB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275320" y="5193792"/>
            <a:ext cx="1463039" cy="411480"/>
          </a:xfrm>
          <a:prstGeom prst="rect">
            <a:avLst/>
          </a:prstGeom>
          <a:noFill/>
        </p:spPr>
        <p:txBody>
          <a:bodyPr wrap="square">
            <a:spAutoFit/>
          </a:bodyPr>
          <a:lstStyle/>
          <a:p>
            <a:pPr algn="ctr"/>
            <a:r>
              <a:rPr sz="1200" b="0">
                <a:solidFill>
                  <a:srgbClr val="0D47A1"/>
                </a:solidFill>
              </a:rPr>
              <a:t>100%</a:t>
            </a:r>
          </a:p>
        </p:txBody>
      </p:sp>
      <p:sp>
        <p:nvSpPr>
          <p:cNvPr id="86" name="TextBox 85"/>
          <p:cNvSpPr txBox="1"/>
          <p:nvPr/>
        </p:nvSpPr>
        <p:spPr>
          <a:xfrm>
            <a:off x="457200" y="6126480"/>
            <a:ext cx="11274552" cy="548640"/>
          </a:xfrm>
          <a:prstGeom prst="rect">
            <a:avLst/>
          </a:prstGeom>
          <a:noFill/>
        </p:spPr>
        <p:txBody>
          <a:bodyPr wrap="square">
            <a:spAutoFit/>
          </a:bodyPr>
          <a:lstStyle/>
          <a:p>
            <a:pPr algn="l"/>
            <a:r>
              <a:rPr sz="1300" b="1">
                <a:solidFill>
                  <a:srgbClr val="E65100"/>
                </a:solidFill>
              </a:rPr>
              <a:t>  所有测试用例均通过，系统功能稳定，满足设计预期目标。</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4552" cy="640080"/>
          </a:xfrm>
          <a:prstGeom prst="rect">
            <a:avLst/>
          </a:prstGeom>
          <a:noFill/>
        </p:spPr>
        <p:txBody>
          <a:bodyPr wrap="square">
            <a:spAutoFit/>
          </a:bodyPr>
          <a:lstStyle/>
          <a:p>
            <a:pPr algn="l"/>
            <a:r>
              <a:rPr sz="2600" b="1">
                <a:solidFill>
                  <a:srgbClr val="FFFFFF"/>
                </a:solidFill>
              </a:rPr>
              <a:t>09  结论</a:t>
            </a:r>
          </a:p>
        </p:txBody>
      </p:sp>
      <p:sp>
        <p:nvSpPr>
          <p:cNvPr id="4" name="Rectangle 3"/>
          <p:cNvSpPr/>
          <p:nvPr/>
        </p:nvSpPr>
        <p:spPr>
          <a:xfrm>
            <a:off x="457200" y="1005840"/>
            <a:ext cx="457200" cy="1051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61872"/>
            <a:ext cx="457200" cy="502920"/>
          </a:xfrm>
          <a:prstGeom prst="rect">
            <a:avLst/>
          </a:prstGeom>
          <a:noFill/>
        </p:spPr>
        <p:txBody>
          <a:bodyPr wrap="square">
            <a:spAutoFit/>
          </a:bodyPr>
          <a:lstStyle/>
          <a:p>
            <a:pPr algn="ctr"/>
            <a:r>
              <a:rPr sz="1800" b="1">
                <a:solidFill>
                  <a:srgbClr val="FFFFFF"/>
                </a:solidFill>
              </a:rPr>
              <a:t>1</a:t>
            </a:r>
          </a:p>
        </p:txBody>
      </p:sp>
      <p:sp>
        <p:nvSpPr>
          <p:cNvPr id="6" name="Rectangle 5"/>
          <p:cNvSpPr/>
          <p:nvPr/>
        </p:nvSpPr>
        <p:spPr>
          <a:xfrm>
            <a:off x="1005840" y="1005840"/>
            <a:ext cx="10698480" cy="10515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05840" y="1005840"/>
            <a:ext cx="10698480" cy="384048"/>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051560"/>
            <a:ext cx="10515600" cy="320040"/>
          </a:xfrm>
          <a:prstGeom prst="rect">
            <a:avLst/>
          </a:prstGeom>
          <a:noFill/>
        </p:spPr>
        <p:txBody>
          <a:bodyPr wrap="square">
            <a:spAutoFit/>
          </a:bodyPr>
          <a:lstStyle/>
          <a:p>
            <a:pPr algn="l"/>
            <a:r>
              <a:rPr sz="1400" b="1">
                <a:solidFill>
                  <a:srgbClr val="FFFFFF"/>
                </a:solidFill>
              </a:rPr>
              <a:t>系统完整性</a:t>
            </a:r>
          </a:p>
        </p:txBody>
      </p:sp>
      <p:sp>
        <p:nvSpPr>
          <p:cNvPr id="9" name="TextBox 8"/>
          <p:cNvSpPr txBox="1"/>
          <p:nvPr/>
        </p:nvSpPr>
        <p:spPr>
          <a:xfrm>
            <a:off x="1097280" y="1463040"/>
            <a:ext cx="10515600" cy="548640"/>
          </a:xfrm>
          <a:prstGeom prst="rect">
            <a:avLst/>
          </a:prstGeom>
          <a:noFill/>
        </p:spPr>
        <p:txBody>
          <a:bodyPr wrap="square">
            <a:spAutoFit/>
          </a:bodyPr>
          <a:lstStyle/>
          <a:p>
            <a:pPr algn="l"/>
            <a:r>
              <a:rPr sz="1200" b="0">
                <a:solidFill>
                  <a:srgbClr val="212121"/>
                </a:solidFill>
              </a:rPr>
              <a:t>实现了登录注册、课程与活动管理、在线报名与状态跟踪、教师考勤与成绩录入、学员评价与回复、个人中心及基础统计展示等功能，形成完整业务闭环。</a:t>
            </a:r>
          </a:p>
        </p:txBody>
      </p:sp>
      <p:sp>
        <p:nvSpPr>
          <p:cNvPr id="10" name="Rectangle 9"/>
          <p:cNvSpPr/>
          <p:nvPr/>
        </p:nvSpPr>
        <p:spPr>
          <a:xfrm>
            <a:off x="457200" y="2377440"/>
            <a:ext cx="457200" cy="1051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633472"/>
            <a:ext cx="457200" cy="502920"/>
          </a:xfrm>
          <a:prstGeom prst="rect">
            <a:avLst/>
          </a:prstGeom>
          <a:noFill/>
        </p:spPr>
        <p:txBody>
          <a:bodyPr wrap="square">
            <a:spAutoFit/>
          </a:bodyPr>
          <a:lstStyle/>
          <a:p>
            <a:pPr algn="ctr"/>
            <a:r>
              <a:rPr sz="1800" b="1">
                <a:solidFill>
                  <a:srgbClr val="FFFFFF"/>
                </a:solidFill>
              </a:rPr>
              <a:t>2</a:t>
            </a:r>
          </a:p>
        </p:txBody>
      </p:sp>
      <p:sp>
        <p:nvSpPr>
          <p:cNvPr id="12" name="Rectangle 11"/>
          <p:cNvSpPr/>
          <p:nvPr/>
        </p:nvSpPr>
        <p:spPr>
          <a:xfrm>
            <a:off x="1005840" y="2377440"/>
            <a:ext cx="10698480" cy="10515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05840" y="2377440"/>
            <a:ext cx="10698480" cy="384048"/>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10515600" cy="320040"/>
          </a:xfrm>
          <a:prstGeom prst="rect">
            <a:avLst/>
          </a:prstGeom>
          <a:noFill/>
        </p:spPr>
        <p:txBody>
          <a:bodyPr wrap="square">
            <a:spAutoFit/>
          </a:bodyPr>
          <a:lstStyle/>
          <a:p>
            <a:pPr algn="l"/>
            <a:r>
              <a:rPr sz="1400" b="1">
                <a:solidFill>
                  <a:srgbClr val="FFFFFF"/>
                </a:solidFill>
              </a:rPr>
              <a:t>技术可行性</a:t>
            </a:r>
          </a:p>
        </p:txBody>
      </p:sp>
      <p:sp>
        <p:nvSpPr>
          <p:cNvPr id="15" name="TextBox 14"/>
          <p:cNvSpPr txBox="1"/>
          <p:nvPr/>
        </p:nvSpPr>
        <p:spPr>
          <a:xfrm>
            <a:off x="1097280" y="2834640"/>
            <a:ext cx="10515600" cy="548640"/>
          </a:xfrm>
          <a:prstGeom prst="rect">
            <a:avLst/>
          </a:prstGeom>
          <a:noFill/>
        </p:spPr>
        <p:txBody>
          <a:bodyPr wrap="square">
            <a:spAutoFit/>
          </a:bodyPr>
          <a:lstStyle/>
          <a:p>
            <a:pPr algn="l"/>
            <a:r>
              <a:rPr sz="1200" b="0">
                <a:solidFill>
                  <a:srgbClr val="212121"/>
                </a:solidFill>
              </a:rPr>
              <a:t>凭借前后端分离架构（Spring Boot + Vue），系统在功能完整度、流程连贯性、权限控制有效性及维护便利性方面均达到毕业设计预期目标，具有一定实践价值。</a:t>
            </a:r>
          </a:p>
        </p:txBody>
      </p:sp>
      <p:sp>
        <p:nvSpPr>
          <p:cNvPr id="16" name="Rectangle 15"/>
          <p:cNvSpPr/>
          <p:nvPr/>
        </p:nvSpPr>
        <p:spPr>
          <a:xfrm>
            <a:off x="457200" y="3749039"/>
            <a:ext cx="457200" cy="1051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005072"/>
            <a:ext cx="457200" cy="502920"/>
          </a:xfrm>
          <a:prstGeom prst="rect">
            <a:avLst/>
          </a:prstGeom>
          <a:noFill/>
        </p:spPr>
        <p:txBody>
          <a:bodyPr wrap="square">
            <a:spAutoFit/>
          </a:bodyPr>
          <a:lstStyle/>
          <a:p>
            <a:pPr algn="ctr"/>
            <a:r>
              <a:rPr sz="1800" b="1">
                <a:solidFill>
                  <a:srgbClr val="FFFFFF"/>
                </a:solidFill>
              </a:rPr>
              <a:t>3</a:t>
            </a:r>
          </a:p>
        </p:txBody>
      </p:sp>
      <p:sp>
        <p:nvSpPr>
          <p:cNvPr id="18" name="Rectangle 17"/>
          <p:cNvSpPr/>
          <p:nvPr/>
        </p:nvSpPr>
        <p:spPr>
          <a:xfrm>
            <a:off x="1005840" y="3749039"/>
            <a:ext cx="10698480" cy="10515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05840" y="3749039"/>
            <a:ext cx="10698480" cy="384048"/>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794759"/>
            <a:ext cx="10515600" cy="320040"/>
          </a:xfrm>
          <a:prstGeom prst="rect">
            <a:avLst/>
          </a:prstGeom>
          <a:noFill/>
        </p:spPr>
        <p:txBody>
          <a:bodyPr wrap="square">
            <a:spAutoFit/>
          </a:bodyPr>
          <a:lstStyle/>
          <a:p>
            <a:pPr algn="l"/>
            <a:r>
              <a:rPr sz="1400" b="1">
                <a:solidFill>
                  <a:srgbClr val="FFFFFF"/>
                </a:solidFill>
              </a:rPr>
              <a:t>联调鲁棒性</a:t>
            </a:r>
          </a:p>
        </p:txBody>
      </p:sp>
      <p:sp>
        <p:nvSpPr>
          <p:cNvPr id="21" name="TextBox 20"/>
          <p:cNvSpPr txBox="1"/>
          <p:nvPr/>
        </p:nvSpPr>
        <p:spPr>
          <a:xfrm>
            <a:off x="1097280" y="4206240"/>
            <a:ext cx="10515600" cy="548640"/>
          </a:xfrm>
          <a:prstGeom prst="rect">
            <a:avLst/>
          </a:prstGeom>
          <a:noFill/>
        </p:spPr>
        <p:txBody>
          <a:bodyPr wrap="square">
            <a:spAutoFit/>
          </a:bodyPr>
          <a:lstStyle/>
          <a:p>
            <a:pPr algn="l"/>
            <a:r>
              <a:rPr sz="1200" b="0">
                <a:solidFill>
                  <a:srgbClr val="212121"/>
                </a:solidFill>
              </a:rPr>
              <a:t>测试环节针对报名-考勤-成绩-评价核心链路展开验证，全部 29 个用例通过；借助统一返回解析、字段映射和回退调用，系统可用性与鲁棒性得到保障。</a:t>
            </a:r>
          </a:p>
        </p:txBody>
      </p:sp>
      <p:sp>
        <p:nvSpPr>
          <p:cNvPr id="22" name="Rectangle 21"/>
          <p:cNvSpPr/>
          <p:nvPr/>
        </p:nvSpPr>
        <p:spPr>
          <a:xfrm>
            <a:off x="457200" y="5120640"/>
            <a:ext cx="457200" cy="1051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5376672"/>
            <a:ext cx="457200" cy="502920"/>
          </a:xfrm>
          <a:prstGeom prst="rect">
            <a:avLst/>
          </a:prstGeom>
          <a:noFill/>
        </p:spPr>
        <p:txBody>
          <a:bodyPr wrap="square">
            <a:spAutoFit/>
          </a:bodyPr>
          <a:lstStyle/>
          <a:p>
            <a:pPr algn="ctr"/>
            <a:r>
              <a:rPr sz="1800" b="1">
                <a:solidFill>
                  <a:srgbClr val="FFFFFF"/>
                </a:solidFill>
              </a:rPr>
              <a:t>4</a:t>
            </a:r>
          </a:p>
        </p:txBody>
      </p:sp>
      <p:sp>
        <p:nvSpPr>
          <p:cNvPr id="24" name="Rectangle 23"/>
          <p:cNvSpPr/>
          <p:nvPr/>
        </p:nvSpPr>
        <p:spPr>
          <a:xfrm>
            <a:off x="1005840" y="5120640"/>
            <a:ext cx="10698480" cy="10515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5120640"/>
            <a:ext cx="10698480" cy="384048"/>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80" y="5166359"/>
            <a:ext cx="10515600" cy="320040"/>
          </a:xfrm>
          <a:prstGeom prst="rect">
            <a:avLst/>
          </a:prstGeom>
          <a:noFill/>
        </p:spPr>
        <p:txBody>
          <a:bodyPr wrap="square">
            <a:spAutoFit/>
          </a:bodyPr>
          <a:lstStyle/>
          <a:p>
            <a:pPr algn="l"/>
            <a:r>
              <a:rPr sz="1400" b="1">
                <a:solidFill>
                  <a:srgbClr val="FFFFFF"/>
                </a:solidFill>
              </a:rPr>
              <a:t>工程收获</a:t>
            </a:r>
          </a:p>
        </p:txBody>
      </p:sp>
      <p:sp>
        <p:nvSpPr>
          <p:cNvPr id="27" name="TextBox 26"/>
          <p:cNvSpPr txBox="1"/>
          <p:nvPr/>
        </p:nvSpPr>
        <p:spPr>
          <a:xfrm>
            <a:off x="1097280" y="5577840"/>
            <a:ext cx="10515600" cy="548640"/>
          </a:xfrm>
          <a:prstGeom prst="rect">
            <a:avLst/>
          </a:prstGeom>
          <a:noFill/>
        </p:spPr>
        <p:txBody>
          <a:bodyPr wrap="square">
            <a:spAutoFit/>
          </a:bodyPr>
          <a:lstStyle/>
          <a:p>
            <a:pPr algn="l"/>
            <a:r>
              <a:rPr sz="1200" b="0">
                <a:solidFill>
                  <a:srgbClr val="212121"/>
                </a:solidFill>
              </a:rPr>
              <a:t>在需求拆解、模块实现、接口联调、缺陷定位及文档整理方面得到系统性训练，对软件工程从功能开发到可用交付的整个过程有了更深入的理解。</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
            <a:ext cx="11274552" cy="822960"/>
          </a:xfrm>
          <a:prstGeom prst="rect">
            <a:avLst/>
          </a:prstGeom>
          <a:noFill/>
        </p:spPr>
        <p:txBody>
          <a:bodyPr wrap="square">
            <a:spAutoFit/>
          </a:bodyPr>
          <a:lstStyle/>
          <a:p>
            <a:pPr algn="ctr"/>
            <a:r>
              <a:rPr sz="3400" b="1">
                <a:solidFill>
                  <a:srgbClr val="FFFFFF"/>
                </a:solidFill>
              </a:rPr>
              <a:t>致  谢</a:t>
            </a:r>
          </a:p>
        </p:txBody>
      </p:sp>
      <p:sp>
        <p:nvSpPr>
          <p:cNvPr id="5" name="Rectangle 4"/>
          <p:cNvSpPr/>
          <p:nvPr/>
        </p:nvSpPr>
        <p:spPr>
          <a:xfrm>
            <a:off x="3200400" y="1325880"/>
            <a:ext cx="57881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9994392" cy="3474720"/>
          </a:xfrm>
          <a:prstGeom prst="rect">
            <a:avLst/>
          </a:prstGeom>
          <a:noFill/>
        </p:spPr>
        <p:txBody>
          <a:bodyPr wrap="square">
            <a:spAutoFit/>
          </a:bodyPr>
          <a:lstStyle/>
          <a:p>
            <a:pPr algn="l"/>
            <a:r>
              <a:rPr sz="1500" b="0">
                <a:solidFill>
                  <a:srgbClr val="DCEBFF"/>
                </a:solidFill>
              </a:rPr>
              <a:t>本论文的完成还要感谢多方的支持与帮助。首先，衷心感谢指导教师许文庆副教授在课题选题、技术路线制定、系统实现和论文修改过程中的悉心指导，使我能够有条理地推进研究工作并不断完善论文质量。其次，感谢福州工商学院工学院提供良好的学习与实践环境。再次，感谢参与联调与测试的同学和朋友在功能验证、问题复现与优化建议方面给予了真诚帮助。最后，感谢家人一直以来的理解、支持与鼓励，使我能够在毕业设计阶段保持稳定投入并顺利完成本课题。谨向所有关心和帮助过我的老师、同学及亲友致以诚挚谢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00400" y="3017520"/>
            <a:ext cx="5788152" cy="54864"/>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45920"/>
            <a:ext cx="11274552" cy="1371600"/>
          </a:xfrm>
          <a:prstGeom prst="rect">
            <a:avLst/>
          </a:prstGeom>
          <a:noFill/>
        </p:spPr>
        <p:txBody>
          <a:bodyPr wrap="square">
            <a:spAutoFit/>
          </a:bodyPr>
          <a:lstStyle/>
          <a:p>
            <a:pPr algn="ctr"/>
            <a:r>
              <a:rPr sz="4800" b="1">
                <a:solidFill>
                  <a:srgbClr val="FFFFFF"/>
                </a:solidFill>
              </a:rPr>
              <a:t>谢 谢 聆 听</a:t>
            </a:r>
          </a:p>
        </p:txBody>
      </p:sp>
      <p:sp>
        <p:nvSpPr>
          <p:cNvPr id="6" name="TextBox 5"/>
          <p:cNvSpPr txBox="1"/>
          <p:nvPr/>
        </p:nvSpPr>
        <p:spPr>
          <a:xfrm>
            <a:off x="457200" y="2926080"/>
            <a:ext cx="11274552" cy="548640"/>
          </a:xfrm>
          <a:prstGeom prst="rect">
            <a:avLst/>
          </a:prstGeom>
          <a:noFill/>
        </p:spPr>
        <p:txBody>
          <a:bodyPr wrap="square">
            <a:spAutoFit/>
          </a:bodyPr>
          <a:lstStyle/>
          <a:p>
            <a:pPr algn="ctr"/>
            <a:r>
              <a:rPr sz="1400" b="0">
                <a:solidFill>
                  <a:srgbClr val="A0C8F0"/>
                </a:solidFill>
              </a:rPr>
              <a:t>THANK YOU FOR YOUR ATTENTION</a:t>
            </a:r>
          </a:p>
        </p:txBody>
      </p:sp>
      <p:sp>
        <p:nvSpPr>
          <p:cNvPr id="7" name="TextBox 6"/>
          <p:cNvSpPr txBox="1"/>
          <p:nvPr/>
        </p:nvSpPr>
        <p:spPr>
          <a:xfrm>
            <a:off x="457200" y="3840480"/>
            <a:ext cx="11274552" cy="640080"/>
          </a:xfrm>
          <a:prstGeom prst="rect">
            <a:avLst/>
          </a:prstGeom>
          <a:noFill/>
        </p:spPr>
        <p:txBody>
          <a:bodyPr wrap="square">
            <a:spAutoFit/>
          </a:bodyPr>
          <a:lstStyle/>
          <a:p>
            <a:pPr algn="ctr"/>
            <a:r>
              <a:rPr sz="2200" b="0">
                <a:solidFill>
                  <a:srgbClr val="C8DCFF"/>
                </a:solidFill>
              </a:rPr>
              <a:t>敬请各位老师批评指正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